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0" r:id="rId8"/>
    <p:sldId id="261" r:id="rId9"/>
  </p:sldIdLst>
  <p:sldSz cx="13272770" cy="118979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23" userDrawn="1">
          <p15:clr>
            <a:srgbClr val="A4A3A4"/>
          </p15:clr>
        </p15:guide>
        <p15:guide id="2" pos="41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723"/>
        <p:guide pos="414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707601" y="1143000"/>
            <a:ext cx="344279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305292" y="1586486"/>
            <a:ext cx="10669688" cy="4459648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71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05292" y="6177299"/>
            <a:ext cx="10669688" cy="255461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485" spc="200"/>
            </a:lvl1pPr>
            <a:lvl2pPr marL="663575" indent="0" algn="ctr">
              <a:buNone/>
              <a:defRPr sz="2900"/>
            </a:lvl2pPr>
            <a:lvl3pPr marL="1327785" indent="0" algn="ctr">
              <a:buNone/>
              <a:defRPr sz="2615"/>
            </a:lvl3pPr>
            <a:lvl4pPr marL="1990725" indent="0" algn="ctr">
              <a:buNone/>
              <a:defRPr sz="2325"/>
            </a:lvl4pPr>
            <a:lvl5pPr marL="2654300" indent="0" algn="ctr">
              <a:buNone/>
              <a:defRPr sz="2325"/>
            </a:lvl5pPr>
            <a:lvl6pPr marL="3318510" indent="0" algn="ctr">
              <a:buNone/>
              <a:defRPr sz="2325"/>
            </a:lvl6pPr>
            <a:lvl7pPr marL="3982720" indent="0" algn="ctr">
              <a:buNone/>
              <a:defRPr sz="2325"/>
            </a:lvl7pPr>
            <a:lvl8pPr marL="4646295" indent="0" algn="ctr">
              <a:buNone/>
              <a:defRPr sz="2325"/>
            </a:lvl8pPr>
            <a:lvl9pPr marL="5309870" indent="0" algn="ctr">
              <a:buNone/>
              <a:defRPr sz="232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2445" y="1055574"/>
            <a:ext cx="11943622" cy="122421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2445" y="2585846"/>
            <a:ext cx="11943622" cy="825721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167648" y="6676979"/>
            <a:ext cx="8458922" cy="13304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38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167648" y="8007378"/>
            <a:ext cx="8458922" cy="1505288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61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63575" indent="0">
              <a:buNone/>
              <a:defRPr sz="2325">
                <a:solidFill>
                  <a:schemeClr val="tx1">
                    <a:tint val="75000"/>
                  </a:schemeClr>
                </a:solidFill>
              </a:defRPr>
            </a:lvl2pPr>
            <a:lvl3pPr marL="1327785" indent="0">
              <a:buNone/>
              <a:defRPr sz="2325">
                <a:solidFill>
                  <a:schemeClr val="tx1">
                    <a:tint val="75000"/>
                  </a:schemeClr>
                </a:solidFill>
              </a:defRPr>
            </a:lvl3pPr>
            <a:lvl4pPr marL="1990725" indent="0">
              <a:buNone/>
              <a:defRPr sz="2325">
                <a:solidFill>
                  <a:schemeClr val="tx1">
                    <a:tint val="75000"/>
                  </a:schemeClr>
                </a:solidFill>
              </a:defRPr>
            </a:lvl4pPr>
            <a:lvl5pPr marL="2654300" indent="0">
              <a:buNone/>
              <a:defRPr sz="2325">
                <a:solidFill>
                  <a:schemeClr val="tx1">
                    <a:tint val="75000"/>
                  </a:schemeClr>
                </a:solidFill>
              </a:defRPr>
            </a:lvl5pPr>
            <a:lvl6pPr marL="3318510" indent="0">
              <a:buNone/>
              <a:defRPr sz="2325">
                <a:solidFill>
                  <a:schemeClr val="tx1">
                    <a:tint val="75000"/>
                  </a:schemeClr>
                </a:solidFill>
              </a:defRPr>
            </a:lvl6pPr>
            <a:lvl7pPr marL="3982720" indent="0">
              <a:buNone/>
              <a:defRPr sz="2325">
                <a:solidFill>
                  <a:schemeClr val="tx1">
                    <a:tint val="75000"/>
                  </a:schemeClr>
                </a:solidFill>
              </a:defRPr>
            </a:lvl7pPr>
            <a:lvl8pPr marL="4646295" indent="0">
              <a:buNone/>
              <a:defRPr sz="2325">
                <a:solidFill>
                  <a:schemeClr val="tx1">
                    <a:tint val="75000"/>
                  </a:schemeClr>
                </a:solidFill>
              </a:defRPr>
            </a:lvl8pPr>
            <a:lvl9pPr marL="5309870" indent="0">
              <a:buNone/>
              <a:defRPr sz="2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2445" y="1055574"/>
            <a:ext cx="11943622" cy="122421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2445" y="2604584"/>
            <a:ext cx="5636668" cy="823848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81158" y="2604584"/>
            <a:ext cx="5636668" cy="823848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2445" y="1055574"/>
            <a:ext cx="11943622" cy="122421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2445" y="2479664"/>
            <a:ext cx="5816979" cy="66207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9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63575" indent="0">
              <a:buNone/>
              <a:defRPr sz="2900" b="1"/>
            </a:lvl2pPr>
            <a:lvl3pPr marL="1327785" indent="0">
              <a:buNone/>
              <a:defRPr sz="2615" b="1"/>
            </a:lvl3pPr>
            <a:lvl4pPr marL="1990725" indent="0">
              <a:buNone/>
              <a:defRPr sz="2325" b="1"/>
            </a:lvl4pPr>
            <a:lvl5pPr marL="2654300" indent="0">
              <a:buNone/>
              <a:defRPr sz="2325" b="1"/>
            </a:lvl5pPr>
            <a:lvl6pPr marL="3318510" indent="0">
              <a:buNone/>
              <a:defRPr sz="2325" b="1"/>
            </a:lvl6pPr>
            <a:lvl7pPr marL="3982720" indent="0">
              <a:buNone/>
              <a:defRPr sz="2325" b="1"/>
            </a:lvl7pPr>
            <a:lvl8pPr marL="4646295" indent="0">
              <a:buNone/>
              <a:defRPr sz="2325" b="1"/>
            </a:lvl8pPr>
            <a:lvl9pPr marL="5309870" indent="0">
              <a:buNone/>
              <a:defRPr sz="232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2445" y="3216692"/>
            <a:ext cx="5816979" cy="762637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789688" y="2466702"/>
            <a:ext cx="5816979" cy="66207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9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63575" indent="0">
              <a:buNone/>
              <a:defRPr sz="2900" b="1"/>
            </a:lvl2pPr>
            <a:lvl3pPr marL="1327785" indent="0">
              <a:buNone/>
              <a:defRPr sz="2615" b="1"/>
            </a:lvl3pPr>
            <a:lvl4pPr marL="1990725" indent="0">
              <a:buNone/>
              <a:defRPr sz="2325" b="1"/>
            </a:lvl4pPr>
            <a:lvl5pPr marL="2654300" indent="0">
              <a:buNone/>
              <a:defRPr sz="2325" b="1"/>
            </a:lvl5pPr>
            <a:lvl6pPr marL="3318510" indent="0">
              <a:buNone/>
              <a:defRPr sz="2325" b="1"/>
            </a:lvl6pPr>
            <a:lvl7pPr marL="3982720" indent="0">
              <a:buNone/>
              <a:defRPr sz="2325" b="1"/>
            </a:lvl7pPr>
            <a:lvl8pPr marL="4646295" indent="0">
              <a:buNone/>
              <a:defRPr sz="2325" b="1"/>
            </a:lvl8pPr>
            <a:lvl9pPr marL="5309870" indent="0">
              <a:buNone/>
              <a:defRPr sz="232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789688" y="3216692"/>
            <a:ext cx="5816979" cy="762637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2445" y="1055574"/>
            <a:ext cx="11943622" cy="122421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2445" y="2698274"/>
            <a:ext cx="5697945" cy="799488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32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914522" y="2698274"/>
            <a:ext cx="5691546" cy="799488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32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1143984" y="1586486"/>
            <a:ext cx="1136742" cy="872566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06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95629" y="1586486"/>
            <a:ext cx="9983724" cy="8725669"/>
          </a:xfrm>
        </p:spPr>
        <p:txBody>
          <a:bodyPr vert="eaVert" lIns="46800" tIns="46800" rIns="46800" bIns="46800"/>
          <a:lstStyle>
            <a:lvl1pPr marL="332105" indent="-332105">
              <a:spcAft>
                <a:spcPts val="1000"/>
              </a:spcAft>
              <a:defRPr spc="300"/>
            </a:lvl1pPr>
            <a:lvl2pPr marL="995680" indent="-332105">
              <a:defRPr spc="300"/>
            </a:lvl2pPr>
            <a:lvl3pPr marL="1659255" indent="-332105">
              <a:defRPr spc="300"/>
            </a:lvl3pPr>
            <a:lvl4pPr marL="2323465" indent="-332105">
              <a:defRPr spc="300"/>
            </a:lvl4pPr>
            <a:lvl5pPr marL="2986405" indent="-33210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2445" y="1342891"/>
            <a:ext cx="11947541" cy="951266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305292" y="4309743"/>
            <a:ext cx="10669688" cy="176762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871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305292" y="6177299"/>
            <a:ext cx="10669688" cy="818226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48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2445" y="1055574"/>
            <a:ext cx="11943622" cy="1224217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2445" y="2585846"/>
            <a:ext cx="11943622" cy="825721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66365" y="10955492"/>
            <a:ext cx="2939849" cy="549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45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481634" y="10955492"/>
            <a:ext cx="4311776" cy="549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45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9666220" y="10955492"/>
            <a:ext cx="2939849" cy="549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45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27785" rtl="0" eaLnBrk="1" fontAlgn="auto" latinLnBrk="0" hangingPunct="1">
        <a:lnSpc>
          <a:spcPct val="100000"/>
        </a:lnSpc>
        <a:spcBef>
          <a:spcPct val="0"/>
        </a:spcBef>
        <a:buNone/>
        <a:defRPr sz="522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32105" indent="-332105" algn="l" defTabSz="132778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6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995680" indent="-332105" algn="l" defTabSz="13277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336800" algn="l"/>
          <a:tab pos="2336800" algn="l"/>
          <a:tab pos="2336800" algn="l"/>
          <a:tab pos="2336800" algn="l"/>
        </a:tabLst>
        <a:defRPr sz="2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659255" indent="-332105" algn="l" defTabSz="13277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323465" indent="-332105" algn="l" defTabSz="13277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203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986405" indent="-332105" algn="l" defTabSz="13277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203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649980" indent="-332105" algn="l" defTabSz="1327785" rtl="0" eaLnBrk="1" latinLnBrk="0" hangingPunct="1">
        <a:lnSpc>
          <a:spcPct val="90000"/>
        </a:lnSpc>
        <a:spcBef>
          <a:spcPct val="145000"/>
        </a:spcBef>
        <a:buFont typeface="Arial" panose="020B0604020202020204" pitchFamily="34" charset="0"/>
        <a:buChar char="•"/>
        <a:defRPr sz="2615" kern="1200">
          <a:solidFill>
            <a:schemeClr val="tx1"/>
          </a:solidFill>
          <a:latin typeface="+mn-lt"/>
          <a:ea typeface="+mn-ea"/>
          <a:cs typeface="+mn-cs"/>
        </a:defRPr>
      </a:lvl6pPr>
      <a:lvl7pPr marL="4314190" indent="-332105" algn="l" defTabSz="1327785" rtl="0" eaLnBrk="1" latinLnBrk="0" hangingPunct="1">
        <a:lnSpc>
          <a:spcPct val="90000"/>
        </a:lnSpc>
        <a:spcBef>
          <a:spcPct val="145000"/>
        </a:spcBef>
        <a:buFont typeface="Arial" panose="020B0604020202020204" pitchFamily="34" charset="0"/>
        <a:buChar char="•"/>
        <a:defRPr sz="2615" kern="1200">
          <a:solidFill>
            <a:schemeClr val="tx1"/>
          </a:solidFill>
          <a:latin typeface="+mn-lt"/>
          <a:ea typeface="+mn-ea"/>
          <a:cs typeface="+mn-cs"/>
        </a:defRPr>
      </a:lvl7pPr>
      <a:lvl8pPr marL="4977765" indent="-332105" algn="l" defTabSz="1327785" rtl="0" eaLnBrk="1" latinLnBrk="0" hangingPunct="1">
        <a:lnSpc>
          <a:spcPct val="90000"/>
        </a:lnSpc>
        <a:spcBef>
          <a:spcPct val="145000"/>
        </a:spcBef>
        <a:buFont typeface="Arial" panose="020B0604020202020204" pitchFamily="34" charset="0"/>
        <a:buChar char="•"/>
        <a:defRPr sz="2615" kern="1200">
          <a:solidFill>
            <a:schemeClr val="tx1"/>
          </a:solidFill>
          <a:latin typeface="+mn-lt"/>
          <a:ea typeface="+mn-ea"/>
          <a:cs typeface="+mn-cs"/>
        </a:defRPr>
      </a:lvl8pPr>
      <a:lvl9pPr marL="5641975" indent="-332105" algn="l" defTabSz="1327785" rtl="0" eaLnBrk="1" latinLnBrk="0" hangingPunct="1">
        <a:lnSpc>
          <a:spcPct val="90000"/>
        </a:lnSpc>
        <a:spcBef>
          <a:spcPct val="145000"/>
        </a:spcBef>
        <a:buFont typeface="Arial" panose="020B0604020202020204" pitchFamily="34" charset="0"/>
        <a:buChar char="•"/>
        <a:defRPr sz="26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27785" rtl="0" eaLnBrk="1" latinLnBrk="0" hangingPunct="1">
        <a:defRPr sz="2615" kern="1200">
          <a:solidFill>
            <a:schemeClr val="tx1"/>
          </a:solidFill>
          <a:latin typeface="+mn-lt"/>
          <a:ea typeface="+mn-ea"/>
          <a:cs typeface="+mn-cs"/>
        </a:defRPr>
      </a:lvl1pPr>
      <a:lvl2pPr marL="663575" algn="l" defTabSz="1327785" rtl="0" eaLnBrk="1" latinLnBrk="0" hangingPunct="1">
        <a:defRPr sz="2615" kern="1200">
          <a:solidFill>
            <a:schemeClr val="tx1"/>
          </a:solidFill>
          <a:latin typeface="+mn-lt"/>
          <a:ea typeface="+mn-ea"/>
          <a:cs typeface="+mn-cs"/>
        </a:defRPr>
      </a:lvl2pPr>
      <a:lvl3pPr marL="1327785" algn="l" defTabSz="1327785" rtl="0" eaLnBrk="1" latinLnBrk="0" hangingPunct="1">
        <a:defRPr sz="2615" kern="1200">
          <a:solidFill>
            <a:schemeClr val="tx1"/>
          </a:solidFill>
          <a:latin typeface="+mn-lt"/>
          <a:ea typeface="+mn-ea"/>
          <a:cs typeface="+mn-cs"/>
        </a:defRPr>
      </a:lvl3pPr>
      <a:lvl4pPr marL="1990725" algn="l" defTabSz="1327785" rtl="0" eaLnBrk="1" latinLnBrk="0" hangingPunct="1">
        <a:defRPr sz="2615" kern="1200">
          <a:solidFill>
            <a:schemeClr val="tx1"/>
          </a:solidFill>
          <a:latin typeface="+mn-lt"/>
          <a:ea typeface="+mn-ea"/>
          <a:cs typeface="+mn-cs"/>
        </a:defRPr>
      </a:lvl4pPr>
      <a:lvl5pPr marL="2654300" algn="l" defTabSz="1327785" rtl="0" eaLnBrk="1" latinLnBrk="0" hangingPunct="1">
        <a:defRPr sz="2615" kern="1200">
          <a:solidFill>
            <a:schemeClr val="tx1"/>
          </a:solidFill>
          <a:latin typeface="+mn-lt"/>
          <a:ea typeface="+mn-ea"/>
          <a:cs typeface="+mn-cs"/>
        </a:defRPr>
      </a:lvl5pPr>
      <a:lvl6pPr marL="3318510" algn="l" defTabSz="1327785" rtl="0" eaLnBrk="1" latinLnBrk="0" hangingPunct="1">
        <a:defRPr sz="2615" kern="1200">
          <a:solidFill>
            <a:schemeClr val="tx1"/>
          </a:solidFill>
          <a:latin typeface="+mn-lt"/>
          <a:ea typeface="+mn-ea"/>
          <a:cs typeface="+mn-cs"/>
        </a:defRPr>
      </a:lvl6pPr>
      <a:lvl7pPr marL="3982720" algn="l" defTabSz="1327785" rtl="0" eaLnBrk="1" latinLnBrk="0" hangingPunct="1">
        <a:defRPr sz="2615" kern="1200">
          <a:solidFill>
            <a:schemeClr val="tx1"/>
          </a:solidFill>
          <a:latin typeface="+mn-lt"/>
          <a:ea typeface="+mn-ea"/>
          <a:cs typeface="+mn-cs"/>
        </a:defRPr>
      </a:lvl7pPr>
      <a:lvl8pPr marL="4646295" algn="l" defTabSz="1327785" rtl="0" eaLnBrk="1" latinLnBrk="0" hangingPunct="1">
        <a:defRPr sz="2615" kern="1200">
          <a:solidFill>
            <a:schemeClr val="tx1"/>
          </a:solidFill>
          <a:latin typeface="+mn-lt"/>
          <a:ea typeface="+mn-ea"/>
          <a:cs typeface="+mn-cs"/>
        </a:defRPr>
      </a:lvl8pPr>
      <a:lvl9pPr marL="5309870" algn="l" defTabSz="1327785" rtl="0" eaLnBrk="1" latinLnBrk="0" hangingPunct="1">
        <a:defRPr sz="26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6" Type="http://schemas.openxmlformats.org/officeDocument/2006/relationships/slideLayout" Target="../slideLayouts/slideLayout7.xml"/><Relationship Id="rId35" Type="http://schemas.openxmlformats.org/officeDocument/2006/relationships/tags" Target="../tags/tag64.xml"/><Relationship Id="rId34" Type="http://schemas.openxmlformats.org/officeDocument/2006/relationships/image" Target="../media/image35.png"/><Relationship Id="rId33" Type="http://schemas.openxmlformats.org/officeDocument/2006/relationships/image" Target="../media/image34.png"/><Relationship Id="rId32" Type="http://schemas.openxmlformats.org/officeDocument/2006/relationships/image" Target="../media/image33.png"/><Relationship Id="rId31" Type="http://schemas.openxmlformats.org/officeDocument/2006/relationships/image" Target="../media/image32.png"/><Relationship Id="rId30" Type="http://schemas.openxmlformats.org/officeDocument/2006/relationships/image" Target="../media/image31.png"/><Relationship Id="rId3" Type="http://schemas.openxmlformats.org/officeDocument/2006/relationships/image" Target="../media/image4.png"/><Relationship Id="rId29" Type="http://schemas.openxmlformats.org/officeDocument/2006/relationships/image" Target="../media/image30.png"/><Relationship Id="rId28" Type="http://schemas.openxmlformats.org/officeDocument/2006/relationships/image" Target="../media/image29.png"/><Relationship Id="rId27" Type="http://schemas.openxmlformats.org/officeDocument/2006/relationships/image" Target="../media/image28.png"/><Relationship Id="rId26" Type="http://schemas.openxmlformats.org/officeDocument/2006/relationships/image" Target="../media/image27.png"/><Relationship Id="rId25" Type="http://schemas.openxmlformats.org/officeDocument/2006/relationships/image" Target="../media/image26.png"/><Relationship Id="rId24" Type="http://schemas.openxmlformats.org/officeDocument/2006/relationships/image" Target="../media/image25.png"/><Relationship Id="rId23" Type="http://schemas.openxmlformats.org/officeDocument/2006/relationships/image" Target="../media/image24.png"/><Relationship Id="rId22" Type="http://schemas.openxmlformats.org/officeDocument/2006/relationships/image" Target="../media/image23.png"/><Relationship Id="rId21" Type="http://schemas.openxmlformats.org/officeDocument/2006/relationships/image" Target="../media/image22.png"/><Relationship Id="rId20" Type="http://schemas.openxmlformats.org/officeDocument/2006/relationships/image" Target="../media/image21.png"/><Relationship Id="rId2" Type="http://schemas.openxmlformats.org/officeDocument/2006/relationships/image" Target="../media/image3.png"/><Relationship Id="rId19" Type="http://schemas.openxmlformats.org/officeDocument/2006/relationships/image" Target="../media/image20.png"/><Relationship Id="rId18" Type="http://schemas.openxmlformats.org/officeDocument/2006/relationships/image" Target="../media/image19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9" Type="http://schemas.openxmlformats.org/officeDocument/2006/relationships/tags" Target="../tags/tag154.xml"/><Relationship Id="rId98" Type="http://schemas.openxmlformats.org/officeDocument/2006/relationships/tags" Target="../tags/tag153.xml"/><Relationship Id="rId97" Type="http://schemas.openxmlformats.org/officeDocument/2006/relationships/tags" Target="../tags/tag152.xml"/><Relationship Id="rId96" Type="http://schemas.openxmlformats.org/officeDocument/2006/relationships/tags" Target="../tags/tag151.xml"/><Relationship Id="rId95" Type="http://schemas.openxmlformats.org/officeDocument/2006/relationships/tags" Target="../tags/tag150.xml"/><Relationship Id="rId94" Type="http://schemas.openxmlformats.org/officeDocument/2006/relationships/tags" Target="../tags/tag149.xml"/><Relationship Id="rId93" Type="http://schemas.openxmlformats.org/officeDocument/2006/relationships/tags" Target="../tags/tag148.xml"/><Relationship Id="rId92" Type="http://schemas.openxmlformats.org/officeDocument/2006/relationships/tags" Target="../tags/tag147.xml"/><Relationship Id="rId91" Type="http://schemas.openxmlformats.org/officeDocument/2006/relationships/tags" Target="../tags/tag146.xml"/><Relationship Id="rId90" Type="http://schemas.openxmlformats.org/officeDocument/2006/relationships/tags" Target="../tags/tag145.xml"/><Relationship Id="rId9" Type="http://schemas.openxmlformats.org/officeDocument/2006/relationships/tags" Target="../tags/tag70.xml"/><Relationship Id="rId89" Type="http://schemas.openxmlformats.org/officeDocument/2006/relationships/tags" Target="../tags/tag144.xml"/><Relationship Id="rId88" Type="http://schemas.openxmlformats.org/officeDocument/2006/relationships/tags" Target="../tags/tag143.xml"/><Relationship Id="rId87" Type="http://schemas.openxmlformats.org/officeDocument/2006/relationships/tags" Target="../tags/tag142.xml"/><Relationship Id="rId86" Type="http://schemas.openxmlformats.org/officeDocument/2006/relationships/tags" Target="../tags/tag141.xml"/><Relationship Id="rId85" Type="http://schemas.openxmlformats.org/officeDocument/2006/relationships/tags" Target="../tags/tag140.xml"/><Relationship Id="rId84" Type="http://schemas.openxmlformats.org/officeDocument/2006/relationships/tags" Target="../tags/tag139.xml"/><Relationship Id="rId83" Type="http://schemas.openxmlformats.org/officeDocument/2006/relationships/tags" Target="../tags/tag138.xml"/><Relationship Id="rId82" Type="http://schemas.openxmlformats.org/officeDocument/2006/relationships/tags" Target="../tags/tag137.xml"/><Relationship Id="rId81" Type="http://schemas.openxmlformats.org/officeDocument/2006/relationships/tags" Target="../tags/tag136.xml"/><Relationship Id="rId80" Type="http://schemas.openxmlformats.org/officeDocument/2006/relationships/tags" Target="../tags/tag135.xml"/><Relationship Id="rId8" Type="http://schemas.openxmlformats.org/officeDocument/2006/relationships/tags" Target="../tags/tag69.xml"/><Relationship Id="rId79" Type="http://schemas.openxmlformats.org/officeDocument/2006/relationships/tags" Target="../tags/tag134.xml"/><Relationship Id="rId78" Type="http://schemas.openxmlformats.org/officeDocument/2006/relationships/tags" Target="../tags/tag133.xml"/><Relationship Id="rId77" Type="http://schemas.openxmlformats.org/officeDocument/2006/relationships/tags" Target="../tags/tag132.xml"/><Relationship Id="rId76" Type="http://schemas.openxmlformats.org/officeDocument/2006/relationships/tags" Target="../tags/tag131.xml"/><Relationship Id="rId75" Type="http://schemas.openxmlformats.org/officeDocument/2006/relationships/tags" Target="../tags/tag130.xml"/><Relationship Id="rId74" Type="http://schemas.openxmlformats.org/officeDocument/2006/relationships/tags" Target="../tags/tag129.xml"/><Relationship Id="rId73" Type="http://schemas.openxmlformats.org/officeDocument/2006/relationships/tags" Target="../tags/tag128.xml"/><Relationship Id="rId72" Type="http://schemas.openxmlformats.org/officeDocument/2006/relationships/tags" Target="../tags/tag127.xml"/><Relationship Id="rId71" Type="http://schemas.openxmlformats.org/officeDocument/2006/relationships/tags" Target="../tags/tag126.xml"/><Relationship Id="rId70" Type="http://schemas.openxmlformats.org/officeDocument/2006/relationships/tags" Target="../tags/tag125.xml"/><Relationship Id="rId7" Type="http://schemas.openxmlformats.org/officeDocument/2006/relationships/tags" Target="../tags/tag68.xml"/><Relationship Id="rId69" Type="http://schemas.openxmlformats.org/officeDocument/2006/relationships/tags" Target="../tags/tag124.xml"/><Relationship Id="rId68" Type="http://schemas.openxmlformats.org/officeDocument/2006/relationships/tags" Target="../tags/tag123.xml"/><Relationship Id="rId67" Type="http://schemas.openxmlformats.org/officeDocument/2006/relationships/tags" Target="../tags/tag122.xml"/><Relationship Id="rId66" Type="http://schemas.openxmlformats.org/officeDocument/2006/relationships/tags" Target="../tags/tag121.xml"/><Relationship Id="rId65" Type="http://schemas.openxmlformats.org/officeDocument/2006/relationships/tags" Target="../tags/tag120.xml"/><Relationship Id="rId64" Type="http://schemas.openxmlformats.org/officeDocument/2006/relationships/tags" Target="../tags/tag119.xml"/><Relationship Id="rId63" Type="http://schemas.openxmlformats.org/officeDocument/2006/relationships/tags" Target="../tags/tag118.xml"/><Relationship Id="rId62" Type="http://schemas.openxmlformats.org/officeDocument/2006/relationships/tags" Target="../tags/tag117.xml"/><Relationship Id="rId61" Type="http://schemas.openxmlformats.org/officeDocument/2006/relationships/tags" Target="../tags/tag116.xml"/><Relationship Id="rId60" Type="http://schemas.openxmlformats.org/officeDocument/2006/relationships/tags" Target="../tags/tag115.xml"/><Relationship Id="rId6" Type="http://schemas.openxmlformats.org/officeDocument/2006/relationships/tags" Target="../tags/tag67.xml"/><Relationship Id="rId59" Type="http://schemas.openxmlformats.org/officeDocument/2006/relationships/tags" Target="../tags/tag114.xml"/><Relationship Id="rId58" Type="http://schemas.openxmlformats.org/officeDocument/2006/relationships/tags" Target="../tags/tag113.xml"/><Relationship Id="rId57" Type="http://schemas.openxmlformats.org/officeDocument/2006/relationships/tags" Target="../tags/tag112.xml"/><Relationship Id="rId56" Type="http://schemas.openxmlformats.org/officeDocument/2006/relationships/image" Target="../media/image42.png"/><Relationship Id="rId55" Type="http://schemas.openxmlformats.org/officeDocument/2006/relationships/tags" Target="../tags/tag111.xml"/><Relationship Id="rId54" Type="http://schemas.openxmlformats.org/officeDocument/2006/relationships/tags" Target="../tags/tag110.xml"/><Relationship Id="rId53" Type="http://schemas.openxmlformats.org/officeDocument/2006/relationships/tags" Target="../tags/tag109.xml"/><Relationship Id="rId52" Type="http://schemas.openxmlformats.org/officeDocument/2006/relationships/tags" Target="../tags/tag108.xml"/><Relationship Id="rId51" Type="http://schemas.openxmlformats.org/officeDocument/2006/relationships/tags" Target="../tags/tag107.xml"/><Relationship Id="rId50" Type="http://schemas.openxmlformats.org/officeDocument/2006/relationships/tags" Target="../tags/tag106.xml"/><Relationship Id="rId5" Type="http://schemas.openxmlformats.org/officeDocument/2006/relationships/tags" Target="../tags/tag66.xml"/><Relationship Id="rId49" Type="http://schemas.openxmlformats.org/officeDocument/2006/relationships/tags" Target="../tags/tag105.xml"/><Relationship Id="rId48" Type="http://schemas.openxmlformats.org/officeDocument/2006/relationships/image" Target="../media/image41.png"/><Relationship Id="rId47" Type="http://schemas.openxmlformats.org/officeDocument/2006/relationships/tags" Target="../tags/tag104.xml"/><Relationship Id="rId46" Type="http://schemas.openxmlformats.org/officeDocument/2006/relationships/tags" Target="../tags/tag103.xml"/><Relationship Id="rId45" Type="http://schemas.openxmlformats.org/officeDocument/2006/relationships/tags" Target="../tags/tag102.xml"/><Relationship Id="rId44" Type="http://schemas.openxmlformats.org/officeDocument/2006/relationships/tags" Target="../tags/tag101.xml"/><Relationship Id="rId43" Type="http://schemas.openxmlformats.org/officeDocument/2006/relationships/tags" Target="../tags/tag100.xml"/><Relationship Id="rId42" Type="http://schemas.openxmlformats.org/officeDocument/2006/relationships/image" Target="../media/image40.png"/><Relationship Id="rId41" Type="http://schemas.openxmlformats.org/officeDocument/2006/relationships/tags" Target="../tags/tag99.xml"/><Relationship Id="rId40" Type="http://schemas.openxmlformats.org/officeDocument/2006/relationships/tags" Target="../tags/tag98.xml"/><Relationship Id="rId4" Type="http://schemas.openxmlformats.org/officeDocument/2006/relationships/image" Target="../media/image38.png"/><Relationship Id="rId39" Type="http://schemas.openxmlformats.org/officeDocument/2006/relationships/tags" Target="../tags/tag97.xml"/><Relationship Id="rId38" Type="http://schemas.openxmlformats.org/officeDocument/2006/relationships/tags" Target="../tags/tag96.xml"/><Relationship Id="rId37" Type="http://schemas.openxmlformats.org/officeDocument/2006/relationships/tags" Target="../tags/tag95.xml"/><Relationship Id="rId36" Type="http://schemas.openxmlformats.org/officeDocument/2006/relationships/image" Target="../media/image4.png"/><Relationship Id="rId35" Type="http://schemas.openxmlformats.org/officeDocument/2006/relationships/tags" Target="../tags/tag94.xml"/><Relationship Id="rId34" Type="http://schemas.openxmlformats.org/officeDocument/2006/relationships/tags" Target="../tags/tag93.xml"/><Relationship Id="rId33" Type="http://schemas.openxmlformats.org/officeDocument/2006/relationships/tags" Target="../tags/tag92.xml"/><Relationship Id="rId32" Type="http://schemas.openxmlformats.org/officeDocument/2006/relationships/tags" Target="../tags/tag91.xml"/><Relationship Id="rId31" Type="http://schemas.openxmlformats.org/officeDocument/2006/relationships/tags" Target="../tags/tag90.xml"/><Relationship Id="rId30" Type="http://schemas.openxmlformats.org/officeDocument/2006/relationships/tags" Target="../tags/tag89.xml"/><Relationship Id="rId3" Type="http://schemas.openxmlformats.org/officeDocument/2006/relationships/image" Target="../media/image37.png"/><Relationship Id="rId29" Type="http://schemas.openxmlformats.org/officeDocument/2006/relationships/image" Target="../media/image2.jpeg"/><Relationship Id="rId28" Type="http://schemas.openxmlformats.org/officeDocument/2006/relationships/tags" Target="../tags/tag88.xml"/><Relationship Id="rId27" Type="http://schemas.openxmlformats.org/officeDocument/2006/relationships/tags" Target="../tags/tag87.xml"/><Relationship Id="rId26" Type="http://schemas.openxmlformats.org/officeDocument/2006/relationships/tags" Target="../tags/tag86.xml"/><Relationship Id="rId25" Type="http://schemas.openxmlformats.org/officeDocument/2006/relationships/tags" Target="../tags/tag85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image" Target="../media/image36.png"/><Relationship Id="rId19" Type="http://schemas.openxmlformats.org/officeDocument/2006/relationships/tags" Target="../tags/tag79.xml"/><Relationship Id="rId183" Type="http://schemas.openxmlformats.org/officeDocument/2006/relationships/notesSlide" Target="../notesSlides/notesSlide1.xml"/><Relationship Id="rId182" Type="http://schemas.openxmlformats.org/officeDocument/2006/relationships/slideLayout" Target="../slideLayouts/slideLayout7.xml"/><Relationship Id="rId181" Type="http://schemas.openxmlformats.org/officeDocument/2006/relationships/tags" Target="../tags/tag228.xml"/><Relationship Id="rId180" Type="http://schemas.openxmlformats.org/officeDocument/2006/relationships/tags" Target="../tags/tag227.xml"/><Relationship Id="rId18" Type="http://schemas.openxmlformats.org/officeDocument/2006/relationships/tags" Target="../tags/tag78.xml"/><Relationship Id="rId179" Type="http://schemas.openxmlformats.org/officeDocument/2006/relationships/tags" Target="../tags/tag226.xml"/><Relationship Id="rId178" Type="http://schemas.openxmlformats.org/officeDocument/2006/relationships/tags" Target="../tags/tag225.xml"/><Relationship Id="rId177" Type="http://schemas.openxmlformats.org/officeDocument/2006/relationships/tags" Target="../tags/tag224.xml"/><Relationship Id="rId176" Type="http://schemas.openxmlformats.org/officeDocument/2006/relationships/image" Target="../media/image50.png"/><Relationship Id="rId175" Type="http://schemas.openxmlformats.org/officeDocument/2006/relationships/tags" Target="../tags/tag223.xml"/><Relationship Id="rId174" Type="http://schemas.openxmlformats.org/officeDocument/2006/relationships/tags" Target="../tags/tag222.xml"/><Relationship Id="rId173" Type="http://schemas.openxmlformats.org/officeDocument/2006/relationships/tags" Target="../tags/tag221.xml"/><Relationship Id="rId172" Type="http://schemas.openxmlformats.org/officeDocument/2006/relationships/tags" Target="../tags/tag220.xml"/><Relationship Id="rId171" Type="http://schemas.openxmlformats.org/officeDocument/2006/relationships/tags" Target="../tags/tag219.xml"/><Relationship Id="rId170" Type="http://schemas.openxmlformats.org/officeDocument/2006/relationships/tags" Target="../tags/tag218.xml"/><Relationship Id="rId17" Type="http://schemas.openxmlformats.org/officeDocument/2006/relationships/tags" Target="../tags/tag77.xml"/><Relationship Id="rId169" Type="http://schemas.openxmlformats.org/officeDocument/2006/relationships/tags" Target="../tags/tag217.xml"/><Relationship Id="rId168" Type="http://schemas.openxmlformats.org/officeDocument/2006/relationships/tags" Target="../tags/tag216.xml"/><Relationship Id="rId167" Type="http://schemas.openxmlformats.org/officeDocument/2006/relationships/tags" Target="../tags/tag215.xml"/><Relationship Id="rId166" Type="http://schemas.openxmlformats.org/officeDocument/2006/relationships/tags" Target="../tags/tag214.xml"/><Relationship Id="rId165" Type="http://schemas.openxmlformats.org/officeDocument/2006/relationships/tags" Target="../tags/tag213.xml"/><Relationship Id="rId164" Type="http://schemas.openxmlformats.org/officeDocument/2006/relationships/tags" Target="../tags/tag212.xml"/><Relationship Id="rId163" Type="http://schemas.openxmlformats.org/officeDocument/2006/relationships/tags" Target="../tags/tag211.xml"/><Relationship Id="rId162" Type="http://schemas.openxmlformats.org/officeDocument/2006/relationships/tags" Target="../tags/tag210.xml"/><Relationship Id="rId161" Type="http://schemas.openxmlformats.org/officeDocument/2006/relationships/tags" Target="../tags/tag209.xml"/><Relationship Id="rId160" Type="http://schemas.openxmlformats.org/officeDocument/2006/relationships/tags" Target="../tags/tag208.xml"/><Relationship Id="rId16" Type="http://schemas.openxmlformats.org/officeDocument/2006/relationships/tags" Target="../tags/tag76.xml"/><Relationship Id="rId159" Type="http://schemas.openxmlformats.org/officeDocument/2006/relationships/tags" Target="../tags/tag207.xml"/><Relationship Id="rId158" Type="http://schemas.openxmlformats.org/officeDocument/2006/relationships/tags" Target="../tags/tag206.xml"/><Relationship Id="rId157" Type="http://schemas.openxmlformats.org/officeDocument/2006/relationships/tags" Target="../tags/tag205.xml"/><Relationship Id="rId156" Type="http://schemas.openxmlformats.org/officeDocument/2006/relationships/tags" Target="../tags/tag204.xml"/><Relationship Id="rId155" Type="http://schemas.openxmlformats.org/officeDocument/2006/relationships/tags" Target="../tags/tag203.xml"/><Relationship Id="rId154" Type="http://schemas.openxmlformats.org/officeDocument/2006/relationships/tags" Target="../tags/tag202.xml"/><Relationship Id="rId153" Type="http://schemas.openxmlformats.org/officeDocument/2006/relationships/tags" Target="../tags/tag201.xml"/><Relationship Id="rId152" Type="http://schemas.openxmlformats.org/officeDocument/2006/relationships/tags" Target="../tags/tag200.xml"/><Relationship Id="rId151" Type="http://schemas.openxmlformats.org/officeDocument/2006/relationships/tags" Target="../tags/tag199.xml"/><Relationship Id="rId150" Type="http://schemas.openxmlformats.org/officeDocument/2006/relationships/tags" Target="../tags/tag198.xml"/><Relationship Id="rId15" Type="http://schemas.openxmlformats.org/officeDocument/2006/relationships/image" Target="../media/image39.png"/><Relationship Id="rId149" Type="http://schemas.openxmlformats.org/officeDocument/2006/relationships/tags" Target="../tags/tag197.xml"/><Relationship Id="rId148" Type="http://schemas.openxmlformats.org/officeDocument/2006/relationships/tags" Target="../tags/tag196.xml"/><Relationship Id="rId147" Type="http://schemas.openxmlformats.org/officeDocument/2006/relationships/tags" Target="../tags/tag195.xml"/><Relationship Id="rId146" Type="http://schemas.openxmlformats.org/officeDocument/2006/relationships/tags" Target="../tags/tag194.xml"/><Relationship Id="rId145" Type="http://schemas.openxmlformats.org/officeDocument/2006/relationships/tags" Target="../tags/tag193.xml"/><Relationship Id="rId144" Type="http://schemas.openxmlformats.org/officeDocument/2006/relationships/tags" Target="../tags/tag192.xml"/><Relationship Id="rId143" Type="http://schemas.openxmlformats.org/officeDocument/2006/relationships/tags" Target="../tags/tag191.xml"/><Relationship Id="rId142" Type="http://schemas.openxmlformats.org/officeDocument/2006/relationships/tags" Target="../tags/tag190.xml"/><Relationship Id="rId141" Type="http://schemas.openxmlformats.org/officeDocument/2006/relationships/tags" Target="../tags/tag189.xml"/><Relationship Id="rId140" Type="http://schemas.openxmlformats.org/officeDocument/2006/relationships/tags" Target="../tags/tag188.xml"/><Relationship Id="rId14" Type="http://schemas.openxmlformats.org/officeDocument/2006/relationships/tags" Target="../tags/tag75.xml"/><Relationship Id="rId139" Type="http://schemas.openxmlformats.org/officeDocument/2006/relationships/image" Target="../media/image49.jpeg"/><Relationship Id="rId138" Type="http://schemas.openxmlformats.org/officeDocument/2006/relationships/image" Target="../media/image48.png"/><Relationship Id="rId137" Type="http://schemas.openxmlformats.org/officeDocument/2006/relationships/image" Target="../media/image47.png"/><Relationship Id="rId136" Type="http://schemas.openxmlformats.org/officeDocument/2006/relationships/image" Target="../media/image46.png"/><Relationship Id="rId135" Type="http://schemas.openxmlformats.org/officeDocument/2006/relationships/image" Target="../media/image45.png"/><Relationship Id="rId134" Type="http://schemas.openxmlformats.org/officeDocument/2006/relationships/tags" Target="../tags/tag187.xml"/><Relationship Id="rId133" Type="http://schemas.openxmlformats.org/officeDocument/2006/relationships/tags" Target="../tags/tag186.xml"/><Relationship Id="rId132" Type="http://schemas.openxmlformats.org/officeDocument/2006/relationships/tags" Target="../tags/tag185.xml"/><Relationship Id="rId131" Type="http://schemas.openxmlformats.org/officeDocument/2006/relationships/tags" Target="../tags/tag184.xml"/><Relationship Id="rId130" Type="http://schemas.openxmlformats.org/officeDocument/2006/relationships/tags" Target="../tags/tag183.xml"/><Relationship Id="rId13" Type="http://schemas.openxmlformats.org/officeDocument/2006/relationships/tags" Target="../tags/tag74.xml"/><Relationship Id="rId129" Type="http://schemas.openxmlformats.org/officeDocument/2006/relationships/tags" Target="../tags/tag182.xml"/><Relationship Id="rId128" Type="http://schemas.openxmlformats.org/officeDocument/2006/relationships/tags" Target="../tags/tag181.xml"/><Relationship Id="rId127" Type="http://schemas.openxmlformats.org/officeDocument/2006/relationships/image" Target="../media/image44.png"/><Relationship Id="rId126" Type="http://schemas.openxmlformats.org/officeDocument/2006/relationships/tags" Target="../tags/tag180.xml"/><Relationship Id="rId125" Type="http://schemas.openxmlformats.org/officeDocument/2006/relationships/tags" Target="../tags/tag179.xml"/><Relationship Id="rId124" Type="http://schemas.openxmlformats.org/officeDocument/2006/relationships/tags" Target="../tags/tag178.xml"/><Relationship Id="rId123" Type="http://schemas.openxmlformats.org/officeDocument/2006/relationships/tags" Target="../tags/tag177.xml"/><Relationship Id="rId122" Type="http://schemas.openxmlformats.org/officeDocument/2006/relationships/tags" Target="../tags/tag176.xml"/><Relationship Id="rId121" Type="http://schemas.openxmlformats.org/officeDocument/2006/relationships/tags" Target="../tags/tag175.xml"/><Relationship Id="rId120" Type="http://schemas.openxmlformats.org/officeDocument/2006/relationships/tags" Target="../tags/tag174.xml"/><Relationship Id="rId12" Type="http://schemas.openxmlformats.org/officeDocument/2006/relationships/tags" Target="../tags/tag73.xml"/><Relationship Id="rId119" Type="http://schemas.openxmlformats.org/officeDocument/2006/relationships/tags" Target="../tags/tag173.xml"/><Relationship Id="rId118" Type="http://schemas.openxmlformats.org/officeDocument/2006/relationships/image" Target="../media/image43.png"/><Relationship Id="rId117" Type="http://schemas.openxmlformats.org/officeDocument/2006/relationships/tags" Target="../tags/tag172.xml"/><Relationship Id="rId116" Type="http://schemas.openxmlformats.org/officeDocument/2006/relationships/tags" Target="../tags/tag171.xml"/><Relationship Id="rId115" Type="http://schemas.openxmlformats.org/officeDocument/2006/relationships/tags" Target="../tags/tag170.xml"/><Relationship Id="rId114" Type="http://schemas.openxmlformats.org/officeDocument/2006/relationships/tags" Target="../tags/tag169.xml"/><Relationship Id="rId113" Type="http://schemas.openxmlformats.org/officeDocument/2006/relationships/tags" Target="../tags/tag168.xml"/><Relationship Id="rId112" Type="http://schemas.openxmlformats.org/officeDocument/2006/relationships/tags" Target="../tags/tag167.xml"/><Relationship Id="rId111" Type="http://schemas.openxmlformats.org/officeDocument/2006/relationships/tags" Target="../tags/tag166.xml"/><Relationship Id="rId110" Type="http://schemas.openxmlformats.org/officeDocument/2006/relationships/tags" Target="../tags/tag165.xml"/><Relationship Id="rId11" Type="http://schemas.openxmlformats.org/officeDocument/2006/relationships/tags" Target="../tags/tag72.xml"/><Relationship Id="rId109" Type="http://schemas.openxmlformats.org/officeDocument/2006/relationships/tags" Target="../tags/tag164.xml"/><Relationship Id="rId108" Type="http://schemas.openxmlformats.org/officeDocument/2006/relationships/tags" Target="../tags/tag163.xml"/><Relationship Id="rId107" Type="http://schemas.openxmlformats.org/officeDocument/2006/relationships/tags" Target="../tags/tag162.xml"/><Relationship Id="rId106" Type="http://schemas.openxmlformats.org/officeDocument/2006/relationships/tags" Target="../tags/tag161.xml"/><Relationship Id="rId105" Type="http://schemas.openxmlformats.org/officeDocument/2006/relationships/tags" Target="../tags/tag160.xml"/><Relationship Id="rId104" Type="http://schemas.openxmlformats.org/officeDocument/2006/relationships/tags" Target="../tags/tag159.xml"/><Relationship Id="rId103" Type="http://schemas.openxmlformats.org/officeDocument/2006/relationships/tags" Target="../tags/tag158.xml"/><Relationship Id="rId102" Type="http://schemas.openxmlformats.org/officeDocument/2006/relationships/tags" Target="../tags/tag157.xml"/><Relationship Id="rId101" Type="http://schemas.openxmlformats.org/officeDocument/2006/relationships/tags" Target="../tags/tag156.xml"/><Relationship Id="rId100" Type="http://schemas.openxmlformats.org/officeDocument/2006/relationships/tags" Target="../tags/tag155.xml"/><Relationship Id="rId10" Type="http://schemas.openxmlformats.org/officeDocument/2006/relationships/tags" Target="../tags/tag7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7962" y="2803496"/>
            <a:ext cx="7949818" cy="3254363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组合 303"/>
          <p:cNvGrpSpPr/>
          <p:nvPr/>
        </p:nvGrpSpPr>
        <p:grpSpPr>
          <a:xfrm>
            <a:off x="602510" y="32385"/>
            <a:ext cx="12217405" cy="11372855"/>
            <a:chOff x="98" y="51"/>
            <a:chExt cx="19240" cy="17910"/>
          </a:xfrm>
        </p:grpSpPr>
        <p:grpSp>
          <p:nvGrpSpPr>
            <p:cNvPr id="302" name="组合 301"/>
            <p:cNvGrpSpPr/>
            <p:nvPr/>
          </p:nvGrpSpPr>
          <p:grpSpPr>
            <a:xfrm>
              <a:off x="98" y="51"/>
              <a:ext cx="19240" cy="17910"/>
              <a:chOff x="98" y="51"/>
              <a:chExt cx="19240" cy="17910"/>
            </a:xfrm>
          </p:grpSpPr>
          <p:sp>
            <p:nvSpPr>
              <p:cNvPr id="297" name="圆角矩形 296"/>
              <p:cNvSpPr/>
              <p:nvPr/>
            </p:nvSpPr>
            <p:spPr>
              <a:xfrm>
                <a:off x="8758" y="14369"/>
                <a:ext cx="3620" cy="2413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8" name="圆角矩形 267"/>
              <p:cNvSpPr/>
              <p:nvPr/>
            </p:nvSpPr>
            <p:spPr>
              <a:xfrm>
                <a:off x="2554" y="12034"/>
                <a:ext cx="8368" cy="1908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  <a:alpha val="21000"/>
                </a:schemeClr>
              </a:solidFill>
              <a:ln w="28575" cmpd="sng">
                <a:solidFill>
                  <a:schemeClr val="accent6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7" name="圆柱形 206"/>
              <p:cNvSpPr/>
              <p:nvPr/>
            </p:nvSpPr>
            <p:spPr>
              <a:xfrm>
                <a:off x="3626" y="13256"/>
                <a:ext cx="1800" cy="580"/>
              </a:xfrm>
              <a:prstGeom prst="can">
                <a:avLst>
                  <a:gd name="adj" fmla="val 21064"/>
                </a:avLst>
              </a:prstGeom>
              <a:solidFill>
                <a:schemeClr val="accent3">
                  <a:lumMod val="40000"/>
                  <a:lumOff val="60000"/>
                </a:schemeClr>
              </a:solidFill>
              <a:ln w="28575" cmpd="sng">
                <a:solidFill>
                  <a:schemeClr val="accent1">
                    <a:shade val="50000"/>
                    <a:alpha val="35000"/>
                  </a:schemeClr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rgbClr val="00B0F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M-Bank</a:t>
                </a:r>
                <a:endParaRPr lang="en-US" altLang="zh-CN" b="1" i="1">
                  <a:solidFill>
                    <a:srgbClr val="00B0F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9" name="立方体 178"/>
              <p:cNvSpPr/>
              <p:nvPr/>
            </p:nvSpPr>
            <p:spPr>
              <a:xfrm>
                <a:off x="11933" y="7564"/>
                <a:ext cx="4400" cy="2026"/>
              </a:xfrm>
              <a:prstGeom prst="cube">
                <a:avLst>
                  <a:gd name="adj" fmla="val 27198"/>
                </a:avLst>
              </a:prstGeom>
              <a:solidFill>
                <a:schemeClr val="accent6">
                  <a:lumMod val="20000"/>
                  <a:lumOff val="80000"/>
                  <a:alpha val="68000"/>
                </a:schemeClr>
              </a:solidFill>
              <a:ln w="12700" cmpd="sng">
                <a:solidFill>
                  <a:schemeClr val="accent6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b="1" i="1">
                  <a:solidFill>
                    <a:schemeClr val="accent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44" name="圆角矩形 143"/>
              <p:cNvSpPr/>
              <p:nvPr/>
            </p:nvSpPr>
            <p:spPr>
              <a:xfrm>
                <a:off x="12157" y="233"/>
                <a:ext cx="3076" cy="318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" name="圆角矩形 60"/>
              <p:cNvSpPr/>
              <p:nvPr/>
            </p:nvSpPr>
            <p:spPr>
              <a:xfrm>
                <a:off x="3627" y="8530"/>
                <a:ext cx="2752" cy="138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 cmpd="sng">
                <a:solidFill>
                  <a:schemeClr val="accent2">
                    <a:lumMod val="60000"/>
                    <a:lumOff val="40000"/>
                    <a:alpha val="69000"/>
                  </a:schemeClr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" name="圆角矩形 59"/>
              <p:cNvSpPr/>
              <p:nvPr/>
            </p:nvSpPr>
            <p:spPr>
              <a:xfrm>
                <a:off x="764" y="8530"/>
                <a:ext cx="2793" cy="137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 cmpd="sng">
                <a:solidFill>
                  <a:schemeClr val="accent1">
                    <a:shade val="50000"/>
                    <a:alpha val="69000"/>
                  </a:schemeClr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" name="直接连接符 6"/>
              <p:cNvCxnSpPr/>
              <p:nvPr/>
            </p:nvCxnSpPr>
            <p:spPr>
              <a:xfrm>
                <a:off x="8300" y="398"/>
                <a:ext cx="1" cy="10171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 rot="0">
                <a:off x="249" y="665"/>
                <a:ext cx="2400" cy="1647"/>
                <a:chOff x="360" y="1313"/>
                <a:chExt cx="3014" cy="2034"/>
              </a:xfrm>
            </p:grpSpPr>
            <p:pic>
              <p:nvPicPr>
                <p:cNvPr id="11" name="图片 10"/>
                <p:cNvPicPr/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360" y="1313"/>
                  <a:ext cx="2614" cy="1634"/>
                </a:xfrm>
                <a:prstGeom prst="rect">
                  <a:avLst/>
                </a:prstGeom>
                <a:ln w="41275">
                  <a:solidFill>
                    <a:schemeClr val="accent1">
                      <a:alpha val="48000"/>
                    </a:schemeClr>
                  </a:solidFill>
                </a:ln>
              </p:spPr>
            </p:pic>
            <p:pic>
              <p:nvPicPr>
                <p:cNvPr id="12" name="图片 11"/>
                <p:cNvPicPr/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560" y="1513"/>
                  <a:ext cx="2614" cy="1634"/>
                </a:xfrm>
                <a:prstGeom prst="rect">
                  <a:avLst/>
                </a:prstGeom>
                <a:ln w="41275">
                  <a:solidFill>
                    <a:schemeClr val="accent1">
                      <a:alpha val="48000"/>
                    </a:schemeClr>
                  </a:solidFill>
                </a:ln>
              </p:spPr>
            </p:pic>
            <p:pic>
              <p:nvPicPr>
                <p:cNvPr id="13" name="图片 12"/>
                <p:cNvPicPr/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760" y="1713"/>
                  <a:ext cx="2614" cy="1634"/>
                </a:xfrm>
                <a:prstGeom prst="rect">
                  <a:avLst/>
                </a:prstGeom>
                <a:ln w="41275">
                  <a:solidFill>
                    <a:schemeClr val="accent1">
                      <a:alpha val="48000"/>
                    </a:schemeClr>
                  </a:solidFill>
                </a:ln>
              </p:spPr>
            </p:pic>
          </p:grpSp>
          <p:sp>
            <p:nvSpPr>
              <p:cNvPr id="14" name="文本框 13"/>
              <p:cNvSpPr txBox="1"/>
              <p:nvPr/>
            </p:nvSpPr>
            <p:spPr>
              <a:xfrm>
                <a:off x="158" y="70"/>
                <a:ext cx="242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Video Frame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74" name="组合 73"/>
              <p:cNvGrpSpPr/>
              <p:nvPr/>
            </p:nvGrpSpPr>
            <p:grpSpPr>
              <a:xfrm rot="0">
                <a:off x="8773" y="431"/>
                <a:ext cx="2427" cy="1699"/>
                <a:chOff x="9211" y="8140"/>
                <a:chExt cx="2203" cy="1452"/>
              </a:xfrm>
            </p:grpSpPr>
            <p:pic>
              <p:nvPicPr>
                <p:cNvPr id="2" name="图片 1" descr="frame_00003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211" y="8140"/>
                  <a:ext cx="1803" cy="1052"/>
                </a:xfrm>
                <a:prstGeom prst="rect">
                  <a:avLst/>
                </a:prstGeom>
                <a:ln w="31750">
                  <a:solidFill>
                    <a:schemeClr val="accent1">
                      <a:alpha val="66000"/>
                    </a:schemeClr>
                  </a:solidFill>
                </a:ln>
              </p:spPr>
            </p:pic>
            <p:pic>
              <p:nvPicPr>
                <p:cNvPr id="5" name="图片 4" descr="frame_00003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411" y="8340"/>
                  <a:ext cx="1803" cy="1052"/>
                </a:xfrm>
                <a:prstGeom prst="rect">
                  <a:avLst/>
                </a:prstGeom>
                <a:ln w="31750">
                  <a:solidFill>
                    <a:schemeClr val="accent1">
                      <a:alpha val="66000"/>
                    </a:schemeClr>
                  </a:solidFill>
                </a:ln>
              </p:spPr>
            </p:pic>
            <p:pic>
              <p:nvPicPr>
                <p:cNvPr id="6" name="图片 5" descr="frame_00003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611" y="8540"/>
                  <a:ext cx="1803" cy="1052"/>
                </a:xfrm>
                <a:prstGeom prst="rect">
                  <a:avLst/>
                </a:prstGeom>
                <a:ln w="31750">
                  <a:solidFill>
                    <a:schemeClr val="accent1">
                      <a:alpha val="66000"/>
                    </a:schemeClr>
                  </a:solidFill>
                </a:ln>
              </p:spPr>
            </p:pic>
          </p:grpSp>
          <p:grpSp>
            <p:nvGrpSpPr>
              <p:cNvPr id="28" name="组合 27"/>
              <p:cNvGrpSpPr/>
              <p:nvPr/>
            </p:nvGrpSpPr>
            <p:grpSpPr>
              <a:xfrm rot="0">
                <a:off x="3311" y="657"/>
                <a:ext cx="4505" cy="1660"/>
                <a:chOff x="3507" y="986"/>
                <a:chExt cx="4504" cy="1660"/>
              </a:xfrm>
            </p:grpSpPr>
            <p:sp>
              <p:nvSpPr>
                <p:cNvPr id="22" name="圆角矩形 21"/>
                <p:cNvSpPr/>
                <p:nvPr/>
              </p:nvSpPr>
              <p:spPr>
                <a:xfrm>
                  <a:off x="3507" y="986"/>
                  <a:ext cx="4505" cy="166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  <a:alpha val="3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pic>
              <p:nvPicPr>
                <p:cNvPr id="63" name="图片 62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52" y="1141"/>
                  <a:ext cx="645" cy="560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4" name="圆角矩形 63"/>
                    <p:cNvSpPr/>
                    <p:nvPr/>
                  </p:nvSpPr>
                  <p:spPr>
                    <a:xfrm>
                      <a:off x="4457" y="1154"/>
                      <a:ext cx="3277" cy="560"/>
                    </a:xfrm>
                    <a:prstGeom prst="roundRect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12700" cmpd="sng">
                      <a:solidFill>
                        <a:schemeClr val="accent2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l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a14:m>
                      <a:r>
                        <a:rPr lang="en-US" altLang="zh-CN" sz="200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: the </a:t>
                      </a:r>
                      <a:r>
                        <a:rPr lang="en-US" altLang="zh-CN" sz="2000" b="1" i="1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red eyes</a:t>
                      </a:r>
                      <a:endParaRPr lang="en-US" altLang="zh-CN" sz="2000" b="1" i="1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p:txBody>
                </p:sp>
              </mc:Choice>
              <mc:Fallback>
                <p:sp>
                  <p:nvSpPr>
                    <p:cNvPr id="64" name="圆角矩形 6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57" y="1154"/>
                      <a:ext cx="3277" cy="560"/>
                    </a:xfrm>
                    <a:prstGeom prst="roundRect">
                      <a:avLst/>
                    </a:prstGeom>
                    <a:blipFill rotWithShape="1">
                      <a:blip r:embed="rId4"/>
                    </a:blipFill>
                    <a:ln w="12700" cmpd="sng">
                      <a:solidFill>
                        <a:schemeClr val="accent2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18" name="图片 17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52" y="1888"/>
                  <a:ext cx="645" cy="560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" name="圆角矩形 18"/>
                    <p:cNvSpPr/>
                    <p:nvPr/>
                  </p:nvSpPr>
                  <p:spPr>
                    <a:xfrm>
                      <a:off x="4457" y="1901"/>
                      <a:ext cx="3277" cy="560"/>
                    </a:xfrm>
                    <a:prstGeom prst="round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l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a14:m>
                      <a:r>
                        <a:rPr lang="en-US" altLang="zh-CN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: ones with </a:t>
                      </a:r>
                      <a:r>
                        <a:rPr lang="en-US" altLang="zh-CN" b="1" i="1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anger</a:t>
                      </a:r>
                      <a:endParaRPr lang="en-US" altLang="zh-CN" b="1" i="1">
                        <a:solidFill>
                          <a:srgbClr val="FF0000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p:txBody>
                </p:sp>
              </mc:Choice>
              <mc:Fallback>
                <p:sp>
                  <p:nvSpPr>
                    <p:cNvPr id="19" name="圆角矩形 1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57" y="1901"/>
                      <a:ext cx="3277" cy="560"/>
                    </a:xfrm>
                    <a:prstGeom prst="roundRect">
                      <a:avLst/>
                    </a:prstGeom>
                    <a:blipFill rotWithShape="1">
                      <a:blip r:embed="rId5"/>
                    </a:blip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4" name="文本框 23"/>
              <p:cNvSpPr txBox="1"/>
              <p:nvPr/>
            </p:nvSpPr>
            <p:spPr>
              <a:xfrm>
                <a:off x="4157" y="51"/>
                <a:ext cx="242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Prompt Block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0" name="立方体 39"/>
              <p:cNvSpPr/>
              <p:nvPr/>
            </p:nvSpPr>
            <p:spPr>
              <a:xfrm>
                <a:off x="98" y="3203"/>
                <a:ext cx="2947" cy="735"/>
              </a:xfrm>
              <a:prstGeom prst="cube">
                <a:avLst>
                  <a:gd name="adj" fmla="val 2315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 cmpd="sng">
                <a:solidFill>
                  <a:schemeClr val="accent2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Image Encoder</a:t>
                </a:r>
                <a:endParaRPr lang="en-US" altLang="zh-CN" b="1" i="1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7" name="立方体 26"/>
              <p:cNvSpPr/>
              <p:nvPr/>
            </p:nvSpPr>
            <p:spPr>
              <a:xfrm>
                <a:off x="4157" y="3203"/>
                <a:ext cx="2947" cy="735"/>
              </a:xfrm>
              <a:prstGeom prst="cube">
                <a:avLst>
                  <a:gd name="adj" fmla="val 23157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12700" cmpd="sng">
                <a:solidFill>
                  <a:schemeClr val="accent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chemeClr val="accent2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Prompt Encoder</a:t>
                </a:r>
                <a:endParaRPr lang="en-US" altLang="zh-CN" b="1" i="1">
                  <a:solidFill>
                    <a:schemeClr val="accent2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30" name="直接箭头连接符 29"/>
              <p:cNvCxnSpPr/>
              <p:nvPr/>
            </p:nvCxnSpPr>
            <p:spPr>
              <a:xfrm>
                <a:off x="1463" y="2446"/>
                <a:ext cx="10" cy="6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2" name="立方体 31"/>
              <p:cNvSpPr/>
              <p:nvPr/>
            </p:nvSpPr>
            <p:spPr>
              <a:xfrm>
                <a:off x="1918" y="4830"/>
                <a:ext cx="3372" cy="838"/>
              </a:xfrm>
              <a:prstGeom prst="cube">
                <a:avLst>
                  <a:gd name="adj" fmla="val 2315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 cmpd="sng">
                <a:solidFill>
                  <a:schemeClr val="accent6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chemeClr val="accent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Memory Attention </a:t>
                </a:r>
                <a:endParaRPr lang="en-US" altLang="zh-CN" b="1" i="1">
                  <a:solidFill>
                    <a:schemeClr val="accent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3" name="立方体 32"/>
              <p:cNvSpPr/>
              <p:nvPr/>
            </p:nvSpPr>
            <p:spPr>
              <a:xfrm>
                <a:off x="1918" y="7198"/>
                <a:ext cx="3372" cy="838"/>
              </a:xfrm>
              <a:prstGeom prst="cube">
                <a:avLst>
                  <a:gd name="adj" fmla="val 2315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 cmpd="sng">
                <a:solidFill>
                  <a:schemeClr val="accent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Mask Decoder</a:t>
                </a:r>
                <a:endParaRPr lang="en-US" altLang="zh-CN" b="1" i="1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4" name="圆柱形 33"/>
              <p:cNvSpPr/>
              <p:nvPr/>
            </p:nvSpPr>
            <p:spPr>
              <a:xfrm>
                <a:off x="6016" y="5703"/>
                <a:ext cx="1800" cy="1334"/>
              </a:xfrm>
              <a:prstGeom prst="can">
                <a:avLst>
                  <a:gd name="adj" fmla="val 21064"/>
                </a:avLst>
              </a:prstGeom>
              <a:solidFill>
                <a:schemeClr val="accent3">
                  <a:lumMod val="40000"/>
                  <a:lumOff val="60000"/>
                </a:schemeClr>
              </a:solidFill>
              <a:ln w="28575" cmpd="sng">
                <a:solidFill>
                  <a:schemeClr val="accent1">
                    <a:shade val="50000"/>
                    <a:alpha val="35000"/>
                  </a:schemeClr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rgbClr val="00B0F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Memory Bank</a:t>
                </a:r>
                <a:endParaRPr lang="en-US" altLang="zh-CN" b="1" i="1">
                  <a:solidFill>
                    <a:srgbClr val="00B0F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35" name="肘形连接符 34"/>
              <p:cNvCxnSpPr>
                <a:endCxn id="34" idx="3"/>
              </p:cNvCxnSpPr>
              <p:nvPr/>
            </p:nvCxnSpPr>
            <p:spPr>
              <a:xfrm flipV="1">
                <a:off x="5290" y="7037"/>
                <a:ext cx="1626" cy="429"/>
              </a:xfrm>
              <a:prstGeom prst="bentConnector2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肘形连接符 35"/>
              <p:cNvCxnSpPr>
                <a:stCxn id="34" idx="1"/>
                <a:endCxn id="32" idx="5"/>
              </p:cNvCxnSpPr>
              <p:nvPr/>
            </p:nvCxnSpPr>
            <p:spPr>
              <a:xfrm rot="16200000" flipV="1">
                <a:off x="5827" y="4614"/>
                <a:ext cx="551" cy="1626"/>
              </a:xfrm>
              <a:prstGeom prst="bentConnector2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>
                <a:off x="3591" y="5906"/>
                <a:ext cx="0" cy="1080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肘形连接符 38"/>
              <p:cNvCxnSpPr>
                <a:stCxn id="40" idx="3"/>
                <a:endCxn id="33" idx="2"/>
              </p:cNvCxnSpPr>
              <p:nvPr/>
            </p:nvCxnSpPr>
            <p:spPr>
              <a:xfrm rot="5400000" flipV="1">
                <a:off x="-185" y="5610"/>
                <a:ext cx="3776" cy="432"/>
              </a:xfrm>
              <a:prstGeom prst="bentConnector2">
                <a:avLst/>
              </a:prstGeom>
              <a:ln w="317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/>
              <p:nvPr/>
            </p:nvCxnSpPr>
            <p:spPr>
              <a:xfrm>
                <a:off x="5558" y="2443"/>
                <a:ext cx="10" cy="6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3" name="文本框 42"/>
              <p:cNvSpPr txBox="1"/>
              <p:nvPr/>
            </p:nvSpPr>
            <p:spPr>
              <a:xfrm>
                <a:off x="4101" y="4214"/>
                <a:ext cx="1761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read state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5769" y="7532"/>
                <a:ext cx="2496" cy="9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external explicit state store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4127" y="6642"/>
                <a:ext cx="1761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write state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49" name="图片 48" descr="frame_00015_mask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48" y="8692"/>
                <a:ext cx="1137" cy="753"/>
              </a:xfrm>
              <a:prstGeom prst="rect">
                <a:avLst/>
              </a:prstGeom>
            </p:spPr>
          </p:pic>
          <p:pic>
            <p:nvPicPr>
              <p:cNvPr id="50" name="图片 49" descr="frame_00015_mask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89" y="8847"/>
                <a:ext cx="1137" cy="753"/>
              </a:xfrm>
              <a:prstGeom prst="rect">
                <a:avLst/>
              </a:prstGeom>
            </p:spPr>
          </p:pic>
          <p:pic>
            <p:nvPicPr>
              <p:cNvPr id="51" name="图片 50" descr="frame_00015_mask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29" y="9002"/>
                <a:ext cx="1137" cy="753"/>
              </a:xfrm>
              <a:prstGeom prst="rect">
                <a:avLst/>
              </a:prstGeom>
            </p:spPr>
          </p:pic>
          <p:pic>
            <p:nvPicPr>
              <p:cNvPr id="52" name="图片 51" descr="frame_00026_mask"/>
              <p:cNvPicPr>
                <a:picLocks noChangeAspect="1"/>
              </p:cNvPicPr>
              <p:nvPr/>
            </p:nvPicPr>
            <p:blipFill>
              <a:blip r:embed="rId7"/>
              <a:srcRect l="13617" r="40852"/>
              <a:stretch>
                <a:fillRect/>
              </a:stretch>
            </p:blipFill>
            <p:spPr>
              <a:xfrm rot="16200000">
                <a:off x="2220" y="8514"/>
                <a:ext cx="766" cy="1146"/>
              </a:xfrm>
              <a:prstGeom prst="rect">
                <a:avLst/>
              </a:prstGeom>
            </p:spPr>
          </p:pic>
          <p:pic>
            <p:nvPicPr>
              <p:cNvPr id="54" name="图片 53" descr="frame_00026_mask"/>
              <p:cNvPicPr>
                <a:picLocks noChangeAspect="1"/>
              </p:cNvPicPr>
              <p:nvPr/>
            </p:nvPicPr>
            <p:blipFill>
              <a:blip r:embed="rId7"/>
              <a:srcRect l="13617" r="40852"/>
              <a:stretch>
                <a:fillRect/>
              </a:stretch>
            </p:blipFill>
            <p:spPr>
              <a:xfrm rot="16200000">
                <a:off x="2365" y="8656"/>
                <a:ext cx="766" cy="1146"/>
              </a:xfrm>
              <a:prstGeom prst="rect">
                <a:avLst/>
              </a:prstGeom>
            </p:spPr>
          </p:pic>
          <p:pic>
            <p:nvPicPr>
              <p:cNvPr id="55" name="图片 54" descr="frame_00026_mask"/>
              <p:cNvPicPr>
                <a:picLocks noChangeAspect="1"/>
              </p:cNvPicPr>
              <p:nvPr/>
            </p:nvPicPr>
            <p:blipFill>
              <a:blip r:embed="rId7"/>
              <a:srcRect l="13617" r="40852"/>
              <a:stretch>
                <a:fillRect/>
              </a:stretch>
            </p:blipFill>
            <p:spPr>
              <a:xfrm rot="16200000">
                <a:off x="2509" y="8797"/>
                <a:ext cx="766" cy="1146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" name="圆角矩形 57"/>
                  <p:cNvSpPr/>
                  <p:nvPr/>
                </p:nvSpPr>
                <p:spPr>
                  <a:xfrm>
                    <a:off x="882" y="8858"/>
                    <a:ext cx="970" cy="643"/>
                  </a:xfrm>
                  <a:prstGeom prst="round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58" name="圆角矩形 5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2" y="8858"/>
                    <a:ext cx="970" cy="643"/>
                  </a:xfrm>
                  <a:prstGeom prst="roundRect">
                    <a:avLst/>
                  </a:prstGeom>
                  <a:blipFill rotWithShape="1">
                    <a:blip r:embed="rId8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9" name="圆角矩形 58"/>
                  <p:cNvSpPr/>
                  <p:nvPr/>
                </p:nvSpPr>
                <p:spPr>
                  <a:xfrm>
                    <a:off x="5342" y="8858"/>
                    <a:ext cx="970" cy="643"/>
                  </a:xfrm>
                  <a:prstGeom prst="round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59" name="圆角矩形 5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42" y="8858"/>
                    <a:ext cx="970" cy="643"/>
                  </a:xfrm>
                  <a:prstGeom prst="roundRect">
                    <a:avLst/>
                  </a:prstGeom>
                  <a:blipFill rotWithShape="1">
                    <a:blip r:embed="rId9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3" name="组合 72"/>
              <p:cNvGrpSpPr/>
              <p:nvPr/>
            </p:nvGrpSpPr>
            <p:grpSpPr>
              <a:xfrm rot="0">
                <a:off x="16017" y="320"/>
                <a:ext cx="2836" cy="504"/>
                <a:chOff x="8984" y="6228"/>
                <a:chExt cx="2798" cy="560"/>
              </a:xfrm>
            </p:grpSpPr>
            <p:pic>
              <p:nvPicPr>
                <p:cNvPr id="70" name="图片 69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84" y="6228"/>
                  <a:ext cx="506" cy="560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1" name="圆角矩形 70"/>
                    <p:cNvSpPr/>
                    <p:nvPr/>
                  </p:nvSpPr>
                  <p:spPr>
                    <a:xfrm>
                      <a:off x="9610" y="6228"/>
                      <a:ext cx="2172" cy="560"/>
                    </a:xfrm>
                    <a:prstGeom prst="round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l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a14:m>
                      <a:r>
                        <a:rPr lang="en-US" altLang="zh-CN" sz="160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: the </a:t>
                      </a:r>
                      <a:r>
                        <a:rPr lang="en-US" altLang="zh-CN" sz="1600" b="1" i="1">
                          <a:solidFill>
                            <a:schemeClr val="accent2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carrot</a:t>
                      </a:r>
                      <a:endParaRPr lang="en-US" altLang="zh-CN" sz="1600" b="1" i="1">
                        <a:solidFill>
                          <a:schemeClr val="accent2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p:txBody>
                </p:sp>
              </mc:Choice>
              <mc:Fallback>
                <p:sp>
                  <p:nvSpPr>
                    <p:cNvPr id="71" name="圆角矩形 7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10" y="6228"/>
                      <a:ext cx="2172" cy="560"/>
                    </a:xfrm>
                    <a:prstGeom prst="roundRect">
                      <a:avLst/>
                    </a:prstGeom>
                    <a:blipFill rotWithShape="1">
                      <a:blip r:embed="rId10"/>
                    </a:blip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72" name="直接箭头连接符 71"/>
              <p:cNvCxnSpPr/>
              <p:nvPr/>
            </p:nvCxnSpPr>
            <p:spPr>
              <a:xfrm>
                <a:off x="3604" y="8077"/>
                <a:ext cx="0" cy="4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99" name="图片 98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504" y="1280"/>
                <a:ext cx="638" cy="638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1" name="文本框 100"/>
                  <p:cNvSpPr txBox="1"/>
                  <p:nvPr/>
                </p:nvSpPr>
                <p:spPr>
                  <a:xfrm>
                    <a:off x="14250" y="715"/>
                    <a:ext cx="770" cy="69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01" name="文本框 10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250" y="715"/>
                    <a:ext cx="770" cy="693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2" name="文本框 101"/>
              <p:cNvSpPr txBox="1"/>
              <p:nvPr/>
            </p:nvSpPr>
            <p:spPr>
              <a:xfrm>
                <a:off x="12341" y="1405"/>
                <a:ext cx="2447" cy="43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b="1" i="1">
                    <a:latin typeface="Times New Roman" panose="02020603050405020304" charset="0"/>
                    <a:cs typeface="Times New Roman" panose="02020603050405020304" charset="0"/>
                  </a:rPr>
                  <a:t>IMAGE ENCODER</a:t>
                </a:r>
                <a:endParaRPr lang="en-US" altLang="zh-CN" sz="1200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3" name="立方体 102"/>
              <p:cNvSpPr/>
              <p:nvPr/>
            </p:nvSpPr>
            <p:spPr>
              <a:xfrm>
                <a:off x="12644" y="3730"/>
                <a:ext cx="2340" cy="429"/>
              </a:xfrm>
              <a:prstGeom prst="cube">
                <a:avLst>
                  <a:gd name="adj" fmla="val 2315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 cmpd="sng">
                <a:solidFill>
                  <a:schemeClr val="accent6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chemeClr val="accent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CMT 1</a:t>
                </a:r>
                <a:endParaRPr lang="en-US" altLang="zh-CN" b="1" i="1">
                  <a:solidFill>
                    <a:schemeClr val="accent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04" name="直接箭头连接符 103"/>
              <p:cNvCxnSpPr/>
              <p:nvPr/>
            </p:nvCxnSpPr>
            <p:spPr>
              <a:xfrm>
                <a:off x="10298" y="2652"/>
                <a:ext cx="10" cy="6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5" name="立方体 104"/>
              <p:cNvSpPr/>
              <p:nvPr/>
            </p:nvSpPr>
            <p:spPr>
              <a:xfrm>
                <a:off x="12767" y="4988"/>
                <a:ext cx="1789" cy="428"/>
              </a:xfrm>
              <a:prstGeom prst="cube">
                <a:avLst>
                  <a:gd name="adj" fmla="val 2315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 cmpd="sng">
                <a:solidFill>
                  <a:schemeClr val="accent6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chemeClr val="accent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CMT 2</a:t>
                </a:r>
                <a:endParaRPr lang="en-US" altLang="zh-CN" b="1" i="1">
                  <a:solidFill>
                    <a:schemeClr val="accent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6" name="立方体 105"/>
              <p:cNvSpPr/>
              <p:nvPr/>
            </p:nvSpPr>
            <p:spPr>
              <a:xfrm>
                <a:off x="12832" y="6158"/>
                <a:ext cx="1504" cy="450"/>
              </a:xfrm>
              <a:prstGeom prst="cube">
                <a:avLst>
                  <a:gd name="adj" fmla="val 2315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 cmpd="sng">
                <a:solidFill>
                  <a:schemeClr val="accent6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chemeClr val="accent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CMT 3</a:t>
                </a:r>
                <a:endParaRPr lang="en-US" altLang="zh-CN" b="1" i="1">
                  <a:solidFill>
                    <a:schemeClr val="accent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132" name="组合 131"/>
              <p:cNvGrpSpPr/>
              <p:nvPr/>
            </p:nvGrpSpPr>
            <p:grpSpPr>
              <a:xfrm rot="0">
                <a:off x="12509" y="270"/>
                <a:ext cx="1785" cy="1174"/>
                <a:chOff x="13393" y="1991"/>
                <a:chExt cx="2041" cy="1748"/>
              </a:xfrm>
            </p:grpSpPr>
            <p:sp>
              <p:nvSpPr>
                <p:cNvPr id="133" name="圆角矩形 132"/>
                <p:cNvSpPr/>
                <p:nvPr/>
              </p:nvSpPr>
              <p:spPr>
                <a:xfrm>
                  <a:off x="13393" y="1991"/>
                  <a:ext cx="2041" cy="1748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  <a:alpha val="9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4" name="立方体 133"/>
                <p:cNvSpPr/>
                <p:nvPr/>
              </p:nvSpPr>
              <p:spPr>
                <a:xfrm flipH="1">
                  <a:off x="13499" y="2188"/>
                  <a:ext cx="1833" cy="434"/>
                </a:xfrm>
                <a:prstGeom prst="cube">
                  <a:avLst>
                    <a:gd name="adj" fmla="val 6240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600"/>
                </a:p>
              </p:txBody>
            </p:sp>
            <p:sp>
              <p:nvSpPr>
                <p:cNvPr id="135" name="立方体 134"/>
                <p:cNvSpPr/>
                <p:nvPr/>
              </p:nvSpPr>
              <p:spPr>
                <a:xfrm flipH="1">
                  <a:off x="13830" y="2722"/>
                  <a:ext cx="1267" cy="419"/>
                </a:xfrm>
                <a:prstGeom prst="cube">
                  <a:avLst>
                    <a:gd name="adj" fmla="val 6240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6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6" name="文本框 135"/>
                    <p:cNvSpPr txBox="1"/>
                    <p:nvPr/>
                  </p:nvSpPr>
                  <p:spPr>
                    <a:xfrm>
                      <a:off x="14145" y="2113"/>
                      <a:ext cx="661" cy="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t">
                      <a:sp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𝑉𝐹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136" name="文本框 13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145" y="2113"/>
                      <a:ext cx="661" cy="721"/>
                    </a:xfrm>
                    <a:prstGeom prst="rect">
                      <a:avLst/>
                    </a:prstGeom>
                    <a:blipFill rotWithShape="1">
                      <a:blip r:embed="rId13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7" name="立方体 136"/>
                <p:cNvSpPr/>
                <p:nvPr/>
              </p:nvSpPr>
              <p:spPr>
                <a:xfrm flipH="1">
                  <a:off x="14145" y="3264"/>
                  <a:ext cx="753" cy="333"/>
                </a:xfrm>
                <a:prstGeom prst="cube">
                  <a:avLst>
                    <a:gd name="adj" fmla="val 62400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6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8" name="文本框 137"/>
                    <p:cNvSpPr txBox="1"/>
                    <p:nvPr/>
                  </p:nvSpPr>
                  <p:spPr>
                    <a:xfrm>
                      <a:off x="14145" y="2614"/>
                      <a:ext cx="661" cy="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t">
                      <a:sp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𝑉𝐹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138" name="文本框 13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145" y="2614"/>
                      <a:ext cx="661" cy="721"/>
                    </a:xfrm>
                    <a:prstGeom prst="rect">
                      <a:avLst/>
                    </a:prstGeom>
                    <a:blipFill rotWithShape="1">
                      <a:blip r:embed="rId14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39" name="文本框 138"/>
                    <p:cNvSpPr txBox="1"/>
                    <p:nvPr/>
                  </p:nvSpPr>
                  <p:spPr>
                    <a:xfrm>
                      <a:off x="14233" y="3195"/>
                      <a:ext cx="573" cy="40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t">
                      <a:no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𝑉𝐹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139" name="文本框 1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233" y="3195"/>
                      <a:ext cx="573" cy="402"/>
                    </a:xfrm>
                    <a:prstGeom prst="rect">
                      <a:avLst/>
                    </a:prstGeom>
                    <a:blipFill rotWithShape="1">
                      <a:blip r:embed="rId1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0" name="直接箭头连接符 139"/>
                <p:cNvCxnSpPr/>
                <p:nvPr/>
              </p:nvCxnSpPr>
              <p:spPr>
                <a:xfrm>
                  <a:off x="13499" y="2972"/>
                  <a:ext cx="606" cy="65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1" name="文本框 140"/>
                  <p:cNvSpPr txBox="1"/>
                  <p:nvPr/>
                </p:nvSpPr>
                <p:spPr>
                  <a:xfrm>
                    <a:off x="14267" y="2281"/>
                    <a:ext cx="770" cy="69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41" name="文本框 1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267" y="2281"/>
                    <a:ext cx="770" cy="693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2" name="文本框 141"/>
              <p:cNvSpPr txBox="1"/>
              <p:nvPr/>
            </p:nvSpPr>
            <p:spPr>
              <a:xfrm>
                <a:off x="12156" y="2958"/>
                <a:ext cx="2648" cy="43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 b="1" i="1">
                    <a:latin typeface="Times New Roman" panose="02020603050405020304" charset="0"/>
                    <a:cs typeface="Times New Roman" panose="02020603050405020304" charset="0"/>
                  </a:rPr>
                  <a:t>PROMPT ENCODER</a:t>
                </a:r>
                <a:endParaRPr lang="en-US" altLang="zh-CN" sz="1200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143" name="图片 14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504" y="2831"/>
                <a:ext cx="638" cy="638"/>
              </a:xfrm>
              <a:prstGeom prst="rect">
                <a:avLst/>
              </a:prstGeom>
            </p:spPr>
          </p:pic>
          <p:sp>
            <p:nvSpPr>
              <p:cNvPr id="145" name="文本框 144"/>
              <p:cNvSpPr txBox="1"/>
              <p:nvPr/>
            </p:nvSpPr>
            <p:spPr>
              <a:xfrm rot="10800000">
                <a:off x="11568" y="460"/>
                <a:ext cx="724" cy="1999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p>
                <a:r>
                  <a:rPr lang="en-US" altLang="zh-CN" b="1" i="1">
                    <a:latin typeface="Times New Roman" panose="02020603050405020304" charset="0"/>
                    <a:cs typeface="Times New Roman" panose="02020603050405020304" charset="0"/>
                  </a:rPr>
                  <a:t>Encoder</a:t>
                </a:r>
                <a:endParaRPr lang="en-US" altLang="zh-CN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46" name="直接连接符 145"/>
              <p:cNvCxnSpPr/>
              <p:nvPr/>
            </p:nvCxnSpPr>
            <p:spPr>
              <a:xfrm>
                <a:off x="11574" y="232"/>
                <a:ext cx="11" cy="3371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15809" y="221"/>
                <a:ext cx="13" cy="3405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8" name="圆角矩形 97"/>
                  <p:cNvSpPr/>
                  <p:nvPr/>
                </p:nvSpPr>
                <p:spPr>
                  <a:xfrm>
                    <a:off x="9344" y="3579"/>
                    <a:ext cx="1998" cy="829"/>
                  </a:xfrm>
                  <a:prstGeom prst="roundRect">
                    <a:avLst/>
                  </a:prstGeom>
                  <a:solidFill>
                    <a:schemeClr val="accent1">
                      <a:lumMod val="40000"/>
                      <a:lumOff val="60000"/>
                      <a:alpha val="47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𝑽𝑭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1" i="1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98" name="圆角矩形 9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44" y="3579"/>
                    <a:ext cx="1998" cy="829"/>
                  </a:xfrm>
                  <a:prstGeom prst="roundRect">
                    <a:avLst/>
                  </a:prstGeom>
                  <a:blipFill rotWithShape="1">
                    <a:blip r:embed="rId16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8" name="圆角矩形 147"/>
                  <p:cNvSpPr/>
                  <p:nvPr/>
                </p:nvSpPr>
                <p:spPr>
                  <a:xfrm>
                    <a:off x="9525" y="4922"/>
                    <a:ext cx="1639" cy="641"/>
                  </a:xfrm>
                  <a:prstGeom prst="roundRect">
                    <a:avLst/>
                  </a:prstGeom>
                  <a:solidFill>
                    <a:schemeClr val="accent1">
                      <a:lumMod val="40000"/>
                      <a:lumOff val="60000"/>
                      <a:alpha val="47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𝑽𝑭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48" name="圆角矩形 14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25" y="4922"/>
                    <a:ext cx="1639" cy="641"/>
                  </a:xfrm>
                  <a:prstGeom prst="roundRect">
                    <a:avLst/>
                  </a:prstGeom>
                  <a:blipFill rotWithShape="1">
                    <a:blip r:embed="rId17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9" name="圆角矩形 148"/>
                  <p:cNvSpPr/>
                  <p:nvPr/>
                </p:nvSpPr>
                <p:spPr>
                  <a:xfrm>
                    <a:off x="9718" y="6202"/>
                    <a:ext cx="1242" cy="472"/>
                  </a:xfrm>
                  <a:prstGeom prst="roundRect">
                    <a:avLst/>
                  </a:prstGeom>
                  <a:solidFill>
                    <a:schemeClr val="accent1">
                      <a:lumMod val="40000"/>
                      <a:lumOff val="60000"/>
                      <a:alpha val="47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𝑽𝑭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49" name="圆角矩形 14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18" y="6202"/>
                    <a:ext cx="1242" cy="472"/>
                  </a:xfrm>
                  <a:prstGeom prst="roundRect">
                    <a:avLst/>
                  </a:prstGeom>
                  <a:blipFill rotWithShape="1">
                    <a:blip r:embed="rId18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1" name="文本框 150"/>
              <p:cNvSpPr txBox="1"/>
              <p:nvPr/>
            </p:nvSpPr>
            <p:spPr>
              <a:xfrm>
                <a:off x="8555" y="2403"/>
                <a:ext cx="1633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Stacking Encoders</a:t>
                </a:r>
                <a:endParaRPr lang="en-US" altLang="zh-CN" sz="1600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52" name="直接箭头连接符 151"/>
              <p:cNvCxnSpPr>
                <a:stCxn id="98" idx="3"/>
                <a:endCxn id="103" idx="2"/>
              </p:cNvCxnSpPr>
              <p:nvPr/>
            </p:nvCxnSpPr>
            <p:spPr>
              <a:xfrm>
                <a:off x="11342" y="3994"/>
                <a:ext cx="1302" cy="0"/>
              </a:xfrm>
              <a:prstGeom prst="straightConnector1">
                <a:avLst/>
              </a:prstGeom>
              <a:ln w="28575" cmpd="sng">
                <a:solidFill>
                  <a:srgbClr val="0070C0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3" name="直接箭头连接符 152"/>
              <p:cNvCxnSpPr>
                <a:stCxn id="148" idx="3"/>
                <a:endCxn id="105" idx="2"/>
              </p:cNvCxnSpPr>
              <p:nvPr/>
            </p:nvCxnSpPr>
            <p:spPr>
              <a:xfrm>
                <a:off x="11164" y="5243"/>
                <a:ext cx="1603" cy="9"/>
              </a:xfrm>
              <a:prstGeom prst="straightConnector1">
                <a:avLst/>
              </a:prstGeom>
              <a:ln w="28575" cmpd="sng">
                <a:solidFill>
                  <a:srgbClr val="0070C0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4" name="直接箭头连接符 153"/>
              <p:cNvCxnSpPr>
                <a:stCxn id="149" idx="3"/>
                <a:endCxn id="106" idx="2"/>
              </p:cNvCxnSpPr>
              <p:nvPr/>
            </p:nvCxnSpPr>
            <p:spPr>
              <a:xfrm flipV="1">
                <a:off x="10960" y="6435"/>
                <a:ext cx="1872" cy="3"/>
              </a:xfrm>
              <a:prstGeom prst="straightConnector1">
                <a:avLst/>
              </a:prstGeom>
              <a:ln w="28575" cmpd="sng">
                <a:solidFill>
                  <a:srgbClr val="0070C0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6" name="圆角矩形 155"/>
                  <p:cNvSpPr/>
                  <p:nvPr/>
                </p:nvSpPr>
                <p:spPr>
                  <a:xfrm>
                    <a:off x="16603" y="3578"/>
                    <a:ext cx="1996" cy="830"/>
                  </a:xfrm>
                  <a:prstGeom prst="roundRect">
                    <a:avLst/>
                  </a:prstGeom>
                  <a:solidFill>
                    <a:schemeClr val="accent2">
                      <a:lumMod val="60000"/>
                      <a:lumOff val="40000"/>
                      <a:alpha val="47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𝑻𝑭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56" name="圆角矩形 15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03" y="3578"/>
                    <a:ext cx="1996" cy="830"/>
                  </a:xfrm>
                  <a:prstGeom prst="roundRect">
                    <a:avLst/>
                  </a:prstGeom>
                  <a:blipFill rotWithShape="1">
                    <a:blip r:embed="rId19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7" name="圆角矩形 156"/>
                  <p:cNvSpPr/>
                  <p:nvPr/>
                </p:nvSpPr>
                <p:spPr>
                  <a:xfrm>
                    <a:off x="16783" y="4922"/>
                    <a:ext cx="1639" cy="641"/>
                  </a:xfrm>
                  <a:prstGeom prst="roundRect">
                    <a:avLst/>
                  </a:prstGeom>
                  <a:solidFill>
                    <a:schemeClr val="accent2">
                      <a:lumMod val="60000"/>
                      <a:lumOff val="40000"/>
                      <a:alpha val="47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𝑻𝑭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57" name="圆角矩形 15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83" y="4922"/>
                    <a:ext cx="1639" cy="641"/>
                  </a:xfrm>
                  <a:prstGeom prst="roundRect">
                    <a:avLst/>
                  </a:prstGeom>
                  <a:blipFill rotWithShape="1">
                    <a:blip r:embed="rId20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8" name="圆角矩形 157"/>
                  <p:cNvSpPr/>
                  <p:nvPr/>
                </p:nvSpPr>
                <p:spPr>
                  <a:xfrm>
                    <a:off x="16977" y="6193"/>
                    <a:ext cx="1242" cy="471"/>
                  </a:xfrm>
                  <a:prstGeom prst="roundRect">
                    <a:avLst/>
                  </a:prstGeom>
                  <a:solidFill>
                    <a:schemeClr val="accent2">
                      <a:lumMod val="60000"/>
                      <a:lumOff val="40000"/>
                      <a:alpha val="47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𝑻𝑭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58" name="圆角矩形 15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77" y="6193"/>
                    <a:ext cx="1242" cy="471"/>
                  </a:xfrm>
                  <a:prstGeom prst="roundRect">
                    <a:avLst/>
                  </a:prstGeom>
                  <a:blipFill rotWithShape="1">
                    <a:blip r:embed="rId21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9" name="直接箭头连接符 158"/>
              <p:cNvCxnSpPr>
                <a:stCxn id="156" idx="1"/>
                <a:endCxn id="103" idx="4"/>
              </p:cNvCxnSpPr>
              <p:nvPr/>
            </p:nvCxnSpPr>
            <p:spPr>
              <a:xfrm flipH="1">
                <a:off x="14885" y="3993"/>
                <a:ext cx="1718" cy="1"/>
              </a:xfrm>
              <a:prstGeom prst="straightConnector1">
                <a:avLst/>
              </a:prstGeom>
              <a:ln w="28575" cmpd="sng">
                <a:solidFill>
                  <a:schemeClr val="accent2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0" name="直接箭头连接符 159"/>
              <p:cNvCxnSpPr>
                <a:stCxn id="157" idx="1"/>
                <a:endCxn id="105" idx="4"/>
              </p:cNvCxnSpPr>
              <p:nvPr/>
            </p:nvCxnSpPr>
            <p:spPr>
              <a:xfrm flipH="1">
                <a:off x="14458" y="5243"/>
                <a:ext cx="2325" cy="9"/>
              </a:xfrm>
              <a:prstGeom prst="straightConnector1">
                <a:avLst/>
              </a:prstGeom>
              <a:ln w="28575" cmpd="sng">
                <a:solidFill>
                  <a:schemeClr val="accent2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1" name="直接箭头连接符 160"/>
              <p:cNvCxnSpPr>
                <a:stCxn id="158" idx="1"/>
                <a:endCxn id="106" idx="4"/>
              </p:cNvCxnSpPr>
              <p:nvPr/>
            </p:nvCxnSpPr>
            <p:spPr>
              <a:xfrm flipH="1">
                <a:off x="14233" y="6429"/>
                <a:ext cx="2745" cy="6"/>
              </a:xfrm>
              <a:prstGeom prst="straightConnector1">
                <a:avLst/>
              </a:prstGeom>
              <a:ln w="28575" cmpd="sng">
                <a:solidFill>
                  <a:schemeClr val="accent2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" name="文本框 2"/>
              <p:cNvSpPr txBox="1"/>
              <p:nvPr/>
            </p:nvSpPr>
            <p:spPr>
              <a:xfrm rot="10800000">
                <a:off x="15068" y="189"/>
                <a:ext cx="724" cy="139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p>
                <a:r>
                  <a:rPr lang="en-US" altLang="zh-CN" b="1" i="1">
                    <a:latin typeface="Times New Roman" panose="02020603050405020304" charset="0"/>
                    <a:cs typeface="Times New Roman" panose="02020603050405020304" charset="0"/>
                  </a:rPr>
                  <a:t>Hiera-B</a:t>
                </a:r>
                <a:endParaRPr lang="en-US" altLang="zh-CN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 rot="10800000">
                <a:off x="15092" y="1709"/>
                <a:ext cx="724" cy="139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p>
                <a:r>
                  <a:rPr lang="en-US" altLang="zh-CN" b="1" i="1">
                    <a:latin typeface="Times New Roman" panose="02020603050405020304" charset="0"/>
                    <a:cs typeface="Times New Roman" panose="02020603050405020304" charset="0"/>
                  </a:rPr>
                  <a:t>CLIP-B</a:t>
                </a:r>
                <a:endParaRPr lang="en-US" altLang="zh-CN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 rot="0">
                <a:off x="16017" y="1080"/>
                <a:ext cx="2836" cy="504"/>
                <a:chOff x="8984" y="6228"/>
                <a:chExt cx="2798" cy="560"/>
              </a:xfrm>
            </p:grpSpPr>
            <p:pic>
              <p:nvPicPr>
                <p:cNvPr id="9" name="图片 8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84" y="6228"/>
                  <a:ext cx="506" cy="560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" name="圆角矩形 9"/>
                    <p:cNvSpPr/>
                    <p:nvPr/>
                  </p:nvSpPr>
                  <p:spPr>
                    <a:xfrm>
                      <a:off x="9610" y="6228"/>
                      <a:ext cx="2172" cy="560"/>
                    </a:xfrm>
                    <a:prstGeom prst="round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l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a14:m>
                      <a:r>
                        <a:rPr lang="en-US" altLang="zh-CN" sz="160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: the </a:t>
                      </a:r>
                      <a:r>
                        <a:rPr lang="en-US" altLang="zh-CN" sz="1600" b="1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rabbit</a:t>
                      </a:r>
                      <a:endParaRPr lang="en-US" altLang="zh-CN" sz="16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p:txBody>
                </p:sp>
              </mc:Choice>
              <mc:Fallback>
                <p:sp>
                  <p:nvSpPr>
                    <p:cNvPr id="10" name="圆角矩形 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10" y="6228"/>
                      <a:ext cx="2172" cy="560"/>
                    </a:xfrm>
                    <a:prstGeom prst="roundRect">
                      <a:avLst/>
                    </a:prstGeom>
                    <a:blipFill rotWithShape="1">
                      <a:blip r:embed="rId22"/>
                    </a:blip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5" name="组合 14"/>
              <p:cNvGrpSpPr/>
              <p:nvPr/>
            </p:nvGrpSpPr>
            <p:grpSpPr>
              <a:xfrm rot="0">
                <a:off x="16017" y="1888"/>
                <a:ext cx="2836" cy="504"/>
                <a:chOff x="8984" y="6228"/>
                <a:chExt cx="2836" cy="560"/>
              </a:xfrm>
            </p:grpSpPr>
            <p:pic>
              <p:nvPicPr>
                <p:cNvPr id="16" name="图片 15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84" y="6228"/>
                  <a:ext cx="506" cy="560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" name="圆角矩形 16"/>
                    <p:cNvSpPr/>
                    <p:nvPr/>
                  </p:nvSpPr>
                  <p:spPr>
                    <a:xfrm>
                      <a:off x="9610" y="6228"/>
                      <a:ext cx="2210" cy="560"/>
                    </a:xfrm>
                    <a:prstGeom prst="round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l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oMath>
                      </a14:m>
                      <a:r>
                        <a:rPr lang="en-US" altLang="zh-CN" sz="160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: </a:t>
                      </a:r>
                      <a:r>
                        <a:rPr lang="en-US" altLang="zh-CN" sz="1600" b="1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hand </a:t>
                      </a:r>
                      <a:r>
                        <a:rPr lang="en-US" altLang="zh-CN" sz="1600" i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held</a:t>
                      </a:r>
                      <a:endParaRPr lang="en-US" altLang="zh-CN" sz="1600" b="1" i="1">
                        <a:solidFill>
                          <a:srgbClr val="00B0F0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p:txBody>
                </p:sp>
              </mc:Choice>
              <mc:Fallback>
                <p:sp>
                  <p:nvSpPr>
                    <p:cNvPr id="17" name="圆角矩形 1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10" y="6228"/>
                      <a:ext cx="2210" cy="560"/>
                    </a:xfrm>
                    <a:prstGeom prst="roundRect">
                      <a:avLst/>
                    </a:prstGeom>
                    <a:blipFill rotWithShape="1">
                      <a:blip r:embed="rId23"/>
                    </a:blipFill>
                    <a:ln w="12700" cmpd="sng">
                      <a:solidFill>
                        <a:schemeClr val="accent1">
                          <a:shade val="50000"/>
                        </a:schemeClr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0" name="直接箭头连接符 19"/>
              <p:cNvCxnSpPr/>
              <p:nvPr/>
            </p:nvCxnSpPr>
            <p:spPr>
              <a:xfrm>
                <a:off x="17618" y="2655"/>
                <a:ext cx="10" cy="6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1" name="文本框 20"/>
              <p:cNvSpPr txBox="1"/>
              <p:nvPr/>
            </p:nvSpPr>
            <p:spPr>
              <a:xfrm>
                <a:off x="16023" y="2420"/>
                <a:ext cx="1511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Stacking Encoders</a:t>
                </a:r>
                <a:endParaRPr lang="en-US" altLang="zh-CN" sz="1600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 rot="0">
                <a:off x="10234" y="4554"/>
                <a:ext cx="212" cy="227"/>
                <a:chOff x="9167" y="7592"/>
                <a:chExt cx="358" cy="356"/>
              </a:xfrm>
            </p:grpSpPr>
            <p:sp>
              <p:nvSpPr>
                <p:cNvPr id="25" name="椭圆 24"/>
                <p:cNvSpPr>
                  <a:spLocks noChangeAspect="1"/>
                </p:cNvSpPr>
                <p:nvPr/>
              </p:nvSpPr>
              <p:spPr>
                <a:xfrm>
                  <a:off x="9167" y="7592"/>
                  <a:ext cx="358" cy="35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6" name="直接连接符 25"/>
                <p:cNvCxnSpPr>
                  <a:stCxn id="25" idx="2"/>
                  <a:endCxn id="25" idx="6"/>
                </p:cNvCxnSpPr>
                <p:nvPr/>
              </p:nvCxnSpPr>
              <p:spPr>
                <a:xfrm>
                  <a:off x="9167" y="7771"/>
                  <a:ext cx="35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9346" y="7592"/>
                  <a:ext cx="0" cy="3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肘形连接符 45"/>
              <p:cNvCxnSpPr/>
              <p:nvPr/>
            </p:nvCxnSpPr>
            <p:spPr>
              <a:xfrm rot="10800000" flipV="1">
                <a:off x="10441" y="4177"/>
                <a:ext cx="3193" cy="488"/>
              </a:xfrm>
              <a:prstGeom prst="bentConnector3">
                <a:avLst>
                  <a:gd name="adj1" fmla="val 250"/>
                </a:avLst>
              </a:prstGeom>
              <a:ln w="28575" cmpd="sng">
                <a:solidFill>
                  <a:srgbClr val="0070C0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>
                <a:stCxn id="98" idx="2"/>
                <a:endCxn id="25" idx="0"/>
              </p:cNvCxnSpPr>
              <p:nvPr/>
            </p:nvCxnSpPr>
            <p:spPr>
              <a:xfrm flipH="1">
                <a:off x="10340" y="4409"/>
                <a:ext cx="3" cy="14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>
                <a:stCxn id="25" idx="4"/>
                <a:endCxn id="148" idx="0"/>
              </p:cNvCxnSpPr>
              <p:nvPr/>
            </p:nvCxnSpPr>
            <p:spPr>
              <a:xfrm>
                <a:off x="10340" y="4782"/>
                <a:ext cx="5" cy="1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56" name="组合 55"/>
              <p:cNvGrpSpPr/>
              <p:nvPr/>
            </p:nvGrpSpPr>
            <p:grpSpPr>
              <a:xfrm rot="0">
                <a:off x="17495" y="4554"/>
                <a:ext cx="212" cy="227"/>
                <a:chOff x="9167" y="7592"/>
                <a:chExt cx="358" cy="356"/>
              </a:xfrm>
            </p:grpSpPr>
            <p:sp>
              <p:nvSpPr>
                <p:cNvPr id="57" name="椭圆 56"/>
                <p:cNvSpPr>
                  <a:spLocks noChangeAspect="1"/>
                </p:cNvSpPr>
                <p:nvPr/>
              </p:nvSpPr>
              <p:spPr>
                <a:xfrm>
                  <a:off x="9167" y="7592"/>
                  <a:ext cx="358" cy="35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62" name="直接连接符 61"/>
                <p:cNvCxnSpPr>
                  <a:stCxn id="57" idx="2"/>
                  <a:endCxn id="57" idx="6"/>
                </p:cNvCxnSpPr>
                <p:nvPr/>
              </p:nvCxnSpPr>
              <p:spPr>
                <a:xfrm>
                  <a:off x="9167" y="7771"/>
                  <a:ext cx="35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/>
                <p:cNvCxnSpPr/>
                <p:nvPr/>
              </p:nvCxnSpPr>
              <p:spPr>
                <a:xfrm>
                  <a:off x="9346" y="7592"/>
                  <a:ext cx="0" cy="3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6" name="直接连接符 65"/>
              <p:cNvCxnSpPr>
                <a:stCxn id="57" idx="0"/>
                <a:endCxn id="156" idx="2"/>
              </p:cNvCxnSpPr>
              <p:nvPr/>
            </p:nvCxnSpPr>
            <p:spPr>
              <a:xfrm flipV="1">
                <a:off x="17601" y="4409"/>
                <a:ext cx="0" cy="14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>
                <a:stCxn id="57" idx="4"/>
                <a:endCxn id="157" idx="0"/>
              </p:cNvCxnSpPr>
              <p:nvPr/>
            </p:nvCxnSpPr>
            <p:spPr>
              <a:xfrm>
                <a:off x="17601" y="4782"/>
                <a:ext cx="1" cy="1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68" name="组合 67"/>
              <p:cNvGrpSpPr/>
              <p:nvPr/>
            </p:nvGrpSpPr>
            <p:grpSpPr>
              <a:xfrm rot="0">
                <a:off x="10234" y="5764"/>
                <a:ext cx="212" cy="227"/>
                <a:chOff x="9167" y="7592"/>
                <a:chExt cx="358" cy="356"/>
              </a:xfrm>
            </p:grpSpPr>
            <p:sp>
              <p:nvSpPr>
                <p:cNvPr id="69" name="椭圆 68"/>
                <p:cNvSpPr>
                  <a:spLocks noChangeAspect="1"/>
                </p:cNvSpPr>
                <p:nvPr/>
              </p:nvSpPr>
              <p:spPr>
                <a:xfrm>
                  <a:off x="9167" y="7592"/>
                  <a:ext cx="358" cy="35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75" name="直接连接符 74"/>
                <p:cNvCxnSpPr>
                  <a:stCxn id="69" idx="2"/>
                  <a:endCxn id="69" idx="6"/>
                </p:cNvCxnSpPr>
                <p:nvPr/>
              </p:nvCxnSpPr>
              <p:spPr>
                <a:xfrm>
                  <a:off x="9167" y="7771"/>
                  <a:ext cx="35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9346" y="7592"/>
                  <a:ext cx="0" cy="3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7" name="直接连接符 76"/>
              <p:cNvCxnSpPr>
                <a:stCxn id="148" idx="2"/>
                <a:endCxn id="69" idx="0"/>
              </p:cNvCxnSpPr>
              <p:nvPr/>
            </p:nvCxnSpPr>
            <p:spPr>
              <a:xfrm flipH="1">
                <a:off x="10340" y="5563"/>
                <a:ext cx="5" cy="2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>
                <a:stCxn id="69" idx="4"/>
                <a:endCxn id="149" idx="0"/>
              </p:cNvCxnSpPr>
              <p:nvPr/>
            </p:nvCxnSpPr>
            <p:spPr>
              <a:xfrm flipH="1">
                <a:off x="10339" y="5992"/>
                <a:ext cx="1" cy="2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79" name="组合 78"/>
              <p:cNvGrpSpPr/>
              <p:nvPr/>
            </p:nvGrpSpPr>
            <p:grpSpPr>
              <a:xfrm rot="0">
                <a:off x="17492" y="5764"/>
                <a:ext cx="212" cy="227"/>
                <a:chOff x="9167" y="7592"/>
                <a:chExt cx="358" cy="356"/>
              </a:xfrm>
            </p:grpSpPr>
            <p:sp>
              <p:nvSpPr>
                <p:cNvPr id="80" name="椭圆 79"/>
                <p:cNvSpPr>
                  <a:spLocks noChangeAspect="1"/>
                </p:cNvSpPr>
                <p:nvPr/>
              </p:nvSpPr>
              <p:spPr>
                <a:xfrm>
                  <a:off x="9167" y="7592"/>
                  <a:ext cx="358" cy="35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81" name="直接连接符 80"/>
                <p:cNvCxnSpPr>
                  <a:stCxn id="80" idx="2"/>
                  <a:endCxn id="80" idx="6"/>
                </p:cNvCxnSpPr>
                <p:nvPr/>
              </p:nvCxnSpPr>
              <p:spPr>
                <a:xfrm>
                  <a:off x="9167" y="7771"/>
                  <a:ext cx="35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/>
                <p:cNvCxnSpPr/>
                <p:nvPr/>
              </p:nvCxnSpPr>
              <p:spPr>
                <a:xfrm>
                  <a:off x="9346" y="7592"/>
                  <a:ext cx="0" cy="3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3" name="直接连接符 82"/>
              <p:cNvCxnSpPr>
                <a:stCxn id="157" idx="2"/>
                <a:endCxn id="80" idx="0"/>
              </p:cNvCxnSpPr>
              <p:nvPr/>
            </p:nvCxnSpPr>
            <p:spPr>
              <a:xfrm flipH="1">
                <a:off x="17598" y="5563"/>
                <a:ext cx="4" cy="2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>
                <a:stCxn id="80" idx="4"/>
                <a:endCxn id="158" idx="0"/>
              </p:cNvCxnSpPr>
              <p:nvPr/>
            </p:nvCxnSpPr>
            <p:spPr>
              <a:xfrm>
                <a:off x="17598" y="5992"/>
                <a:ext cx="0" cy="2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5" name="肘形连接符 84"/>
              <p:cNvCxnSpPr/>
              <p:nvPr/>
            </p:nvCxnSpPr>
            <p:spPr>
              <a:xfrm rot="10800000" flipV="1">
                <a:off x="10445" y="5414"/>
                <a:ext cx="3046" cy="463"/>
              </a:xfrm>
              <a:prstGeom prst="bentConnector3">
                <a:avLst>
                  <a:gd name="adj1" fmla="val -197"/>
                </a:avLst>
              </a:prstGeom>
              <a:ln w="28575" cmpd="sng">
                <a:solidFill>
                  <a:srgbClr val="0070C0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6" name="肘形连接符 85"/>
              <p:cNvCxnSpPr/>
              <p:nvPr/>
            </p:nvCxnSpPr>
            <p:spPr>
              <a:xfrm>
                <a:off x="13701" y="5416"/>
                <a:ext cx="3792" cy="462"/>
              </a:xfrm>
              <a:prstGeom prst="bentConnector3">
                <a:avLst>
                  <a:gd name="adj1" fmla="val 422"/>
                </a:avLst>
              </a:prstGeom>
              <a:ln w="28575" cmpd="sng">
                <a:solidFill>
                  <a:schemeClr val="accent2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7" name="肘形连接符 86"/>
              <p:cNvCxnSpPr/>
              <p:nvPr/>
            </p:nvCxnSpPr>
            <p:spPr>
              <a:xfrm rot="5400000" flipV="1">
                <a:off x="15376" y="2548"/>
                <a:ext cx="508" cy="3731"/>
              </a:xfrm>
              <a:prstGeom prst="bentConnector2">
                <a:avLst/>
              </a:prstGeom>
              <a:ln w="28575" cmpd="sng">
                <a:solidFill>
                  <a:schemeClr val="accent2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88" name="组合 87"/>
              <p:cNvGrpSpPr/>
              <p:nvPr/>
            </p:nvGrpSpPr>
            <p:grpSpPr>
              <a:xfrm rot="0">
                <a:off x="10226" y="6939"/>
                <a:ext cx="212" cy="227"/>
                <a:chOff x="9167" y="7592"/>
                <a:chExt cx="358" cy="356"/>
              </a:xfrm>
            </p:grpSpPr>
            <p:sp>
              <p:nvSpPr>
                <p:cNvPr id="89" name="椭圆 88"/>
                <p:cNvSpPr>
                  <a:spLocks noChangeAspect="1"/>
                </p:cNvSpPr>
                <p:nvPr/>
              </p:nvSpPr>
              <p:spPr>
                <a:xfrm>
                  <a:off x="9167" y="7592"/>
                  <a:ext cx="358" cy="35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90" name="直接连接符 89"/>
                <p:cNvCxnSpPr>
                  <a:stCxn id="89" idx="2"/>
                  <a:endCxn id="89" idx="6"/>
                </p:cNvCxnSpPr>
                <p:nvPr/>
              </p:nvCxnSpPr>
              <p:spPr>
                <a:xfrm>
                  <a:off x="9167" y="7771"/>
                  <a:ext cx="35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直接连接符 90"/>
                <p:cNvCxnSpPr/>
                <p:nvPr/>
              </p:nvCxnSpPr>
              <p:spPr>
                <a:xfrm>
                  <a:off x="9346" y="7592"/>
                  <a:ext cx="0" cy="3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2" name="直接连接符 91"/>
              <p:cNvCxnSpPr>
                <a:stCxn id="149" idx="2"/>
                <a:endCxn id="89" idx="0"/>
              </p:cNvCxnSpPr>
              <p:nvPr/>
            </p:nvCxnSpPr>
            <p:spPr>
              <a:xfrm flipH="1">
                <a:off x="10332" y="6674"/>
                <a:ext cx="7" cy="26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3" name="肘形连接符 92"/>
              <p:cNvCxnSpPr/>
              <p:nvPr/>
            </p:nvCxnSpPr>
            <p:spPr>
              <a:xfrm rot="10800000" flipV="1">
                <a:off x="10467" y="6616"/>
                <a:ext cx="2795" cy="441"/>
              </a:xfrm>
              <a:prstGeom prst="bentConnector3">
                <a:avLst>
                  <a:gd name="adj1" fmla="val 572"/>
                </a:avLst>
              </a:prstGeom>
              <a:ln w="28575" cmpd="sng">
                <a:solidFill>
                  <a:srgbClr val="0070C0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4" name="肘形连接符 93"/>
              <p:cNvCxnSpPr/>
              <p:nvPr/>
            </p:nvCxnSpPr>
            <p:spPr>
              <a:xfrm>
                <a:off x="13736" y="6636"/>
                <a:ext cx="3761" cy="425"/>
              </a:xfrm>
              <a:prstGeom prst="bentConnector3">
                <a:avLst>
                  <a:gd name="adj1" fmla="val 691"/>
                </a:avLst>
              </a:prstGeom>
              <a:ln w="28575" cmpd="sng">
                <a:solidFill>
                  <a:schemeClr val="accent2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95" name="组合 94"/>
              <p:cNvGrpSpPr/>
              <p:nvPr/>
            </p:nvGrpSpPr>
            <p:grpSpPr>
              <a:xfrm rot="0">
                <a:off x="17496" y="6947"/>
                <a:ext cx="212" cy="227"/>
                <a:chOff x="9167" y="7592"/>
                <a:chExt cx="358" cy="356"/>
              </a:xfrm>
            </p:grpSpPr>
            <p:sp>
              <p:nvSpPr>
                <p:cNvPr id="96" name="椭圆 95"/>
                <p:cNvSpPr>
                  <a:spLocks noChangeAspect="1"/>
                </p:cNvSpPr>
                <p:nvPr/>
              </p:nvSpPr>
              <p:spPr>
                <a:xfrm>
                  <a:off x="9167" y="7592"/>
                  <a:ext cx="358" cy="35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97" name="直接连接符 96"/>
                <p:cNvCxnSpPr>
                  <a:stCxn id="96" idx="2"/>
                  <a:endCxn id="96" idx="6"/>
                </p:cNvCxnSpPr>
                <p:nvPr/>
              </p:nvCxnSpPr>
              <p:spPr>
                <a:xfrm>
                  <a:off x="9167" y="7771"/>
                  <a:ext cx="35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连接符 99"/>
                <p:cNvCxnSpPr/>
                <p:nvPr/>
              </p:nvCxnSpPr>
              <p:spPr>
                <a:xfrm>
                  <a:off x="9346" y="7592"/>
                  <a:ext cx="0" cy="3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7" name="直接连接符 106"/>
              <p:cNvCxnSpPr>
                <a:stCxn id="158" idx="2"/>
                <a:endCxn id="96" idx="0"/>
              </p:cNvCxnSpPr>
              <p:nvPr/>
            </p:nvCxnSpPr>
            <p:spPr>
              <a:xfrm>
                <a:off x="17598" y="6664"/>
                <a:ext cx="4" cy="28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08" name="图片 10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44" y="3655"/>
                <a:ext cx="638" cy="638"/>
              </a:xfrm>
              <a:prstGeom prst="rect">
                <a:avLst/>
              </a:prstGeom>
            </p:spPr>
          </p:pic>
          <p:pic>
            <p:nvPicPr>
              <p:cNvPr id="109" name="图片 108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73" y="4922"/>
                <a:ext cx="638" cy="638"/>
              </a:xfrm>
              <a:prstGeom prst="rect">
                <a:avLst/>
              </a:prstGeom>
            </p:spPr>
          </p:pic>
          <p:pic>
            <p:nvPicPr>
              <p:cNvPr id="110" name="图片 10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06" y="6147"/>
                <a:ext cx="638" cy="638"/>
              </a:xfrm>
              <a:prstGeom prst="rect">
                <a:avLst/>
              </a:prstGeom>
            </p:spPr>
          </p:pic>
          <p:pic>
            <p:nvPicPr>
              <p:cNvPr id="112" name="图片 11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526" y="3655"/>
                <a:ext cx="638" cy="638"/>
              </a:xfrm>
              <a:prstGeom prst="rect">
                <a:avLst/>
              </a:prstGeom>
            </p:spPr>
          </p:pic>
          <p:pic>
            <p:nvPicPr>
              <p:cNvPr id="120" name="图片 11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522" y="4940"/>
                <a:ext cx="638" cy="638"/>
              </a:xfrm>
              <a:prstGeom prst="rect">
                <a:avLst/>
              </a:prstGeom>
            </p:spPr>
          </p:pic>
          <p:pic>
            <p:nvPicPr>
              <p:cNvPr id="162" name="图片 16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522" y="6114"/>
                <a:ext cx="638" cy="638"/>
              </a:xfrm>
              <a:prstGeom prst="rect">
                <a:avLst/>
              </a:prstGeom>
            </p:spPr>
          </p:pic>
          <p:sp>
            <p:nvSpPr>
              <p:cNvPr id="164" name="立方体 163"/>
              <p:cNvSpPr/>
              <p:nvPr/>
            </p:nvSpPr>
            <p:spPr>
              <a:xfrm>
                <a:off x="3044" y="12157"/>
                <a:ext cx="3127" cy="731"/>
              </a:xfrm>
              <a:prstGeom prst="cube">
                <a:avLst>
                  <a:gd name="adj" fmla="val 2315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2700" cmpd="sng">
                <a:solidFill>
                  <a:schemeClr val="accent6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 i="1">
                    <a:solidFill>
                      <a:schemeClr val="accent6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Memory Attention </a:t>
                </a:r>
                <a:endParaRPr lang="en-US" altLang="zh-CN" sz="1600" b="1" i="1">
                  <a:solidFill>
                    <a:schemeClr val="accent6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131" name="组合 130"/>
              <p:cNvGrpSpPr/>
              <p:nvPr/>
            </p:nvGrpSpPr>
            <p:grpSpPr>
              <a:xfrm rot="0">
                <a:off x="9747" y="8174"/>
                <a:ext cx="1534" cy="1414"/>
                <a:chOff x="9666" y="8018"/>
                <a:chExt cx="1534" cy="1414"/>
              </a:xfrm>
            </p:grpSpPr>
            <p:sp>
              <p:nvSpPr>
                <p:cNvPr id="115" name="矩形 114"/>
                <p:cNvSpPr/>
                <p:nvPr/>
              </p:nvSpPr>
              <p:spPr>
                <a:xfrm>
                  <a:off x="9717" y="81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6" name="矩形 115"/>
                <p:cNvSpPr/>
                <p:nvPr/>
              </p:nvSpPr>
              <p:spPr>
                <a:xfrm>
                  <a:off x="9917" y="83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7" name="矩形 116"/>
                <p:cNvSpPr/>
                <p:nvPr/>
              </p:nvSpPr>
              <p:spPr>
                <a:xfrm>
                  <a:off x="10117" y="85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8" name="矩形 117"/>
                <p:cNvSpPr/>
                <p:nvPr/>
              </p:nvSpPr>
              <p:spPr>
                <a:xfrm>
                  <a:off x="10317" y="87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4" name="立方体 113"/>
                <p:cNvSpPr/>
                <p:nvPr/>
              </p:nvSpPr>
              <p:spPr>
                <a:xfrm flipH="1">
                  <a:off x="9666" y="8018"/>
                  <a:ext cx="1534" cy="1415"/>
                </a:xfrm>
                <a:prstGeom prst="cube">
                  <a:avLst>
                    <a:gd name="adj" fmla="val 45991"/>
                  </a:avLst>
                </a:prstGeom>
                <a:noFill/>
                <a:ln w="28575" cmpd="sng">
                  <a:solidFill>
                    <a:schemeClr val="accent1"/>
                  </a:solidFill>
                  <a:prstDash val="sysDash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65" name="组合 164"/>
              <p:cNvGrpSpPr/>
              <p:nvPr/>
            </p:nvGrpSpPr>
            <p:grpSpPr>
              <a:xfrm rot="0">
                <a:off x="16736" y="8175"/>
                <a:ext cx="1560" cy="1414"/>
                <a:chOff x="11726" y="8018"/>
                <a:chExt cx="1560" cy="1414"/>
              </a:xfrm>
            </p:grpSpPr>
            <p:sp>
              <p:nvSpPr>
                <p:cNvPr id="129" name="矩形 128"/>
                <p:cNvSpPr/>
                <p:nvPr/>
              </p:nvSpPr>
              <p:spPr>
                <a:xfrm>
                  <a:off x="12226" y="85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0" name="矩形 129"/>
                <p:cNvSpPr/>
                <p:nvPr/>
              </p:nvSpPr>
              <p:spPr>
                <a:xfrm>
                  <a:off x="12426" y="87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0" name="矩形 149"/>
                <p:cNvSpPr/>
                <p:nvPr/>
              </p:nvSpPr>
              <p:spPr>
                <a:xfrm>
                  <a:off x="11826" y="81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5" name="矩形 154"/>
                <p:cNvSpPr/>
                <p:nvPr/>
              </p:nvSpPr>
              <p:spPr>
                <a:xfrm>
                  <a:off x="12026" y="83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3" name="立方体 162"/>
                <p:cNvSpPr/>
                <p:nvPr/>
              </p:nvSpPr>
              <p:spPr>
                <a:xfrm flipH="1">
                  <a:off x="11726" y="8018"/>
                  <a:ext cx="1560" cy="1415"/>
                </a:xfrm>
                <a:prstGeom prst="cube">
                  <a:avLst>
                    <a:gd name="adj" fmla="val 45991"/>
                  </a:avLst>
                </a:prstGeom>
                <a:noFill/>
                <a:ln w="28575" cmpd="sng">
                  <a:solidFill>
                    <a:schemeClr val="accent2">
                      <a:lumMod val="60000"/>
                      <a:lumOff val="40000"/>
                    </a:schemeClr>
                  </a:solidFill>
                  <a:prstDash val="sysDash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66" name="直接箭头连接符 165"/>
              <p:cNvCxnSpPr/>
              <p:nvPr/>
            </p:nvCxnSpPr>
            <p:spPr>
              <a:xfrm>
                <a:off x="10339" y="7376"/>
                <a:ext cx="10" cy="6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7" name="直接箭头连接符 166"/>
              <p:cNvCxnSpPr/>
              <p:nvPr/>
            </p:nvCxnSpPr>
            <p:spPr>
              <a:xfrm>
                <a:off x="17588" y="7311"/>
                <a:ext cx="10" cy="63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68" name="组合 167"/>
              <p:cNvGrpSpPr/>
              <p:nvPr/>
            </p:nvGrpSpPr>
            <p:grpSpPr>
              <a:xfrm rot="0">
                <a:off x="12509" y="1804"/>
                <a:ext cx="1785" cy="1174"/>
                <a:chOff x="13393" y="1991"/>
                <a:chExt cx="2041" cy="1748"/>
              </a:xfrm>
            </p:grpSpPr>
            <p:sp>
              <p:nvSpPr>
                <p:cNvPr id="169" name="圆角矩形 168"/>
                <p:cNvSpPr/>
                <p:nvPr/>
              </p:nvSpPr>
              <p:spPr>
                <a:xfrm>
                  <a:off x="13393" y="1991"/>
                  <a:ext cx="2041" cy="1748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  <a:alpha val="47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0" name="立方体 169"/>
                <p:cNvSpPr/>
                <p:nvPr/>
              </p:nvSpPr>
              <p:spPr>
                <a:xfrm flipH="1">
                  <a:off x="13499" y="2188"/>
                  <a:ext cx="1833" cy="434"/>
                </a:xfrm>
                <a:prstGeom prst="cube">
                  <a:avLst>
                    <a:gd name="adj" fmla="val 62400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600"/>
                </a:p>
              </p:txBody>
            </p:sp>
            <p:sp>
              <p:nvSpPr>
                <p:cNvPr id="171" name="立方体 170"/>
                <p:cNvSpPr/>
                <p:nvPr/>
              </p:nvSpPr>
              <p:spPr>
                <a:xfrm flipH="1">
                  <a:off x="13830" y="2722"/>
                  <a:ext cx="1267" cy="419"/>
                </a:xfrm>
                <a:prstGeom prst="cube">
                  <a:avLst>
                    <a:gd name="adj" fmla="val 62400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6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2" name="文本框 171"/>
                    <p:cNvSpPr txBox="1"/>
                    <p:nvPr/>
                  </p:nvSpPr>
                  <p:spPr>
                    <a:xfrm>
                      <a:off x="14145" y="2113"/>
                      <a:ext cx="661" cy="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t">
                      <a:sp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𝑇𝐹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172" name="文本框 17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145" y="2113"/>
                      <a:ext cx="661" cy="721"/>
                    </a:xfrm>
                    <a:prstGeom prst="rect">
                      <a:avLst/>
                    </a:prstGeom>
                    <a:blipFill rotWithShape="1">
                      <a:blip r:embed="rId24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73" name="立方体 172"/>
                <p:cNvSpPr/>
                <p:nvPr/>
              </p:nvSpPr>
              <p:spPr>
                <a:xfrm flipH="1">
                  <a:off x="14145" y="3264"/>
                  <a:ext cx="753" cy="333"/>
                </a:xfrm>
                <a:prstGeom prst="cube">
                  <a:avLst>
                    <a:gd name="adj" fmla="val 62400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6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4" name="文本框 173"/>
                    <p:cNvSpPr txBox="1"/>
                    <p:nvPr/>
                  </p:nvSpPr>
                  <p:spPr>
                    <a:xfrm>
                      <a:off x="14145" y="2614"/>
                      <a:ext cx="661" cy="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t">
                      <a:sp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𝑇𝐹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174" name="文本框 17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145" y="2614"/>
                      <a:ext cx="661" cy="721"/>
                    </a:xfrm>
                    <a:prstGeom prst="rect">
                      <a:avLst/>
                    </a:prstGeom>
                    <a:blipFill rotWithShape="1">
                      <a:blip r:embed="rId2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5" name="文本框 174"/>
                    <p:cNvSpPr txBox="1"/>
                    <p:nvPr/>
                  </p:nvSpPr>
                  <p:spPr>
                    <a:xfrm>
                      <a:off x="14233" y="3195"/>
                      <a:ext cx="573" cy="40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t">
                      <a:no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𝑇𝐹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175" name="文本框 17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233" y="3195"/>
                      <a:ext cx="573" cy="402"/>
                    </a:xfrm>
                    <a:prstGeom prst="rect">
                      <a:avLst/>
                    </a:prstGeom>
                    <a:blipFill rotWithShape="1">
                      <a:blip r:embed="rId26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6" name="直接箭头连接符 175"/>
                <p:cNvCxnSpPr/>
                <p:nvPr/>
              </p:nvCxnSpPr>
              <p:spPr>
                <a:xfrm>
                  <a:off x="13499" y="2972"/>
                  <a:ext cx="606" cy="651"/>
                </a:xfrm>
                <a:prstGeom prst="straightConnector1">
                  <a:avLst/>
                </a:prstGeom>
                <a:ln>
                  <a:solidFill>
                    <a:schemeClr val="accent2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7" name="文本框 176"/>
              <p:cNvSpPr txBox="1"/>
              <p:nvPr/>
            </p:nvSpPr>
            <p:spPr>
              <a:xfrm>
                <a:off x="8763" y="9612"/>
                <a:ext cx="2837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Visual Embeddings</a:t>
                </a:r>
                <a:endParaRPr lang="en-US" altLang="zh-CN" sz="1600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8" name="文本框 177"/>
              <p:cNvSpPr txBox="1"/>
              <p:nvPr/>
            </p:nvSpPr>
            <p:spPr>
              <a:xfrm>
                <a:off x="16402" y="9612"/>
                <a:ext cx="293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Text Embeddings</a:t>
                </a:r>
                <a:endParaRPr lang="en-US" altLang="zh-CN" sz="1600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0" name="文本框 179"/>
              <p:cNvSpPr txBox="1"/>
              <p:nvPr/>
            </p:nvSpPr>
            <p:spPr>
              <a:xfrm>
                <a:off x="11693" y="9625"/>
                <a:ext cx="4478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b="1" i="1">
                    <a:latin typeface="Times New Roman" panose="02020603050405020304" charset="0"/>
                    <a:cs typeface="Times New Roman" panose="02020603050405020304" charset="0"/>
                  </a:rPr>
                  <a:t>Cross Modal Temporal Module</a:t>
                </a:r>
                <a:endParaRPr lang="en-US" altLang="zh-CN" sz="1600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2" name="立方体 181"/>
              <p:cNvSpPr/>
              <p:nvPr/>
            </p:nvSpPr>
            <p:spPr>
              <a:xfrm>
                <a:off x="12141" y="8175"/>
                <a:ext cx="1099" cy="534"/>
              </a:xfrm>
              <a:prstGeom prst="cub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700" i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TVA</a:t>
                </a:r>
                <a:endParaRPr lang="en-US" altLang="zh-CN" sz="1700" i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3" name="立方体 182"/>
              <p:cNvSpPr/>
              <p:nvPr/>
            </p:nvSpPr>
            <p:spPr>
              <a:xfrm>
                <a:off x="13317" y="8175"/>
                <a:ext cx="1100" cy="534"/>
              </a:xfrm>
              <a:prstGeom prst="cub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i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VTA</a:t>
                </a:r>
                <a:endParaRPr lang="en-US" altLang="zh-CN" i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84" name="立方体 183"/>
              <p:cNvSpPr/>
              <p:nvPr/>
            </p:nvSpPr>
            <p:spPr>
              <a:xfrm>
                <a:off x="14529" y="8175"/>
                <a:ext cx="1076" cy="534"/>
              </a:xfrm>
              <a:prstGeom prst="cube">
                <a:avLst/>
              </a:prstGeom>
              <a:solidFill>
                <a:schemeClr val="accent3">
                  <a:lumMod val="60000"/>
                  <a:lumOff val="4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700" i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HSA</a:t>
                </a:r>
                <a:endParaRPr lang="en-US" altLang="zh-CN" sz="1700" i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5" name="文本框 184"/>
              <p:cNvSpPr txBox="1"/>
              <p:nvPr/>
            </p:nvSpPr>
            <p:spPr>
              <a:xfrm>
                <a:off x="12156" y="8670"/>
                <a:ext cx="90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T2V 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6" name="文本框 185"/>
              <p:cNvSpPr txBox="1"/>
              <p:nvPr/>
            </p:nvSpPr>
            <p:spPr>
              <a:xfrm>
                <a:off x="13284" y="8657"/>
                <a:ext cx="90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V2T 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7" name="文本框 186"/>
              <p:cNvSpPr txBox="1"/>
              <p:nvPr/>
            </p:nvSpPr>
            <p:spPr>
              <a:xfrm>
                <a:off x="14192" y="8642"/>
                <a:ext cx="175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Hiera-Select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88" name="肘形连接符 187"/>
              <p:cNvCxnSpPr>
                <a:stCxn id="185" idx="2"/>
                <a:endCxn id="190" idx="1"/>
              </p:cNvCxnSpPr>
              <p:nvPr/>
            </p:nvCxnSpPr>
            <p:spPr>
              <a:xfrm rot="5400000" flipV="1">
                <a:off x="12651" y="9113"/>
                <a:ext cx="140" cy="219"/>
              </a:xfrm>
              <a:prstGeom prst="bentConnector2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9" name="肘形连接符 188"/>
              <p:cNvCxnSpPr>
                <a:stCxn id="187" idx="2"/>
                <a:endCxn id="190" idx="3"/>
              </p:cNvCxnSpPr>
              <p:nvPr/>
            </p:nvCxnSpPr>
            <p:spPr>
              <a:xfrm rot="5400000">
                <a:off x="14894" y="9116"/>
                <a:ext cx="168" cy="185"/>
              </a:xfrm>
              <a:prstGeom prst="bentConnector2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0" name="文本框 189"/>
              <p:cNvSpPr txBox="1"/>
              <p:nvPr/>
            </p:nvSpPr>
            <p:spPr>
              <a:xfrm>
                <a:off x="12830" y="9051"/>
                <a:ext cx="205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Attention Score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1" name="文本框 190"/>
              <p:cNvSpPr txBox="1"/>
              <p:nvPr/>
            </p:nvSpPr>
            <p:spPr>
              <a:xfrm>
                <a:off x="12892" y="7534"/>
                <a:ext cx="235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 i="1">
                    <a:solidFill>
                      <a:schemeClr val="accent6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CMT Module</a:t>
                </a:r>
                <a:endParaRPr lang="zh-CN" altLang="en-US"/>
              </a:p>
            </p:txBody>
          </p:sp>
          <p:cxnSp>
            <p:nvCxnSpPr>
              <p:cNvPr id="193" name="直接连接符 192"/>
              <p:cNvCxnSpPr/>
              <p:nvPr/>
            </p:nvCxnSpPr>
            <p:spPr>
              <a:xfrm flipV="1">
                <a:off x="250" y="10825"/>
                <a:ext cx="18719" cy="75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94" name="组合 193"/>
              <p:cNvGrpSpPr/>
              <p:nvPr/>
            </p:nvGrpSpPr>
            <p:grpSpPr>
              <a:xfrm rot="0">
                <a:off x="822" y="11802"/>
                <a:ext cx="1096" cy="1148"/>
                <a:chOff x="9666" y="8018"/>
                <a:chExt cx="1534" cy="1414"/>
              </a:xfrm>
            </p:grpSpPr>
            <p:sp>
              <p:nvSpPr>
                <p:cNvPr id="195" name="矩形 194"/>
                <p:cNvSpPr/>
                <p:nvPr/>
              </p:nvSpPr>
              <p:spPr>
                <a:xfrm>
                  <a:off x="9717" y="81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6" name="矩形 195"/>
                <p:cNvSpPr/>
                <p:nvPr/>
              </p:nvSpPr>
              <p:spPr>
                <a:xfrm>
                  <a:off x="9917" y="83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7" name="矩形 196"/>
                <p:cNvSpPr/>
                <p:nvPr/>
              </p:nvSpPr>
              <p:spPr>
                <a:xfrm>
                  <a:off x="10117" y="85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8" name="矩形 197"/>
                <p:cNvSpPr/>
                <p:nvPr/>
              </p:nvSpPr>
              <p:spPr>
                <a:xfrm>
                  <a:off x="10317" y="8704"/>
                  <a:ext cx="818" cy="6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9" name="立方体 198"/>
                <p:cNvSpPr/>
                <p:nvPr/>
              </p:nvSpPr>
              <p:spPr>
                <a:xfrm flipH="1">
                  <a:off x="9666" y="8018"/>
                  <a:ext cx="1534" cy="1415"/>
                </a:xfrm>
                <a:prstGeom prst="cube">
                  <a:avLst>
                    <a:gd name="adj" fmla="val 45991"/>
                  </a:avLst>
                </a:prstGeom>
                <a:noFill/>
                <a:ln w="28575" cmpd="sng">
                  <a:solidFill>
                    <a:schemeClr val="accent1"/>
                  </a:solidFill>
                  <a:prstDash val="sysDash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00" name="组合 199"/>
              <p:cNvGrpSpPr/>
              <p:nvPr/>
            </p:nvGrpSpPr>
            <p:grpSpPr>
              <a:xfrm rot="0">
                <a:off x="642" y="15288"/>
                <a:ext cx="1059" cy="1064"/>
                <a:chOff x="11726" y="8018"/>
                <a:chExt cx="1560" cy="1414"/>
              </a:xfrm>
            </p:grpSpPr>
            <p:sp>
              <p:nvSpPr>
                <p:cNvPr id="201" name="矩形 200"/>
                <p:cNvSpPr/>
                <p:nvPr/>
              </p:nvSpPr>
              <p:spPr>
                <a:xfrm>
                  <a:off x="12226" y="85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2" name="矩形 201"/>
                <p:cNvSpPr/>
                <p:nvPr/>
              </p:nvSpPr>
              <p:spPr>
                <a:xfrm>
                  <a:off x="12426" y="87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3" name="矩形 202"/>
                <p:cNvSpPr/>
                <p:nvPr/>
              </p:nvSpPr>
              <p:spPr>
                <a:xfrm>
                  <a:off x="11826" y="81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4" name="矩形 203"/>
                <p:cNvSpPr/>
                <p:nvPr/>
              </p:nvSpPr>
              <p:spPr>
                <a:xfrm>
                  <a:off x="12026" y="8304"/>
                  <a:ext cx="818" cy="65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reflection stA="45000" endPos="0" dist="50800" dir="5400000" sy="-100000" algn="bl" rotWithShape="0"/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5" name="立方体 204"/>
                <p:cNvSpPr/>
                <p:nvPr/>
              </p:nvSpPr>
              <p:spPr>
                <a:xfrm flipH="1">
                  <a:off x="11726" y="8018"/>
                  <a:ext cx="1560" cy="1415"/>
                </a:xfrm>
                <a:prstGeom prst="cube">
                  <a:avLst>
                    <a:gd name="adj" fmla="val 45991"/>
                  </a:avLst>
                </a:prstGeom>
                <a:noFill/>
                <a:ln w="28575" cmpd="sng">
                  <a:solidFill>
                    <a:schemeClr val="accent2">
                      <a:lumMod val="60000"/>
                      <a:lumOff val="40000"/>
                    </a:schemeClr>
                  </a:solidFill>
                  <a:prstDash val="sysDash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06" name="直接箭头连接符 205"/>
              <p:cNvCxnSpPr/>
              <p:nvPr/>
            </p:nvCxnSpPr>
            <p:spPr>
              <a:xfrm>
                <a:off x="2096" y="12605"/>
                <a:ext cx="892" cy="1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8" name="直接箭头连接符 207"/>
              <p:cNvCxnSpPr>
                <a:stCxn id="164" idx="3"/>
                <a:endCxn id="207" idx="1"/>
              </p:cNvCxnSpPr>
              <p:nvPr/>
            </p:nvCxnSpPr>
            <p:spPr>
              <a:xfrm>
                <a:off x="4522" y="12887"/>
                <a:ext cx="4" cy="36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212" name="图片 211" descr="png-clipart-combustibility-and-flammability-computer-icons-symbol-fire-flammable-leaf-orange-thumbnail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585" y="3551"/>
                <a:ext cx="320" cy="261"/>
              </a:xfrm>
              <a:prstGeom prst="rect">
                <a:avLst/>
              </a:prstGeom>
            </p:spPr>
          </p:pic>
          <p:pic>
            <p:nvPicPr>
              <p:cNvPr id="213" name="图片 212" descr="png-clipart-combustibility-and-flammability-computer-icons-symbol-fire-flammable-leaf-orange-thumbnail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444" y="4782"/>
                <a:ext cx="320" cy="261"/>
              </a:xfrm>
              <a:prstGeom prst="rect">
                <a:avLst/>
              </a:prstGeom>
            </p:spPr>
          </p:pic>
          <p:pic>
            <p:nvPicPr>
              <p:cNvPr id="214" name="图片 213" descr="png-clipart-combustibility-and-flammability-computer-icons-symbol-fire-flammable-leaf-orange-thumbnail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415" y="5992"/>
                <a:ext cx="320" cy="261"/>
              </a:xfrm>
              <a:prstGeom prst="rect">
                <a:avLst/>
              </a:prstGeom>
            </p:spPr>
          </p:pic>
          <p:pic>
            <p:nvPicPr>
              <p:cNvPr id="215" name="图片 214" descr="png-clipart-combustibility-and-flammability-computer-icons-symbol-fire-flammable-leaf-orange-thumbnail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141" y="7619"/>
                <a:ext cx="503" cy="411"/>
              </a:xfrm>
              <a:prstGeom prst="rect">
                <a:avLst/>
              </a:prstGeom>
            </p:spPr>
          </p:pic>
          <p:sp>
            <p:nvSpPr>
              <p:cNvPr id="216" name="立方体 215"/>
              <p:cNvSpPr/>
              <p:nvPr/>
            </p:nvSpPr>
            <p:spPr>
              <a:xfrm>
                <a:off x="7682" y="12617"/>
                <a:ext cx="3134" cy="1068"/>
              </a:xfrm>
              <a:prstGeom prst="cube">
                <a:avLst>
                  <a:gd name="adj" fmla="val 2315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 cmpd="sng">
                <a:solidFill>
                  <a:schemeClr val="accent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r>
                  <a:rPr lang="en-US" altLang="zh-CN" b="1" i="1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Mask Decoder</a:t>
                </a:r>
                <a:endParaRPr lang="en-US" altLang="zh-CN" b="1" i="1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17" name="直接箭头连接符 216"/>
              <p:cNvCxnSpPr>
                <a:stCxn id="271" idx="3"/>
                <a:endCxn id="275" idx="1"/>
              </p:cNvCxnSpPr>
              <p:nvPr/>
            </p:nvCxnSpPr>
            <p:spPr>
              <a:xfrm>
                <a:off x="16727" y="12877"/>
                <a:ext cx="4" cy="874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218" name="图片 21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98" y="13074"/>
                <a:ext cx="548" cy="430"/>
              </a:xfrm>
              <a:prstGeom prst="rect">
                <a:avLst/>
              </a:prstGeom>
            </p:spPr>
          </p:pic>
          <p:cxnSp>
            <p:nvCxnSpPr>
              <p:cNvPr id="219" name="肘形连接符 218"/>
              <p:cNvCxnSpPr>
                <a:stCxn id="220" idx="1"/>
              </p:cNvCxnSpPr>
              <p:nvPr/>
            </p:nvCxnSpPr>
            <p:spPr>
              <a:xfrm rot="10800000" flipV="1">
                <a:off x="2202" y="11662"/>
                <a:ext cx="5967" cy="650"/>
              </a:xfrm>
              <a:prstGeom prst="bentConnector3">
                <a:avLst>
                  <a:gd name="adj1" fmla="val 98508"/>
                </a:avLst>
              </a:prstGeom>
              <a:ln w="38100" cmpd="sng">
                <a:solidFill>
                  <a:srgbClr val="0070C0"/>
                </a:solidFill>
                <a:prstDash val="sysDash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20" name="圆角矩形 219"/>
              <p:cNvSpPr/>
              <p:nvPr/>
            </p:nvSpPr>
            <p:spPr>
              <a:xfrm>
                <a:off x="8169" y="11448"/>
                <a:ext cx="2298" cy="42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r>
                  <a:rPr lang="en-US" altLang="zh-CN" i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Patch2Attn</a:t>
                </a:r>
                <a:endParaRPr lang="en-US" altLang="zh-CN" i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21" name="肘形连接符 220"/>
              <p:cNvCxnSpPr>
                <a:stCxn id="216" idx="2"/>
                <a:endCxn id="164" idx="4"/>
              </p:cNvCxnSpPr>
              <p:nvPr/>
            </p:nvCxnSpPr>
            <p:spPr>
              <a:xfrm rot="10800000">
                <a:off x="6002" y="12606"/>
                <a:ext cx="1680" cy="669"/>
              </a:xfrm>
              <a:prstGeom prst="bentConnector3">
                <a:avLst>
                  <a:gd name="adj1" fmla="val 44940"/>
                </a:avLst>
              </a:prstGeom>
              <a:ln w="38100" cmpd="sng">
                <a:solidFill>
                  <a:srgbClr val="0070C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234" name="组合 233"/>
              <p:cNvGrpSpPr/>
              <p:nvPr/>
            </p:nvGrpSpPr>
            <p:grpSpPr>
              <a:xfrm rot="0">
                <a:off x="6660" y="14447"/>
                <a:ext cx="2040" cy="532"/>
                <a:chOff x="6687" y="13120"/>
                <a:chExt cx="2040" cy="53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2" name="圆角矩形 221"/>
                    <p:cNvSpPr/>
                    <p:nvPr/>
                  </p:nvSpPr>
                  <p:spPr>
                    <a:xfrm>
                      <a:off x="6687" y="13120"/>
                      <a:ext cx="2040" cy="533"/>
                    </a:xfrm>
                    <a:prstGeom prst="roundRect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𝑝𝑟𝑜𝑚𝑝𝑡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endParaRPr>
                    </a:p>
                  </p:txBody>
                </p:sp>
              </mc:Choice>
              <mc:Fallback>
                <p:sp>
                  <p:nvSpPr>
                    <p:cNvPr id="222" name="圆角矩形 22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87" y="13120"/>
                      <a:ext cx="2040" cy="533"/>
                    </a:xfrm>
                    <a:prstGeom prst="roundRect">
                      <a:avLst/>
                    </a:prstGeom>
                    <a:blipFill rotWithShape="1">
                      <a:blip r:embed="rId28"/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223" name="图片 222" descr="png-clipart-combustibility-and-flammability-computer-icons-symbol-fire-flammable-leaf-orange-thumbnail"/>
                <p:cNvPicPr>
                  <a:picLocks noChangeAspect="1"/>
                </p:cNvPicPr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82" y="13184"/>
                  <a:ext cx="505" cy="412"/>
                </a:xfrm>
                <a:prstGeom prst="rect">
                  <a:avLst/>
                </a:prstGeom>
              </p:spPr>
            </p:pic>
          </p:grpSp>
          <p:pic>
            <p:nvPicPr>
              <p:cNvPr id="224" name="图片 22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68" y="11359"/>
                <a:ext cx="638" cy="638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5" name="圆角矩形 224"/>
                  <p:cNvSpPr/>
                  <p:nvPr/>
                </p:nvSpPr>
                <p:spPr>
                  <a:xfrm>
                    <a:off x="3382" y="15083"/>
                    <a:ext cx="592" cy="504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2700" cmpd="sng">
                    <a:noFill/>
                    <a:prstDash val="sysDot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600" b="1" i="1">
                      <a:solidFill>
                        <a:schemeClr val="accent1">
                          <a:lumMod val="75000"/>
                        </a:schemeClr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</mc:Choice>
            <mc:Fallback>
              <p:sp>
                <p:nvSpPr>
                  <p:cNvPr id="225" name="圆角矩形 22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82" y="15083"/>
                    <a:ext cx="592" cy="504"/>
                  </a:xfrm>
                  <a:prstGeom prst="roundRect">
                    <a:avLst/>
                  </a:prstGeom>
                  <a:blipFill rotWithShape="1">
                    <a:blip r:embed="rId29"/>
                  </a:blipFill>
                  <a:ln w="12700" cmpd="sng">
                    <a:noFill/>
                    <a:prstDash val="sysDot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6" name="圆角矩形 225"/>
                  <p:cNvSpPr/>
                  <p:nvPr/>
                </p:nvSpPr>
                <p:spPr>
                  <a:xfrm>
                    <a:off x="2756" y="15083"/>
                    <a:ext cx="592" cy="504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2700" cmpd="sng">
                    <a:noFill/>
                    <a:prstDash val="sysDot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600" b="1" i="1">
                      <a:solidFill>
                        <a:schemeClr val="accent1">
                          <a:lumMod val="75000"/>
                        </a:schemeClr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</mc:Choice>
            <mc:Fallback>
              <p:sp>
                <p:nvSpPr>
                  <p:cNvPr id="226" name="圆角矩形 22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6" y="15083"/>
                    <a:ext cx="592" cy="504"/>
                  </a:xfrm>
                  <a:prstGeom prst="roundRect">
                    <a:avLst/>
                  </a:prstGeom>
                  <a:blipFill rotWithShape="1">
                    <a:blip r:embed="rId30"/>
                  </a:blipFill>
                  <a:ln w="12700" cmpd="sng">
                    <a:noFill/>
                    <a:prstDash val="sysDot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7" name="圆角矩形 226"/>
                  <p:cNvSpPr/>
                  <p:nvPr/>
                </p:nvSpPr>
                <p:spPr>
                  <a:xfrm>
                    <a:off x="3034" y="16363"/>
                    <a:ext cx="592" cy="504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 w="12700" cmpd="sng">
                    <a:noFill/>
                    <a:prstDash val="sysDot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600" b="1" i="1">
                      <a:solidFill>
                        <a:schemeClr val="accent1">
                          <a:lumMod val="75000"/>
                        </a:schemeClr>
                      </a:solidFill>
                      <a:latin typeface="Times New Roman" panose="02020603050405020304" charset="0"/>
                      <a:cs typeface="Times New Roman" panose="02020603050405020304" charset="0"/>
                      <a:sym typeface="+mn-ea"/>
                    </a:endParaRPr>
                  </a:p>
                </p:txBody>
              </p:sp>
            </mc:Choice>
            <mc:Fallback>
              <p:sp>
                <p:nvSpPr>
                  <p:cNvPr id="227" name="圆角矩形 22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34" y="16363"/>
                    <a:ext cx="592" cy="504"/>
                  </a:xfrm>
                  <a:prstGeom prst="roundRect">
                    <a:avLst/>
                  </a:prstGeom>
                  <a:blipFill rotWithShape="1">
                    <a:blip r:embed="rId31"/>
                  </a:blipFill>
                  <a:ln w="12700" cmpd="sng">
                    <a:noFill/>
                    <a:prstDash val="sysDot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9" name="圆角矩形 228"/>
              <p:cNvSpPr/>
              <p:nvPr/>
            </p:nvSpPr>
            <p:spPr>
              <a:xfrm>
                <a:off x="2649" y="14977"/>
                <a:ext cx="1398" cy="740"/>
              </a:xfrm>
              <a:prstGeom prst="roundRect">
                <a:avLst/>
              </a:prstGeom>
              <a:noFill/>
              <a:ln w="28575" cmpd="sng">
                <a:solidFill>
                  <a:schemeClr val="accent2">
                    <a:lumMod val="75000"/>
                  </a:schemeClr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0" name="圆角矩形 229"/>
              <p:cNvSpPr/>
              <p:nvPr/>
            </p:nvSpPr>
            <p:spPr>
              <a:xfrm>
                <a:off x="2915" y="16232"/>
                <a:ext cx="833" cy="739"/>
              </a:xfrm>
              <a:prstGeom prst="roundRect">
                <a:avLst/>
              </a:prstGeom>
              <a:noFill/>
              <a:ln w="28575" cmpd="sng">
                <a:solidFill>
                  <a:schemeClr val="accent2">
                    <a:lumMod val="75000"/>
                  </a:schemeClr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1" name="文本框 230"/>
              <p:cNvSpPr txBox="1"/>
              <p:nvPr/>
            </p:nvSpPr>
            <p:spPr>
              <a:xfrm>
                <a:off x="2090" y="14482"/>
                <a:ext cx="2554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CONTEXTUAL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32" name="文本框 231"/>
              <p:cNvSpPr txBox="1"/>
              <p:nvPr/>
            </p:nvSpPr>
            <p:spPr>
              <a:xfrm>
                <a:off x="2528" y="15752"/>
                <a:ext cx="1573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MOTION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33" name="直接箭头连接符 232"/>
              <p:cNvCxnSpPr/>
              <p:nvPr/>
            </p:nvCxnSpPr>
            <p:spPr>
              <a:xfrm flipV="1">
                <a:off x="4127" y="15353"/>
                <a:ext cx="568" cy="4"/>
              </a:xfrm>
              <a:prstGeom prst="straightConnector1">
                <a:avLst/>
              </a:prstGeom>
              <a:ln w="3810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5" name="肘形连接符 234"/>
              <p:cNvCxnSpPr>
                <a:stCxn id="229" idx="1"/>
                <a:endCxn id="205" idx="2"/>
              </p:cNvCxnSpPr>
              <p:nvPr/>
            </p:nvCxnSpPr>
            <p:spPr>
              <a:xfrm rot="10800000" flipV="1">
                <a:off x="1701" y="15347"/>
                <a:ext cx="948" cy="717"/>
              </a:xfrm>
              <a:prstGeom prst="bentConnector3">
                <a:avLst>
                  <a:gd name="adj1" fmla="val 59282"/>
                </a:avLst>
              </a:prstGeom>
              <a:ln w="28575" cmpd="sng">
                <a:solidFill>
                  <a:schemeClr val="accent2">
                    <a:lumMod val="75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6" name="肘形连接符 235"/>
              <p:cNvCxnSpPr/>
              <p:nvPr/>
            </p:nvCxnSpPr>
            <p:spPr>
              <a:xfrm rot="10800000">
                <a:off x="1701" y="16064"/>
                <a:ext cx="1214" cy="570"/>
              </a:xfrm>
              <a:prstGeom prst="bentConnector3">
                <a:avLst>
                  <a:gd name="adj1" fmla="val 67792"/>
                </a:avLst>
              </a:prstGeom>
              <a:ln w="28575" cmpd="sng">
                <a:solidFill>
                  <a:schemeClr val="accent2">
                    <a:lumMod val="75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39" name="圆角矩形 238"/>
              <p:cNvSpPr/>
              <p:nvPr/>
            </p:nvSpPr>
            <p:spPr>
              <a:xfrm>
                <a:off x="4714" y="14830"/>
                <a:ext cx="1294" cy="504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 i="1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rabbit</a:t>
                </a:r>
                <a:endParaRPr lang="en-US" altLang="zh-CN" sz="1600" b="1" i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245" name="圆角矩形 244"/>
              <p:cNvSpPr/>
              <p:nvPr/>
            </p:nvSpPr>
            <p:spPr>
              <a:xfrm>
                <a:off x="4714" y="15353"/>
                <a:ext cx="1264" cy="504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 i="1">
                    <a:solidFill>
                      <a:schemeClr val="accent2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carrot</a:t>
                </a:r>
                <a:endParaRPr lang="en-US" altLang="zh-CN" sz="1600" b="1" i="1">
                  <a:solidFill>
                    <a:schemeClr val="accent2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246" name="圆角矩形 245"/>
              <p:cNvSpPr/>
              <p:nvPr/>
            </p:nvSpPr>
            <p:spPr>
              <a:xfrm>
                <a:off x="4700" y="16339"/>
                <a:ext cx="1264" cy="504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 i="1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held</a:t>
                </a:r>
                <a:endParaRPr lang="en-US" altLang="zh-CN" sz="1600" b="1" i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cxnSp>
            <p:nvCxnSpPr>
              <p:cNvPr id="248" name="直接箭头连接符 247"/>
              <p:cNvCxnSpPr/>
              <p:nvPr/>
            </p:nvCxnSpPr>
            <p:spPr>
              <a:xfrm>
                <a:off x="3778" y="16634"/>
                <a:ext cx="912" cy="11"/>
              </a:xfrm>
              <a:prstGeom prst="straightConnector1">
                <a:avLst/>
              </a:prstGeom>
              <a:ln w="3810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9" name="肘形连接符 248"/>
              <p:cNvCxnSpPr/>
              <p:nvPr/>
            </p:nvCxnSpPr>
            <p:spPr>
              <a:xfrm rot="5400000">
                <a:off x="6482" y="14159"/>
                <a:ext cx="377" cy="2018"/>
              </a:xfrm>
              <a:prstGeom prst="bentConnector2">
                <a:avLst/>
              </a:prstGeom>
              <a:ln w="28575" cmpd="sng">
                <a:solidFill>
                  <a:schemeClr val="accent2">
                    <a:lumMod val="75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0" name="肘形连接符 249"/>
              <p:cNvCxnSpPr>
                <a:endCxn id="246" idx="3"/>
              </p:cNvCxnSpPr>
              <p:nvPr/>
            </p:nvCxnSpPr>
            <p:spPr>
              <a:xfrm rot="10800000" flipV="1">
                <a:off x="5964" y="14973"/>
                <a:ext cx="2260" cy="1618"/>
              </a:xfrm>
              <a:prstGeom prst="bentConnector3">
                <a:avLst>
                  <a:gd name="adj1" fmla="val 0"/>
                </a:avLst>
              </a:prstGeom>
              <a:ln w="28575" cmpd="sng">
                <a:solidFill>
                  <a:schemeClr val="accent2">
                    <a:lumMod val="75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52" name="圆角矩形 251"/>
              <p:cNvSpPr/>
              <p:nvPr/>
            </p:nvSpPr>
            <p:spPr>
              <a:xfrm>
                <a:off x="8920" y="14441"/>
                <a:ext cx="3333" cy="533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r>
                  <a:rPr lang="en-US" altLang="zh-CN" i="1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Prompt Encoder</a:t>
                </a:r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  <p:pic>
            <p:nvPicPr>
              <p:cNvPr id="254" name="图片 25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633" y="14402"/>
                <a:ext cx="638" cy="638"/>
              </a:xfrm>
              <a:prstGeom prst="rect">
                <a:avLst/>
              </a:prstGeom>
            </p:spPr>
          </p:pic>
          <p:sp>
            <p:nvSpPr>
              <p:cNvPr id="255" name="矩形 254"/>
              <p:cNvSpPr/>
              <p:nvPr/>
            </p:nvSpPr>
            <p:spPr>
              <a:xfrm>
                <a:off x="8894" y="15355"/>
                <a:ext cx="1034" cy="62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mask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56" name="矩形 255"/>
              <p:cNvSpPr/>
              <p:nvPr/>
            </p:nvSpPr>
            <p:spPr>
              <a:xfrm>
                <a:off x="10003" y="15355"/>
                <a:ext cx="1034" cy="62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point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57" name="矩形 256"/>
              <p:cNvSpPr/>
              <p:nvPr/>
            </p:nvSpPr>
            <p:spPr>
              <a:xfrm>
                <a:off x="11107" y="15354"/>
                <a:ext cx="1034" cy="62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box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58" name="直接箭头连接符 257"/>
              <p:cNvCxnSpPr/>
              <p:nvPr/>
            </p:nvCxnSpPr>
            <p:spPr>
              <a:xfrm flipH="1">
                <a:off x="10530" y="15025"/>
                <a:ext cx="4" cy="2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9" name="直接箭头连接符 258"/>
              <p:cNvCxnSpPr/>
              <p:nvPr/>
            </p:nvCxnSpPr>
            <p:spPr>
              <a:xfrm flipH="1">
                <a:off x="11609" y="15025"/>
                <a:ext cx="4" cy="2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0" name="直接箭头连接符 259"/>
              <p:cNvCxnSpPr/>
              <p:nvPr/>
            </p:nvCxnSpPr>
            <p:spPr>
              <a:xfrm flipH="1">
                <a:off x="9409" y="15025"/>
                <a:ext cx="4" cy="2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1" name="肘形连接符 260"/>
              <p:cNvCxnSpPr>
                <a:stCxn id="216" idx="3"/>
                <a:endCxn id="222" idx="0"/>
              </p:cNvCxnSpPr>
              <p:nvPr/>
            </p:nvCxnSpPr>
            <p:spPr>
              <a:xfrm rot="5400000">
                <a:off x="8022" y="13344"/>
                <a:ext cx="761" cy="1444"/>
              </a:xfrm>
              <a:prstGeom prst="bentConnector3">
                <a:avLst>
                  <a:gd name="adj1" fmla="val 60709"/>
                </a:avLst>
              </a:prstGeom>
              <a:ln w="28575" cmpd="sng">
                <a:solidFill>
                  <a:schemeClr val="accent2">
                    <a:lumMod val="75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2" name="肘形连接符 261"/>
              <p:cNvCxnSpPr>
                <a:stCxn id="216" idx="3"/>
                <a:endCxn id="252" idx="0"/>
              </p:cNvCxnSpPr>
              <p:nvPr/>
            </p:nvCxnSpPr>
            <p:spPr>
              <a:xfrm rot="5400000" flipV="1">
                <a:off x="9478" y="13332"/>
                <a:ext cx="755" cy="1463"/>
              </a:xfrm>
              <a:prstGeom prst="bentConnector3">
                <a:avLst>
                  <a:gd name="adj1" fmla="val 60794"/>
                </a:avLst>
              </a:prstGeom>
              <a:ln w="28575" cmpd="sng">
                <a:solidFill>
                  <a:schemeClr val="accent2">
                    <a:lumMod val="75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63" name="圆角矩形 262"/>
              <p:cNvSpPr/>
              <p:nvPr/>
            </p:nvSpPr>
            <p:spPr>
              <a:xfrm>
                <a:off x="11278" y="11311"/>
                <a:ext cx="3040" cy="759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Memory-FREE </a:t>
                </a:r>
                <a:endParaRPr lang="en-US" altLang="zh-CN" sz="16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IMG-tokens</a:t>
                </a:r>
                <a:endPara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64" name="文本框 263"/>
              <p:cNvSpPr txBox="1"/>
              <p:nvPr/>
            </p:nvSpPr>
            <p:spPr>
              <a:xfrm>
                <a:off x="3665" y="11049"/>
                <a:ext cx="381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Raw Image Information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65" name="直接箭头连接符 264"/>
              <p:cNvCxnSpPr>
                <a:stCxn id="224" idx="3"/>
                <a:endCxn id="263" idx="1"/>
              </p:cNvCxnSpPr>
              <p:nvPr/>
            </p:nvCxnSpPr>
            <p:spPr>
              <a:xfrm>
                <a:off x="10505" y="11678"/>
                <a:ext cx="772" cy="13"/>
              </a:xfrm>
              <a:prstGeom prst="straightConnector1">
                <a:avLst/>
              </a:prstGeom>
              <a:ln w="38100" cmpd="sng">
                <a:solidFill>
                  <a:srgbClr val="0070C0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66" name="圆角矩形 265"/>
              <p:cNvSpPr/>
              <p:nvPr/>
            </p:nvSpPr>
            <p:spPr>
              <a:xfrm>
                <a:off x="11278" y="12886"/>
                <a:ext cx="3040" cy="759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Memory-Aware </a:t>
                </a:r>
                <a:endParaRPr lang="en-US" altLang="zh-CN" sz="16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IMG-tokens</a:t>
                </a:r>
                <a:endParaRPr lang="en-US" altLang="zh-CN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67" name="直接箭头连接符 266"/>
              <p:cNvCxnSpPr>
                <a:stCxn id="216" idx="4"/>
                <a:endCxn id="266" idx="1"/>
              </p:cNvCxnSpPr>
              <p:nvPr/>
            </p:nvCxnSpPr>
            <p:spPr>
              <a:xfrm flipV="1">
                <a:off x="10568" y="13266"/>
                <a:ext cx="709" cy="1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69" name="文本框 268"/>
              <p:cNvSpPr txBox="1"/>
              <p:nvPr/>
            </p:nvSpPr>
            <p:spPr>
              <a:xfrm>
                <a:off x="6570" y="11982"/>
                <a:ext cx="430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 i="1">
                    <a:latin typeface="Times New Roman" panose="02020603050405020304" charset="0"/>
                    <a:cs typeface="Times New Roman" panose="02020603050405020304" charset="0"/>
                  </a:rPr>
                  <a:t>Memory Embedding Block</a:t>
                </a:r>
                <a:endParaRPr lang="en-US" altLang="zh-CN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71" name="立方体 270"/>
              <p:cNvSpPr/>
              <p:nvPr/>
            </p:nvSpPr>
            <p:spPr>
              <a:xfrm>
                <a:off x="15092" y="11790"/>
                <a:ext cx="3542" cy="1087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 cmpd="sng">
                <a:solidFill>
                  <a:schemeClr val="accent4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CONDITIONAL MEMORY ENCODE</a:t>
                </a:r>
                <a:endParaRPr lang="zh-CN" altLang="en-US" sz="1600"/>
              </a:p>
            </p:txBody>
          </p:sp>
          <p:cxnSp>
            <p:nvCxnSpPr>
              <p:cNvPr id="272" name="肘形连接符 271"/>
              <p:cNvCxnSpPr>
                <a:stCxn id="271" idx="2"/>
                <a:endCxn id="266" idx="3"/>
              </p:cNvCxnSpPr>
              <p:nvPr/>
            </p:nvCxnSpPr>
            <p:spPr>
              <a:xfrm rot="10800000" flipV="1">
                <a:off x="14318" y="12469"/>
                <a:ext cx="774" cy="797"/>
              </a:xfrm>
              <a:prstGeom prst="bentConnector3">
                <a:avLst>
                  <a:gd name="adj1" fmla="val 50000"/>
                </a:avLst>
              </a:prstGeom>
              <a:ln w="38100" cmpd="sng">
                <a:solidFill>
                  <a:srgbClr val="0070C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3" name="肘形连接符 272"/>
              <p:cNvCxnSpPr>
                <a:stCxn id="271" idx="2"/>
                <a:endCxn id="263" idx="3"/>
              </p:cNvCxnSpPr>
              <p:nvPr/>
            </p:nvCxnSpPr>
            <p:spPr>
              <a:xfrm rot="10800000">
                <a:off x="14318" y="11691"/>
                <a:ext cx="774" cy="778"/>
              </a:xfrm>
              <a:prstGeom prst="bentConnector3">
                <a:avLst>
                  <a:gd name="adj1" fmla="val 50000"/>
                </a:avLst>
              </a:prstGeom>
              <a:ln w="38100" cmpd="sng">
                <a:solidFill>
                  <a:srgbClr val="0070C0"/>
                </a:solidFill>
                <a:prstDash val="sysDash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75" name="立方体 274"/>
              <p:cNvSpPr/>
              <p:nvPr/>
            </p:nvSpPr>
            <p:spPr>
              <a:xfrm>
                <a:off x="15288" y="13504"/>
                <a:ext cx="3134" cy="1068"/>
              </a:xfrm>
              <a:prstGeom prst="cube">
                <a:avLst>
                  <a:gd name="adj" fmla="val 2315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2700" cmpd="sng">
                <a:solidFill>
                  <a:schemeClr val="accent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r>
                  <a:rPr lang="en-US" altLang="zh-CN" b="1" i="1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Mask Encoder</a:t>
                </a:r>
                <a:endParaRPr lang="en-US" altLang="zh-CN" b="1" i="1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276" name="图片 27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497" y="13896"/>
                <a:ext cx="670" cy="524"/>
              </a:xfrm>
              <a:prstGeom prst="rect">
                <a:avLst/>
              </a:prstGeom>
            </p:spPr>
          </p:pic>
          <p:pic>
            <p:nvPicPr>
              <p:cNvPr id="277" name="图片 276" descr="png-clipart-combustibility-and-flammability-computer-icons-symbol-fire-flammable-leaf-orange-thumbnail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7854" y="12035"/>
                <a:ext cx="505" cy="412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8" name="文本框 277"/>
                  <p:cNvSpPr txBox="1"/>
                  <p:nvPr/>
                </p:nvSpPr>
                <p:spPr>
                  <a:xfrm>
                    <a:off x="16977" y="12933"/>
                    <a:ext cx="2067" cy="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𝑐𝑜𝑛𝑑𝑖𝑡𝑖𝑜𝑛𝑎𝑙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i="1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278" name="文本框 27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77" y="12933"/>
                    <a:ext cx="2067" cy="654"/>
                  </a:xfrm>
                  <a:prstGeom prst="rect">
                    <a:avLst/>
                  </a:prstGeom>
                  <a:blipFill rotWithShape="1">
                    <a:blip r:embed="rId3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9" name="文本框 278"/>
                  <p:cNvSpPr txBox="1"/>
                  <p:nvPr/>
                </p:nvSpPr>
                <p:spPr>
                  <a:xfrm>
                    <a:off x="12765" y="13630"/>
                    <a:ext cx="2225" cy="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𝑚𝑒𝑚𝑜𝑟𝑦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i="1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279" name="文本框 27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65" y="13630"/>
                    <a:ext cx="2225" cy="665"/>
                  </a:xfrm>
                  <a:prstGeom prst="rect">
                    <a:avLst/>
                  </a:prstGeom>
                  <a:blipFill rotWithShape="1">
                    <a:blip r:embed="rId3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0" name="肘形连接符 279"/>
              <p:cNvCxnSpPr>
                <a:stCxn id="275" idx="2"/>
                <a:endCxn id="266" idx="2"/>
              </p:cNvCxnSpPr>
              <p:nvPr/>
            </p:nvCxnSpPr>
            <p:spPr>
              <a:xfrm rot="10800000">
                <a:off x="12798" y="13645"/>
                <a:ext cx="2490" cy="517"/>
              </a:xfrm>
              <a:prstGeom prst="bentConnector2">
                <a:avLst/>
              </a:prstGeom>
              <a:ln w="38100" cmpd="sng">
                <a:solidFill>
                  <a:srgbClr val="0070C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81" name="圆柱形 280"/>
              <p:cNvSpPr/>
              <p:nvPr/>
            </p:nvSpPr>
            <p:spPr>
              <a:xfrm>
                <a:off x="17036" y="15475"/>
                <a:ext cx="2007" cy="1348"/>
              </a:xfrm>
              <a:prstGeom prst="can">
                <a:avLst>
                  <a:gd name="adj" fmla="val 21064"/>
                </a:avLst>
              </a:prstGeom>
              <a:solidFill>
                <a:schemeClr val="accent3">
                  <a:lumMod val="40000"/>
                  <a:lumOff val="60000"/>
                </a:schemeClr>
              </a:solidFill>
              <a:ln w="28575" cmpd="sng">
                <a:solidFill>
                  <a:schemeClr val="accent1">
                    <a:shade val="50000"/>
                    <a:alpha val="35000"/>
                  </a:schemeClr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 i="1">
                    <a:solidFill>
                      <a:srgbClr val="00B0F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New-Load</a:t>
                </a:r>
                <a:endParaRPr lang="en-US" altLang="zh-CN" b="1" i="1">
                  <a:solidFill>
                    <a:srgbClr val="00B0F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b="1" i="1">
                    <a:solidFill>
                      <a:srgbClr val="00B0F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M-Bank</a:t>
                </a:r>
                <a:endParaRPr lang="en-US" altLang="zh-CN" b="1" i="1">
                  <a:solidFill>
                    <a:srgbClr val="00B0F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83" name="文本框 282"/>
              <p:cNvSpPr txBox="1"/>
              <p:nvPr/>
            </p:nvSpPr>
            <p:spPr>
              <a:xfrm>
                <a:off x="16881" y="14514"/>
                <a:ext cx="2457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memory update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291" name="组合 290"/>
              <p:cNvGrpSpPr/>
              <p:nvPr/>
            </p:nvGrpSpPr>
            <p:grpSpPr>
              <a:xfrm rot="0">
                <a:off x="14491" y="15475"/>
                <a:ext cx="2112" cy="1348"/>
                <a:chOff x="12690" y="15043"/>
                <a:chExt cx="2112" cy="1348"/>
              </a:xfrm>
            </p:grpSpPr>
            <p:pic>
              <p:nvPicPr>
                <p:cNvPr id="284" name="图片 283" descr="frame_00002_mask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832" y="15106"/>
                  <a:ext cx="1361" cy="645"/>
                </a:xfrm>
                <a:prstGeom prst="rect">
                  <a:avLst/>
                </a:prstGeom>
              </p:spPr>
            </p:pic>
            <p:sp>
              <p:nvSpPr>
                <p:cNvPr id="287" name="立方体 286"/>
                <p:cNvSpPr/>
                <p:nvPr/>
              </p:nvSpPr>
              <p:spPr>
                <a:xfrm flipH="1">
                  <a:off x="12690" y="15043"/>
                  <a:ext cx="2113" cy="1349"/>
                </a:xfrm>
                <a:prstGeom prst="cube">
                  <a:avLst>
                    <a:gd name="adj" fmla="val 45991"/>
                  </a:avLst>
                </a:prstGeom>
                <a:noFill/>
                <a:ln w="28575" cmpd="sng">
                  <a:solidFill>
                    <a:schemeClr val="accent4">
                      <a:lumMod val="75000"/>
                    </a:schemeClr>
                  </a:solidFill>
                  <a:prstDash val="sysDash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pic>
              <p:nvPicPr>
                <p:cNvPr id="288" name="图片 287" descr="frame_00002_mask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032" y="15306"/>
                  <a:ext cx="1361" cy="645"/>
                </a:xfrm>
                <a:prstGeom prst="rect">
                  <a:avLst/>
                </a:prstGeom>
              </p:spPr>
            </p:pic>
            <p:pic>
              <p:nvPicPr>
                <p:cNvPr id="289" name="图片 288" descr="frame_00002_mask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232" y="15506"/>
                  <a:ext cx="1361" cy="645"/>
                </a:xfrm>
                <a:prstGeom prst="rect">
                  <a:avLst/>
                </a:prstGeom>
              </p:spPr>
            </p:pic>
            <p:pic>
              <p:nvPicPr>
                <p:cNvPr id="290" name="图片 289" descr="frame_00002_mask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432" y="15706"/>
                  <a:ext cx="1361" cy="645"/>
                </a:xfrm>
                <a:prstGeom prst="rect">
                  <a:avLst/>
                </a:prstGeom>
              </p:spPr>
            </p:pic>
          </p:grpSp>
          <p:cxnSp>
            <p:nvCxnSpPr>
              <p:cNvPr id="292" name="肘形连接符 291"/>
              <p:cNvCxnSpPr>
                <a:stCxn id="281" idx="1"/>
                <a:endCxn id="275" idx="3"/>
              </p:cNvCxnSpPr>
              <p:nvPr/>
            </p:nvCxnSpPr>
            <p:spPr>
              <a:xfrm rot="16200000" flipV="1">
                <a:off x="16934" y="14369"/>
                <a:ext cx="903" cy="1309"/>
              </a:xfrm>
              <a:prstGeom prst="bentConnector3">
                <a:avLst>
                  <a:gd name="adj1" fmla="val 49945"/>
                </a:avLst>
              </a:prstGeom>
              <a:ln w="38100" cmpd="sng">
                <a:solidFill>
                  <a:srgbClr val="0070C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3" name="肘形连接符 292"/>
              <p:cNvCxnSpPr>
                <a:stCxn id="287" idx="0"/>
                <a:endCxn id="275" idx="3"/>
              </p:cNvCxnSpPr>
              <p:nvPr/>
            </p:nvCxnSpPr>
            <p:spPr>
              <a:xfrm rot="16200000">
                <a:off x="15532" y="14276"/>
                <a:ext cx="903" cy="1495"/>
              </a:xfrm>
              <a:prstGeom prst="bentConnector3">
                <a:avLst>
                  <a:gd name="adj1" fmla="val 49945"/>
                </a:avLst>
              </a:prstGeom>
              <a:ln w="38100" cmpd="sng">
                <a:solidFill>
                  <a:srgbClr val="0070C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94" name="文本框 293"/>
              <p:cNvSpPr txBox="1"/>
              <p:nvPr/>
            </p:nvSpPr>
            <p:spPr>
              <a:xfrm>
                <a:off x="13168" y="16339"/>
                <a:ext cx="139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 i="1">
                    <a:latin typeface="Times New Roman" panose="02020603050405020304" charset="0"/>
                    <a:cs typeface="Times New Roman" panose="02020603050405020304" charset="0"/>
                  </a:rPr>
                  <a:t>Results</a:t>
                </a:r>
                <a:endParaRPr lang="en-US" altLang="zh-CN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95" name="文本框 294"/>
              <p:cNvSpPr txBox="1"/>
              <p:nvPr/>
            </p:nvSpPr>
            <p:spPr>
              <a:xfrm>
                <a:off x="14912" y="11179"/>
                <a:ext cx="408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Correcting Tracking Bias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96" name="文本框 295"/>
              <p:cNvSpPr txBox="1"/>
              <p:nvPr/>
            </p:nvSpPr>
            <p:spPr>
              <a:xfrm>
                <a:off x="14970" y="14510"/>
                <a:ext cx="1635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get results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99" name="文本框 298"/>
              <p:cNvSpPr txBox="1"/>
              <p:nvPr/>
            </p:nvSpPr>
            <p:spPr>
              <a:xfrm>
                <a:off x="1720" y="10100"/>
                <a:ext cx="5195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>
                    <a:latin typeface="Times New Roman" panose="02020603050405020304" charset="0"/>
                    <a:cs typeface="Times New Roman" panose="02020603050405020304" charset="0"/>
                  </a:rPr>
                  <a:t>(a) SAM2 Architecture</a:t>
                </a:r>
                <a:endParaRPr lang="en-US" altLang="zh-CN" sz="2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00" name="文本框 299"/>
              <p:cNvSpPr txBox="1"/>
              <p:nvPr/>
            </p:nvSpPr>
            <p:spPr>
              <a:xfrm>
                <a:off x="10616" y="10121"/>
                <a:ext cx="6303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>
                    <a:latin typeface="Times New Roman" panose="02020603050405020304" charset="0"/>
                    <a:cs typeface="Times New Roman" panose="02020603050405020304" charset="0"/>
                  </a:rPr>
                  <a:t>(b) P-MASk Encoder Blocks</a:t>
                </a:r>
                <a:endParaRPr lang="en-US" altLang="zh-CN" sz="2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01" name="文本框 300"/>
              <p:cNvSpPr txBox="1"/>
              <p:nvPr/>
            </p:nvSpPr>
            <p:spPr>
              <a:xfrm>
                <a:off x="4295" y="17236"/>
                <a:ext cx="11650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 b="1">
                    <a:latin typeface="Times New Roman" panose="02020603050405020304" charset="0"/>
                    <a:cs typeface="Times New Roman" panose="02020603050405020304" charset="0"/>
                  </a:rPr>
                  <a:t>(c) P-MASk MemoryTracking and Mask Generation </a:t>
                </a:r>
                <a:endParaRPr lang="en-US" altLang="zh-CN" sz="2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303" name="文本框 302"/>
            <p:cNvSpPr txBox="1"/>
            <p:nvPr/>
          </p:nvSpPr>
          <p:spPr>
            <a:xfrm>
              <a:off x="8720" y="16103"/>
              <a:ext cx="391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SAM2 Original Format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  <p:custDataLst>
      <p:tags r:id="rId3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组合 325"/>
          <p:cNvGrpSpPr/>
          <p:nvPr/>
        </p:nvGrpSpPr>
        <p:grpSpPr>
          <a:xfrm>
            <a:off x="138430" y="252730"/>
            <a:ext cx="12810490" cy="11722100"/>
            <a:chOff x="218" y="398"/>
            <a:chExt cx="20174" cy="18460"/>
          </a:xfrm>
        </p:grpSpPr>
        <p:sp>
          <p:nvSpPr>
            <p:cNvPr id="124" name="圆角矩形 123"/>
            <p:cNvSpPr/>
            <p:nvPr>
              <p:custDataLst>
                <p:tags r:id="rId1"/>
              </p:custDataLst>
            </p:nvPr>
          </p:nvSpPr>
          <p:spPr>
            <a:xfrm>
              <a:off x="5995" y="7522"/>
              <a:ext cx="4895" cy="4752"/>
            </a:xfrm>
            <a:prstGeom prst="roundRect">
              <a:avLst>
                <a:gd name="adj" fmla="val 10738"/>
              </a:avLst>
            </a:prstGeom>
            <a:solidFill>
              <a:schemeClr val="accent2">
                <a:lumMod val="20000"/>
                <a:lumOff val="80000"/>
                <a:alpha val="7000"/>
              </a:schemeClr>
            </a:solidFill>
            <a:ln w="28575" cmpd="sng">
              <a:solidFill>
                <a:schemeClr val="accent1">
                  <a:shade val="50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79" name="图片 278" descr="ed99d279-30cd-4585-b8d9-018cb0fd2d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29" y="9694"/>
              <a:ext cx="1627" cy="1627"/>
            </a:xfrm>
            <a:prstGeom prst="rect">
              <a:avLst/>
            </a:prstGeom>
          </p:spPr>
        </p:pic>
        <p:pic>
          <p:nvPicPr>
            <p:cNvPr id="278" name="图片 277" descr="2e8ed750-1950-462e-9cc6-a36bcf76022a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60" y="9712"/>
              <a:ext cx="1627" cy="1627"/>
            </a:xfrm>
            <a:prstGeom prst="rect">
              <a:avLst/>
            </a:prstGeom>
          </p:spPr>
        </p:pic>
        <p:pic>
          <p:nvPicPr>
            <p:cNvPr id="277" name="图片 276" descr="c78fc5e6-41cc-4022-a74e-25cfdd1c75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29" y="7804"/>
              <a:ext cx="1627" cy="1627"/>
            </a:xfrm>
            <a:prstGeom prst="rect">
              <a:avLst/>
            </a:prstGeom>
          </p:spPr>
        </p:pic>
        <p:cxnSp>
          <p:nvCxnSpPr>
            <p:cNvPr id="269" name="直接箭头连接符 268"/>
            <p:cNvCxnSpPr/>
            <p:nvPr/>
          </p:nvCxnSpPr>
          <p:spPr>
            <a:xfrm>
              <a:off x="5175" y="9497"/>
              <a:ext cx="838" cy="253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5" name="组合 154"/>
            <p:cNvGrpSpPr/>
            <p:nvPr/>
          </p:nvGrpSpPr>
          <p:grpSpPr>
            <a:xfrm>
              <a:off x="2152" y="7893"/>
              <a:ext cx="3087" cy="3542"/>
              <a:chOff x="1862" y="7680"/>
              <a:chExt cx="3087" cy="3542"/>
            </a:xfrm>
          </p:grpSpPr>
          <p:sp>
            <p:nvSpPr>
              <p:cNvPr id="156" name="立方体 155"/>
              <p:cNvSpPr/>
              <p:nvPr/>
            </p:nvSpPr>
            <p:spPr>
              <a:xfrm flipH="1">
                <a:off x="1862" y="7681"/>
                <a:ext cx="3087" cy="3541"/>
              </a:xfrm>
              <a:prstGeom prst="cube">
                <a:avLst>
                  <a:gd name="adj" fmla="val 56980"/>
                </a:avLst>
              </a:prstGeom>
              <a:solidFill>
                <a:schemeClr val="bg1">
                  <a:lumMod val="95000"/>
                  <a:alpha val="44000"/>
                </a:schemeClr>
              </a:solidFill>
              <a:ln w="28575" cmpd="sng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7" name="矩形 156"/>
              <p:cNvSpPr/>
              <p:nvPr/>
            </p:nvSpPr>
            <p:spPr>
              <a:xfrm>
                <a:off x="2332" y="7921"/>
                <a:ext cx="595" cy="631"/>
              </a:xfrm>
              <a:prstGeom prst="rect">
                <a:avLst/>
              </a:prstGeom>
              <a:noFill/>
              <a:ln w="28575" cmpd="sng">
                <a:solidFill>
                  <a:srgbClr val="FF0000">
                    <a:alpha val="73000"/>
                  </a:srgb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8" name="矩形 157"/>
              <p:cNvSpPr/>
              <p:nvPr>
                <p:custDataLst>
                  <p:tags r:id="rId5"/>
                </p:custDataLst>
              </p:nvPr>
            </p:nvSpPr>
            <p:spPr>
              <a:xfrm>
                <a:off x="2934" y="8689"/>
                <a:ext cx="595" cy="631"/>
              </a:xfrm>
              <a:prstGeom prst="rect">
                <a:avLst/>
              </a:prstGeom>
              <a:noFill/>
              <a:ln w="28575" cmpd="sng">
                <a:solidFill>
                  <a:srgbClr val="FF0000">
                    <a:alpha val="73000"/>
                  </a:srgb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9" name="矩形 158"/>
              <p:cNvSpPr/>
              <p:nvPr>
                <p:custDataLst>
                  <p:tags r:id="rId6"/>
                </p:custDataLst>
              </p:nvPr>
            </p:nvSpPr>
            <p:spPr>
              <a:xfrm>
                <a:off x="3563" y="9481"/>
                <a:ext cx="542" cy="609"/>
              </a:xfrm>
              <a:prstGeom prst="rect">
                <a:avLst/>
              </a:prstGeom>
              <a:noFill/>
              <a:ln w="28575" cmpd="sng">
                <a:solidFill>
                  <a:srgbClr val="FF0000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1" name="直接连接符 160"/>
              <p:cNvCxnSpPr/>
              <p:nvPr/>
            </p:nvCxnSpPr>
            <p:spPr>
              <a:xfrm>
                <a:off x="2926" y="7941"/>
                <a:ext cx="595" cy="758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48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2337" y="7933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3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1" name="直接连接符 170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2340" y="8554"/>
                <a:ext cx="586" cy="766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3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3533" y="8700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46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2928" y="8684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>
                <p:custDataLst>
                  <p:tags r:id="rId11"/>
                </p:custDataLst>
              </p:nvPr>
            </p:nvCxnSpPr>
            <p:spPr>
              <a:xfrm>
                <a:off x="2919" y="9308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0000"/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4106" y="9460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36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3545" y="9464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3547" y="10082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89" name="图片 188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64000"/>
              </a:blip>
              <a:stretch>
                <a:fillRect/>
              </a:stretch>
            </p:blipFill>
            <p:spPr>
              <a:xfrm>
                <a:off x="3083" y="9168"/>
                <a:ext cx="1236" cy="1236"/>
              </a:xfrm>
              <a:prstGeom prst="rect">
                <a:avLst/>
              </a:prstGeom>
            </p:spPr>
          </p:pic>
          <p:pic>
            <p:nvPicPr>
              <p:cNvPr id="190" name="图片 189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66000"/>
              </a:blip>
              <a:stretch>
                <a:fillRect/>
              </a:stretch>
            </p:blipFill>
            <p:spPr>
              <a:xfrm>
                <a:off x="3649" y="9915"/>
                <a:ext cx="1236" cy="1236"/>
              </a:xfrm>
              <a:prstGeom prst="rect">
                <a:avLst/>
              </a:prstGeom>
            </p:spPr>
          </p:pic>
          <p:sp>
            <p:nvSpPr>
              <p:cNvPr id="191" name="矩形 190"/>
              <p:cNvSpPr/>
              <p:nvPr>
                <p:custDataLst>
                  <p:tags r:id="rId16"/>
                </p:custDataLst>
              </p:nvPr>
            </p:nvSpPr>
            <p:spPr>
              <a:xfrm>
                <a:off x="4181" y="10270"/>
                <a:ext cx="518" cy="581"/>
              </a:xfrm>
              <a:prstGeom prst="rect">
                <a:avLst/>
              </a:prstGeom>
              <a:noFill/>
              <a:ln w="28575" cmpd="sng">
                <a:solidFill>
                  <a:srgbClr val="FF0000">
                    <a:alpha val="31000"/>
                  </a:srgb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92" name="图片 191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50000"/>
              </a:blip>
              <a:stretch>
                <a:fillRect/>
              </a:stretch>
            </p:blipFill>
            <p:spPr>
              <a:xfrm>
                <a:off x="2474" y="8417"/>
                <a:ext cx="1236" cy="1236"/>
              </a:xfrm>
              <a:prstGeom prst="rect">
                <a:avLst/>
              </a:prstGeom>
            </p:spPr>
          </p:pic>
          <p:pic>
            <p:nvPicPr>
              <p:cNvPr id="193" name="图片 192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50000"/>
              </a:blip>
              <a:stretch>
                <a:fillRect/>
              </a:stretch>
            </p:blipFill>
            <p:spPr>
              <a:xfrm>
                <a:off x="1911" y="7680"/>
                <a:ext cx="1137" cy="1137"/>
              </a:xfrm>
              <a:prstGeom prst="rect">
                <a:avLst/>
              </a:prstGeom>
            </p:spPr>
          </p:pic>
        </p:grpSp>
        <p:grpSp>
          <p:nvGrpSpPr>
            <p:cNvPr id="243" name="组合 242"/>
            <p:cNvGrpSpPr/>
            <p:nvPr/>
          </p:nvGrpSpPr>
          <p:grpSpPr>
            <a:xfrm>
              <a:off x="2150" y="6034"/>
              <a:ext cx="3087" cy="3542"/>
              <a:chOff x="1862" y="7680"/>
              <a:chExt cx="3087" cy="3542"/>
            </a:xfrm>
          </p:grpSpPr>
          <p:sp>
            <p:nvSpPr>
              <p:cNvPr id="244" name="立方体 243"/>
              <p:cNvSpPr/>
              <p:nvPr/>
            </p:nvSpPr>
            <p:spPr>
              <a:xfrm flipH="1">
                <a:off x="1862" y="7681"/>
                <a:ext cx="3087" cy="3541"/>
              </a:xfrm>
              <a:prstGeom prst="cube">
                <a:avLst>
                  <a:gd name="adj" fmla="val 56980"/>
                </a:avLst>
              </a:prstGeom>
              <a:solidFill>
                <a:schemeClr val="bg1">
                  <a:lumMod val="95000"/>
                  <a:alpha val="44000"/>
                </a:schemeClr>
              </a:solidFill>
              <a:ln w="28575" cmpd="sng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2332" y="7921"/>
                <a:ext cx="595" cy="631"/>
              </a:xfrm>
              <a:prstGeom prst="rect">
                <a:avLst/>
              </a:prstGeom>
              <a:noFill/>
              <a:ln w="28575" cmpd="sng">
                <a:solidFill>
                  <a:srgbClr val="FF0000">
                    <a:alpha val="73000"/>
                  </a:srgb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6" name="矩形 245"/>
              <p:cNvSpPr/>
              <p:nvPr>
                <p:custDataLst>
                  <p:tags r:id="rId17"/>
                </p:custDataLst>
              </p:nvPr>
            </p:nvSpPr>
            <p:spPr>
              <a:xfrm>
                <a:off x="2934" y="8689"/>
                <a:ext cx="595" cy="631"/>
              </a:xfrm>
              <a:prstGeom prst="rect">
                <a:avLst/>
              </a:prstGeom>
              <a:noFill/>
              <a:ln w="28575" cmpd="sng">
                <a:solidFill>
                  <a:srgbClr val="FF0000">
                    <a:alpha val="73000"/>
                  </a:srgb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7" name="矩形 246"/>
              <p:cNvSpPr/>
              <p:nvPr>
                <p:custDataLst>
                  <p:tags r:id="rId18"/>
                </p:custDataLst>
              </p:nvPr>
            </p:nvSpPr>
            <p:spPr>
              <a:xfrm>
                <a:off x="3563" y="9481"/>
                <a:ext cx="542" cy="609"/>
              </a:xfrm>
              <a:prstGeom prst="rect">
                <a:avLst/>
              </a:prstGeom>
              <a:noFill/>
              <a:ln w="28575" cmpd="sng">
                <a:solidFill>
                  <a:srgbClr val="FF0000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48" name="直接连接符 247"/>
              <p:cNvCxnSpPr/>
              <p:nvPr/>
            </p:nvCxnSpPr>
            <p:spPr>
              <a:xfrm>
                <a:off x="2926" y="7941"/>
                <a:ext cx="595" cy="758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48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9" name="直接连接符 248"/>
              <p:cNvCxnSpPr/>
              <p:nvPr>
                <p:custDataLst>
                  <p:tags r:id="rId19"/>
                </p:custDataLst>
              </p:nvPr>
            </p:nvCxnSpPr>
            <p:spPr>
              <a:xfrm>
                <a:off x="2337" y="7933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3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0" name="直接连接符 249"/>
              <p:cNvCxnSpPr/>
              <p:nvPr>
                <p:custDataLst>
                  <p:tags r:id="rId20"/>
                </p:custDataLst>
              </p:nvPr>
            </p:nvCxnSpPr>
            <p:spPr>
              <a:xfrm>
                <a:off x="2340" y="8554"/>
                <a:ext cx="586" cy="766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3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 250"/>
              <p:cNvCxnSpPr/>
              <p:nvPr>
                <p:custDataLst>
                  <p:tags r:id="rId21"/>
                </p:custDataLst>
              </p:nvPr>
            </p:nvCxnSpPr>
            <p:spPr>
              <a:xfrm>
                <a:off x="3533" y="8700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46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 251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2928" y="8684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/>
              <p:cNvCxnSpPr/>
              <p:nvPr>
                <p:custDataLst>
                  <p:tags r:id="rId23"/>
                </p:custDataLst>
              </p:nvPr>
            </p:nvCxnSpPr>
            <p:spPr>
              <a:xfrm>
                <a:off x="2919" y="9308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0000"/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/>
              <p:cNvCxnSpPr/>
              <p:nvPr>
                <p:custDataLst>
                  <p:tags r:id="rId24"/>
                </p:custDataLst>
              </p:nvPr>
            </p:nvCxnSpPr>
            <p:spPr>
              <a:xfrm>
                <a:off x="4106" y="9460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36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3545" y="9464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/>
              <p:cNvCxnSpPr/>
              <p:nvPr>
                <p:custDataLst>
                  <p:tags r:id="rId26"/>
                </p:custDataLst>
              </p:nvPr>
            </p:nvCxnSpPr>
            <p:spPr>
              <a:xfrm>
                <a:off x="3547" y="10082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257" name="图片 256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64000"/>
              </a:blip>
              <a:stretch>
                <a:fillRect/>
              </a:stretch>
            </p:blipFill>
            <p:spPr>
              <a:xfrm>
                <a:off x="3083" y="9168"/>
                <a:ext cx="1236" cy="1236"/>
              </a:xfrm>
              <a:prstGeom prst="rect">
                <a:avLst/>
              </a:prstGeom>
            </p:spPr>
          </p:pic>
          <p:pic>
            <p:nvPicPr>
              <p:cNvPr id="258" name="图片 257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66000"/>
              </a:blip>
              <a:stretch>
                <a:fillRect/>
              </a:stretch>
            </p:blipFill>
            <p:spPr>
              <a:xfrm>
                <a:off x="3649" y="9915"/>
                <a:ext cx="1236" cy="1236"/>
              </a:xfrm>
              <a:prstGeom prst="rect">
                <a:avLst/>
              </a:prstGeom>
            </p:spPr>
          </p:pic>
          <p:sp>
            <p:nvSpPr>
              <p:cNvPr id="259" name="矩形 258"/>
              <p:cNvSpPr/>
              <p:nvPr>
                <p:custDataLst>
                  <p:tags r:id="rId27"/>
                </p:custDataLst>
              </p:nvPr>
            </p:nvSpPr>
            <p:spPr>
              <a:xfrm>
                <a:off x="4181" y="10270"/>
                <a:ext cx="518" cy="581"/>
              </a:xfrm>
              <a:prstGeom prst="rect">
                <a:avLst/>
              </a:prstGeom>
              <a:noFill/>
              <a:ln w="28575" cmpd="sng">
                <a:solidFill>
                  <a:srgbClr val="FF0000">
                    <a:alpha val="31000"/>
                  </a:srgb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260" name="图片 259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50000"/>
              </a:blip>
              <a:stretch>
                <a:fillRect/>
              </a:stretch>
            </p:blipFill>
            <p:spPr>
              <a:xfrm>
                <a:off x="2474" y="8417"/>
                <a:ext cx="1236" cy="1236"/>
              </a:xfrm>
              <a:prstGeom prst="rect">
                <a:avLst/>
              </a:prstGeom>
            </p:spPr>
          </p:pic>
          <p:pic>
            <p:nvPicPr>
              <p:cNvPr id="261" name="图片 260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50000"/>
              </a:blip>
              <a:stretch>
                <a:fillRect/>
              </a:stretch>
            </p:blipFill>
            <p:spPr>
              <a:xfrm>
                <a:off x="1911" y="7680"/>
                <a:ext cx="1137" cy="1137"/>
              </a:xfrm>
              <a:prstGeom prst="rect">
                <a:avLst/>
              </a:prstGeom>
            </p:spPr>
          </p:pic>
        </p:grpSp>
        <p:pic>
          <p:nvPicPr>
            <p:cNvPr id="13" name="图片 12"/>
            <p:cNvPicPr/>
            <p:nvPr>
              <p:custDataLst>
                <p:tags r:id="rId28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14360" y="813"/>
              <a:ext cx="2081" cy="1323"/>
            </a:xfrm>
            <a:prstGeom prst="rect">
              <a:avLst/>
            </a:prstGeom>
            <a:ln w="41275">
              <a:solidFill>
                <a:schemeClr val="accent1">
                  <a:alpha val="48000"/>
                </a:schemeClr>
              </a:solidFill>
            </a:ln>
          </p:spPr>
        </p:pic>
        <p:pic>
          <p:nvPicPr>
            <p:cNvPr id="7" name="图片 6"/>
            <p:cNvPicPr/>
            <p:nvPr>
              <p:custDataLst>
                <p:tags r:id="rId30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14560" y="1013"/>
              <a:ext cx="2081" cy="1323"/>
            </a:xfrm>
            <a:prstGeom prst="rect">
              <a:avLst/>
            </a:prstGeom>
            <a:ln w="41275">
              <a:solidFill>
                <a:schemeClr val="accent1">
                  <a:alpha val="48000"/>
                </a:schemeClr>
              </a:solidFill>
            </a:ln>
          </p:spPr>
        </p:pic>
        <p:pic>
          <p:nvPicPr>
            <p:cNvPr id="8" name="图片 7"/>
            <p:cNvPicPr/>
            <p:nvPr>
              <p:custDataLst>
                <p:tags r:id="rId31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14760" y="1213"/>
              <a:ext cx="2081" cy="1323"/>
            </a:xfrm>
            <a:prstGeom prst="rect">
              <a:avLst/>
            </a:prstGeom>
            <a:ln w="41275">
              <a:solidFill>
                <a:schemeClr val="accent1">
                  <a:alpha val="48000"/>
                </a:schemeClr>
              </a:solidFill>
            </a:ln>
          </p:spPr>
        </p:pic>
        <p:sp>
          <p:nvSpPr>
            <p:cNvPr id="40" name="立方体 39"/>
            <p:cNvSpPr/>
            <p:nvPr>
              <p:custDataLst>
                <p:tags r:id="rId32"/>
              </p:custDataLst>
            </p:nvPr>
          </p:nvSpPr>
          <p:spPr>
            <a:xfrm>
              <a:off x="14762" y="3074"/>
              <a:ext cx="2080" cy="1117"/>
            </a:xfrm>
            <a:prstGeom prst="cube">
              <a:avLst>
                <a:gd name="adj" fmla="val 23157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mpd="sng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 i="1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rPr>
                <a:t>Image Encoder</a:t>
              </a:r>
              <a:endParaRPr lang="en-US" altLang="zh-CN" b="1" i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 rot="10800000" flipH="1">
              <a:off x="14116" y="2933"/>
              <a:ext cx="629" cy="1465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p>
              <a:r>
                <a:rPr lang="en-US" altLang="zh-CN" b="1" i="1">
                  <a:latin typeface="Times New Roman Bold Italic" panose="02020503050405090304" charset="0"/>
                  <a:cs typeface="Times New Roman Bold Italic" panose="02020503050405090304" charset="0"/>
                </a:rPr>
                <a:t>Hiera-B </a:t>
              </a:r>
              <a:endParaRPr lang="en-US" altLang="zh-CN" b="1" i="1">
                <a:latin typeface="Times New Roman Bold Italic" panose="02020503050405090304" charset="0"/>
                <a:cs typeface="Times New Roman Bold Italic" panose="02020503050405090304" charset="0"/>
              </a:endParaRPr>
            </a:p>
          </p:txBody>
        </p:sp>
        <p:cxnSp>
          <p:nvCxnSpPr>
            <p:cNvPr id="30" name="直接箭头连接符 29"/>
            <p:cNvCxnSpPr/>
            <p:nvPr>
              <p:custDataLst>
                <p:tags r:id="rId33"/>
              </p:custDataLst>
            </p:nvPr>
          </p:nvCxnSpPr>
          <p:spPr>
            <a:xfrm>
              <a:off x="15711" y="2621"/>
              <a:ext cx="0" cy="427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" name="立方体 26"/>
            <p:cNvSpPr/>
            <p:nvPr>
              <p:custDataLst>
                <p:tags r:id="rId34"/>
              </p:custDataLst>
            </p:nvPr>
          </p:nvSpPr>
          <p:spPr>
            <a:xfrm>
              <a:off x="17463" y="3084"/>
              <a:ext cx="2081" cy="1116"/>
            </a:xfrm>
            <a:prstGeom prst="cube">
              <a:avLst>
                <a:gd name="adj" fmla="val 2315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 i="1">
                  <a:solidFill>
                    <a:schemeClr val="accent2"/>
                  </a:solidFill>
                  <a:latin typeface="Times New Roman" panose="02020603050405020304" charset="0"/>
                  <a:cs typeface="Times New Roman" panose="02020603050405020304" charset="0"/>
                </a:rPr>
                <a:t>Prompt Encoder</a:t>
              </a:r>
              <a:endParaRPr lang="en-US" altLang="zh-CN" b="1" i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63" name="图片 62"/>
            <p:cNvPicPr/>
            <p:nvPr>
              <p:custDataLst>
                <p:tags r:id="rId35"/>
              </p:custDataLst>
            </p:nvPr>
          </p:nvPicPr>
          <p:blipFill>
            <a:blip r:embed="rId36"/>
            <a:stretch>
              <a:fillRect/>
            </a:stretch>
          </p:blipFill>
          <p:spPr>
            <a:xfrm>
              <a:off x="17184" y="686"/>
              <a:ext cx="479" cy="529"/>
            </a:xfrm>
            <a:prstGeom prst="rect">
              <a:avLst/>
            </a:prstGeom>
          </p:spPr>
        </p:pic>
        <p:sp>
          <p:nvSpPr>
            <p:cNvPr id="64" name="圆角矩形 63"/>
            <p:cNvSpPr/>
            <p:nvPr>
              <p:custDataLst>
                <p:tags r:id="rId37"/>
              </p:custDataLst>
            </p:nvPr>
          </p:nvSpPr>
          <p:spPr>
            <a:xfrm>
              <a:off x="17184" y="1256"/>
              <a:ext cx="2364" cy="89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mpd="sng">
              <a:solidFill>
                <a:schemeClr val="accent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endParaRPr lang="en-US" altLang="zh-CN" sz="2000" b="1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0" name="圆角矩形 9"/>
            <p:cNvSpPr/>
            <p:nvPr>
              <p:custDataLst>
                <p:tags r:id="rId38"/>
              </p:custDataLst>
            </p:nvPr>
          </p:nvSpPr>
          <p:spPr>
            <a:xfrm>
              <a:off x="17384" y="1456"/>
              <a:ext cx="2364" cy="89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mpd="sng">
              <a:solidFill>
                <a:schemeClr val="accent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endParaRPr lang="en-US" altLang="zh-CN" sz="2000" b="1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1" name="圆角矩形 10"/>
            <p:cNvSpPr/>
            <p:nvPr>
              <p:custDataLst>
                <p:tags r:id="rId39"/>
              </p:custDataLst>
            </p:nvPr>
          </p:nvSpPr>
          <p:spPr>
            <a:xfrm>
              <a:off x="17584" y="1628"/>
              <a:ext cx="2364" cy="966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mpd="sng">
              <a:solidFill>
                <a:schemeClr val="accent2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P: one with the </a:t>
              </a: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red </a:t>
              </a: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eyes</a:t>
              </a:r>
              <a:endParaRPr lang="en-US" altLang="zh-CN" sz="2000" b="1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cxnSp>
          <p:nvCxnSpPr>
            <p:cNvPr id="12" name="直接箭头连接符 11"/>
            <p:cNvCxnSpPr/>
            <p:nvPr>
              <p:custDataLst>
                <p:tags r:id="rId40"/>
              </p:custDataLst>
            </p:nvPr>
          </p:nvCxnSpPr>
          <p:spPr>
            <a:xfrm>
              <a:off x="18511" y="2621"/>
              <a:ext cx="0" cy="427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17567" y="614"/>
              <a:ext cx="221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latin typeface="Times New Roman Regular" panose="02020503050405090304" charset="0"/>
                  <a:cs typeface="Times New Roman Regular" panose="02020503050405090304" charset="0"/>
                </a:rPr>
                <a:t>prompt input</a:t>
              </a:r>
              <a:endParaRPr lang="en-US" altLang="zh-CN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5039" y="4836"/>
              <a:ext cx="1715" cy="1352"/>
              <a:chOff x="982" y="5083"/>
              <a:chExt cx="1605" cy="1603"/>
            </a:xfrm>
          </p:grpSpPr>
          <p:pic>
            <p:nvPicPr>
              <p:cNvPr id="15" name="图片 14"/>
              <p:cNvPicPr>
                <a:picLocks noChangeAspect="1"/>
              </p:cNvPicPr>
              <p:nvPr>
                <p:custDataLst>
                  <p:tags r:id="rId41"/>
                </p:custDataLst>
              </p:nvPr>
            </p:nvPicPr>
            <p:blipFill>
              <a:blip r:embed="rId42"/>
              <a:stretch>
                <a:fillRect/>
              </a:stretch>
            </p:blipFill>
            <p:spPr>
              <a:xfrm>
                <a:off x="1015" y="5113"/>
                <a:ext cx="747" cy="747"/>
              </a:xfrm>
              <a:prstGeom prst="rect">
                <a:avLst/>
              </a:prstGeom>
            </p:spPr>
          </p:pic>
          <p:pic>
            <p:nvPicPr>
              <p:cNvPr id="17" name="图片 16"/>
              <p:cNvPicPr>
                <a:picLocks noChangeAspect="1"/>
              </p:cNvPicPr>
              <p:nvPr>
                <p:custDataLst>
                  <p:tags r:id="rId43"/>
                </p:custDataLst>
              </p:nvPr>
            </p:nvPicPr>
            <p:blipFill>
              <a:blip r:embed="rId42"/>
              <a:stretch>
                <a:fillRect/>
              </a:stretch>
            </p:blipFill>
            <p:spPr>
              <a:xfrm>
                <a:off x="1215" y="5313"/>
                <a:ext cx="747" cy="747"/>
              </a:xfrm>
              <a:prstGeom prst="rect">
                <a:avLst/>
              </a:prstGeom>
            </p:spPr>
          </p:pic>
          <p:pic>
            <p:nvPicPr>
              <p:cNvPr id="18" name="图片 17"/>
              <p:cNvPicPr>
                <a:picLocks noChangeAspect="1"/>
              </p:cNvPicPr>
              <p:nvPr>
                <p:custDataLst>
                  <p:tags r:id="rId44"/>
                </p:custDataLst>
              </p:nvPr>
            </p:nvPicPr>
            <p:blipFill>
              <a:blip r:embed="rId42"/>
              <a:stretch>
                <a:fillRect/>
              </a:stretch>
            </p:blipFill>
            <p:spPr>
              <a:xfrm>
                <a:off x="1415" y="5513"/>
                <a:ext cx="747" cy="747"/>
              </a:xfrm>
              <a:prstGeom prst="rect">
                <a:avLst/>
              </a:prstGeom>
            </p:spPr>
          </p:pic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45"/>
                </p:custDataLst>
              </p:nvPr>
            </p:nvPicPr>
            <p:blipFill>
              <a:blip r:embed="rId42"/>
              <a:stretch>
                <a:fillRect/>
              </a:stretch>
            </p:blipFill>
            <p:spPr>
              <a:xfrm>
                <a:off x="1615" y="5713"/>
                <a:ext cx="747" cy="747"/>
              </a:xfrm>
              <a:prstGeom prst="rect">
                <a:avLst/>
              </a:prstGeom>
            </p:spPr>
          </p:pic>
          <p:pic>
            <p:nvPicPr>
              <p:cNvPr id="20" name="图片 19"/>
              <p:cNvPicPr>
                <a:picLocks noChangeAspect="1"/>
              </p:cNvPicPr>
              <p:nvPr>
                <p:custDataLst>
                  <p:tags r:id="rId46"/>
                </p:custDataLst>
              </p:nvPr>
            </p:nvPicPr>
            <p:blipFill>
              <a:blip r:embed="rId42"/>
              <a:stretch>
                <a:fillRect/>
              </a:stretch>
            </p:blipFill>
            <p:spPr>
              <a:xfrm>
                <a:off x="1774" y="5937"/>
                <a:ext cx="749" cy="749"/>
              </a:xfrm>
              <a:prstGeom prst="rect">
                <a:avLst/>
              </a:prstGeom>
            </p:spPr>
          </p:pic>
          <p:sp>
            <p:nvSpPr>
              <p:cNvPr id="16" name="立方体 15"/>
              <p:cNvSpPr/>
              <p:nvPr>
                <p:custDataLst>
                  <p:tags r:id="rId47"/>
                </p:custDataLst>
              </p:nvPr>
            </p:nvSpPr>
            <p:spPr>
              <a:xfrm flipH="1">
                <a:off x="982" y="5083"/>
                <a:ext cx="1605" cy="1554"/>
              </a:xfrm>
              <a:prstGeom prst="cube">
                <a:avLst>
                  <a:gd name="adj" fmla="val 49597"/>
                </a:avLst>
              </a:prstGeom>
              <a:noFill/>
              <a:ln w="28575" cmpd="sng"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b="1" i="1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15872" y="4188"/>
                  <a:ext cx="726" cy="5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×</m:t>
                        </m:r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3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72" y="4188"/>
                  <a:ext cx="726" cy="529"/>
                </a:xfrm>
                <a:prstGeom prst="rect">
                  <a:avLst/>
                </a:prstGeom>
                <a:blipFill rotWithShape="1">
                  <a:blip r:embed="rId4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>
                  <p:custDataLst>
                    <p:tags r:id="rId49"/>
                  </p:custDataLst>
                </p:nvPr>
              </p:nvSpPr>
              <p:spPr>
                <a:xfrm>
                  <a:off x="18748" y="4200"/>
                  <a:ext cx="726" cy="52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×</m:t>
                        </m:r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3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50"/>
                  </p:custDataLst>
                </p:nvPr>
              </p:nvSpPr>
              <p:spPr>
                <a:xfrm>
                  <a:off x="18748" y="4200"/>
                  <a:ext cx="726" cy="529"/>
                </a:xfrm>
                <a:prstGeom prst="rect">
                  <a:avLst/>
                </a:prstGeom>
                <a:blipFill rotWithShape="1">
                  <a:blip r:embed="rId4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3" name="组合 42"/>
            <p:cNvGrpSpPr/>
            <p:nvPr/>
          </p:nvGrpSpPr>
          <p:grpSpPr>
            <a:xfrm>
              <a:off x="17420" y="4824"/>
              <a:ext cx="2756" cy="1324"/>
              <a:chOff x="4049" y="5054"/>
              <a:chExt cx="2756" cy="1324"/>
            </a:xfrm>
          </p:grpSpPr>
          <p:sp>
            <p:nvSpPr>
              <p:cNvPr id="25" name="圆角矩形 24"/>
              <p:cNvSpPr/>
              <p:nvPr/>
            </p:nvSpPr>
            <p:spPr>
              <a:xfrm>
                <a:off x="4085" y="5112"/>
                <a:ext cx="1860" cy="421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600" b="1" i="1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38" name="圆角矩形 37"/>
              <p:cNvSpPr/>
              <p:nvPr>
                <p:custDataLst>
                  <p:tags r:id="rId51"/>
                </p:custDataLst>
              </p:nvPr>
            </p:nvSpPr>
            <p:spPr>
              <a:xfrm>
                <a:off x="4285" y="5312"/>
                <a:ext cx="1860" cy="421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600" b="1" i="1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39" name="圆角矩形 38"/>
              <p:cNvSpPr/>
              <p:nvPr>
                <p:custDataLst>
                  <p:tags r:id="rId52"/>
                </p:custDataLst>
              </p:nvPr>
            </p:nvSpPr>
            <p:spPr>
              <a:xfrm>
                <a:off x="4485" y="5512"/>
                <a:ext cx="1860" cy="421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600" b="1" i="1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41" name="圆角矩形 40"/>
              <p:cNvSpPr/>
              <p:nvPr>
                <p:custDataLst>
                  <p:tags r:id="rId53"/>
                </p:custDataLst>
              </p:nvPr>
            </p:nvSpPr>
            <p:spPr>
              <a:xfrm>
                <a:off x="4685" y="5712"/>
                <a:ext cx="1860" cy="421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600" b="1" i="1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" name="圆角矩形 41"/>
                  <p:cNvSpPr/>
                  <p:nvPr>
                    <p:custDataLst>
                      <p:tags r:id="rId54"/>
                    </p:custDataLst>
                  </p:nvPr>
                </p:nvSpPr>
                <p:spPr>
                  <a:xfrm>
                    <a:off x="4885" y="5912"/>
                    <a:ext cx="1860" cy="421"/>
                  </a:xfrm>
                  <a:prstGeom prst="round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1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altLang="zh-CN" sz="1600" b="1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𝑷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b="1" i="1">
                      <a:latin typeface="Times New Roman Regular" panose="02020503050405090304" charset="0"/>
                      <a:cs typeface="Times New Roman Regular" panose="02020503050405090304" charset="0"/>
                    </a:endParaRPr>
                  </a:p>
                </p:txBody>
              </p:sp>
            </mc:Choice>
            <mc:Fallback>
              <p:sp>
                <p:nvSpPr>
                  <p:cNvPr id="42" name="圆角矩形 41"/>
                  <p:cNvSpPr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55"/>
                    </p:custDataLst>
                  </p:nvPr>
                </p:nvSpPr>
                <p:spPr>
                  <a:xfrm>
                    <a:off x="4885" y="5912"/>
                    <a:ext cx="1860" cy="421"/>
                  </a:xfrm>
                  <a:prstGeom prst="roundRect">
                    <a:avLst/>
                  </a:prstGeom>
                  <a:blipFill rotWithShape="1">
                    <a:blip r:embed="rId56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立方体 28"/>
              <p:cNvSpPr/>
              <p:nvPr>
                <p:custDataLst>
                  <p:tags r:id="rId57"/>
                </p:custDataLst>
              </p:nvPr>
            </p:nvSpPr>
            <p:spPr>
              <a:xfrm flipH="1">
                <a:off x="4049" y="5054"/>
                <a:ext cx="2756" cy="1324"/>
              </a:xfrm>
              <a:prstGeom prst="cube">
                <a:avLst>
                  <a:gd name="adj" fmla="val 68051"/>
                </a:avLst>
              </a:prstGeom>
              <a:noFill/>
              <a:ln w="28575" cmpd="sng">
                <a:solidFill>
                  <a:schemeClr val="accent2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b="1" i="1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44" name="直接箭头连接符 43"/>
            <p:cNvCxnSpPr/>
            <p:nvPr>
              <p:custDataLst>
                <p:tags r:id="rId58"/>
              </p:custDataLst>
            </p:nvPr>
          </p:nvCxnSpPr>
          <p:spPr>
            <a:xfrm>
              <a:off x="18511" y="4290"/>
              <a:ext cx="0" cy="427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/>
            <p:nvPr>
              <p:custDataLst>
                <p:tags r:id="rId59"/>
              </p:custDataLst>
            </p:nvPr>
          </p:nvCxnSpPr>
          <p:spPr>
            <a:xfrm>
              <a:off x="15713" y="4295"/>
              <a:ext cx="0" cy="427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6" name="圆角矩形 45"/>
            <p:cNvSpPr/>
            <p:nvPr/>
          </p:nvSpPr>
          <p:spPr>
            <a:xfrm>
              <a:off x="15091" y="6706"/>
              <a:ext cx="4025" cy="631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solidFill>
                    <a:schemeClr val="tx1"/>
                  </a:solidFill>
                  <a:latin typeface="Times New Roman Bold" panose="02020503050405090304" charset="0"/>
                  <a:cs typeface="Times New Roman Bold" panose="02020503050405090304" charset="0"/>
                </a:rPr>
                <a:t>DOWN PROJECTION </a:t>
              </a:r>
              <a:endParaRPr lang="en-US" altLang="zh-CN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cxnSp>
          <p:nvCxnSpPr>
            <p:cNvPr id="47" name="肘形连接符 46"/>
            <p:cNvCxnSpPr/>
            <p:nvPr/>
          </p:nvCxnSpPr>
          <p:spPr>
            <a:xfrm rot="5400000" flipV="1">
              <a:off x="16345" y="6045"/>
              <a:ext cx="540" cy="783"/>
            </a:xfrm>
            <a:prstGeom prst="bentConnector3">
              <a:avLst>
                <a:gd name="adj1" fmla="val 49907"/>
              </a:avLst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肘形连接符 47"/>
            <p:cNvCxnSpPr/>
            <p:nvPr>
              <p:custDataLst>
                <p:tags r:id="rId60"/>
              </p:custDataLst>
            </p:nvPr>
          </p:nvCxnSpPr>
          <p:spPr>
            <a:xfrm rot="5400000">
              <a:off x="18066" y="5377"/>
              <a:ext cx="558" cy="2137"/>
            </a:xfrm>
            <a:prstGeom prst="bentConnector3">
              <a:avLst>
                <a:gd name="adj1" fmla="val 49910"/>
              </a:avLst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51" name="组合 50"/>
            <p:cNvGrpSpPr/>
            <p:nvPr/>
          </p:nvGrpSpPr>
          <p:grpSpPr>
            <a:xfrm>
              <a:off x="15829" y="7751"/>
              <a:ext cx="1026" cy="967"/>
              <a:chOff x="982" y="5083"/>
              <a:chExt cx="1604" cy="1576"/>
            </a:xfrm>
          </p:grpSpPr>
          <p:sp>
            <p:nvSpPr>
              <p:cNvPr id="52" name="立方体 51"/>
              <p:cNvSpPr/>
              <p:nvPr>
                <p:custDataLst>
                  <p:tags r:id="rId61"/>
                </p:custDataLst>
              </p:nvPr>
            </p:nvSpPr>
            <p:spPr>
              <a:xfrm flipH="1">
                <a:off x="982" y="5083"/>
                <a:ext cx="1605" cy="1554"/>
              </a:xfrm>
              <a:prstGeom prst="cube">
                <a:avLst>
                  <a:gd name="adj" fmla="val 49597"/>
                </a:avLst>
              </a:prstGeom>
              <a:noFill/>
              <a:ln w="28575" cmpd="sng"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b="1" i="1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53" name="图片 52"/>
              <p:cNvPicPr>
                <a:picLocks noChangeAspect="1"/>
              </p:cNvPicPr>
              <p:nvPr>
                <p:custDataLst>
                  <p:tags r:id="rId62"/>
                </p:custDataLst>
              </p:nvPr>
            </p:nvPicPr>
            <p:blipFill>
              <a:blip r:embed="rId42"/>
              <a:stretch>
                <a:fillRect/>
              </a:stretch>
            </p:blipFill>
            <p:spPr>
              <a:xfrm>
                <a:off x="1015" y="5113"/>
                <a:ext cx="747" cy="747"/>
              </a:xfrm>
              <a:prstGeom prst="rect">
                <a:avLst/>
              </a:prstGeom>
            </p:spPr>
          </p:pic>
          <p:pic>
            <p:nvPicPr>
              <p:cNvPr id="54" name="图片 53"/>
              <p:cNvPicPr>
                <a:picLocks noChangeAspect="1"/>
              </p:cNvPicPr>
              <p:nvPr>
                <p:custDataLst>
                  <p:tags r:id="rId63"/>
                </p:custDataLst>
              </p:nvPr>
            </p:nvPicPr>
            <p:blipFill>
              <a:blip r:embed="rId42"/>
              <a:stretch>
                <a:fillRect/>
              </a:stretch>
            </p:blipFill>
            <p:spPr>
              <a:xfrm>
                <a:off x="1215" y="5313"/>
                <a:ext cx="747" cy="747"/>
              </a:xfrm>
              <a:prstGeom prst="rect">
                <a:avLst/>
              </a:prstGeom>
            </p:spPr>
          </p:pic>
          <p:pic>
            <p:nvPicPr>
              <p:cNvPr id="55" name="图片 54"/>
              <p:cNvPicPr>
                <a:picLocks noChangeAspect="1"/>
              </p:cNvPicPr>
              <p:nvPr>
                <p:custDataLst>
                  <p:tags r:id="rId64"/>
                </p:custDataLst>
              </p:nvPr>
            </p:nvPicPr>
            <p:blipFill>
              <a:blip r:embed="rId42"/>
              <a:stretch>
                <a:fillRect/>
              </a:stretch>
            </p:blipFill>
            <p:spPr>
              <a:xfrm>
                <a:off x="1415" y="5513"/>
                <a:ext cx="747" cy="747"/>
              </a:xfrm>
              <a:prstGeom prst="rect">
                <a:avLst/>
              </a:prstGeom>
            </p:spPr>
          </p:pic>
          <p:pic>
            <p:nvPicPr>
              <p:cNvPr id="56" name="图片 55"/>
              <p:cNvPicPr>
                <a:picLocks noChangeAspect="1"/>
              </p:cNvPicPr>
              <p:nvPr>
                <p:custDataLst>
                  <p:tags r:id="rId65"/>
                </p:custDataLst>
              </p:nvPr>
            </p:nvPicPr>
            <p:blipFill>
              <a:blip r:embed="rId42"/>
              <a:stretch>
                <a:fillRect/>
              </a:stretch>
            </p:blipFill>
            <p:spPr>
              <a:xfrm>
                <a:off x="1615" y="5713"/>
                <a:ext cx="747" cy="747"/>
              </a:xfrm>
              <a:prstGeom prst="rect">
                <a:avLst/>
              </a:prstGeom>
            </p:spPr>
          </p:pic>
          <p:pic>
            <p:nvPicPr>
              <p:cNvPr id="57" name="图片 56"/>
              <p:cNvPicPr>
                <a:picLocks noChangeAspect="1"/>
              </p:cNvPicPr>
              <p:nvPr>
                <p:custDataLst>
                  <p:tags r:id="rId66"/>
                </p:custDataLst>
              </p:nvPr>
            </p:nvPicPr>
            <p:blipFill>
              <a:blip r:embed="rId42"/>
              <a:stretch>
                <a:fillRect/>
              </a:stretch>
            </p:blipFill>
            <p:spPr>
              <a:xfrm>
                <a:off x="1815" y="5913"/>
                <a:ext cx="747" cy="747"/>
              </a:xfrm>
              <a:prstGeom prst="rect">
                <a:avLst/>
              </a:prstGeom>
            </p:spPr>
          </p:pic>
        </p:grpSp>
        <p:grpSp>
          <p:nvGrpSpPr>
            <p:cNvPr id="78" name="组合 77"/>
            <p:cNvGrpSpPr/>
            <p:nvPr/>
          </p:nvGrpSpPr>
          <p:grpSpPr>
            <a:xfrm>
              <a:off x="17045" y="7776"/>
              <a:ext cx="1714" cy="966"/>
              <a:chOff x="3582" y="8296"/>
              <a:chExt cx="2756" cy="1324"/>
            </a:xfrm>
          </p:grpSpPr>
          <p:sp>
            <p:nvSpPr>
              <p:cNvPr id="77" name="圆角矩形 76"/>
              <p:cNvSpPr/>
              <p:nvPr>
                <p:custDataLst>
                  <p:tags r:id="rId67"/>
                </p:custDataLst>
              </p:nvPr>
            </p:nvSpPr>
            <p:spPr>
              <a:xfrm>
                <a:off x="4418" y="9154"/>
                <a:ext cx="1860" cy="421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600" b="1" i="1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75" name="圆角矩形 74"/>
              <p:cNvSpPr/>
              <p:nvPr>
                <p:custDataLst>
                  <p:tags r:id="rId68"/>
                </p:custDataLst>
              </p:nvPr>
            </p:nvSpPr>
            <p:spPr>
              <a:xfrm>
                <a:off x="4018" y="8754"/>
                <a:ext cx="1860" cy="421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600" b="1" i="1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grpSp>
            <p:nvGrpSpPr>
              <p:cNvPr id="67" name="组合 66"/>
              <p:cNvGrpSpPr/>
              <p:nvPr/>
            </p:nvGrpSpPr>
            <p:grpSpPr>
              <a:xfrm>
                <a:off x="3582" y="8296"/>
                <a:ext cx="2756" cy="1324"/>
                <a:chOff x="4049" y="5054"/>
                <a:chExt cx="2756" cy="1324"/>
              </a:xfrm>
            </p:grpSpPr>
            <p:sp>
              <p:nvSpPr>
                <p:cNvPr id="68" name="圆角矩形 67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4085" y="5112"/>
                  <a:ext cx="1860" cy="421"/>
                </a:xfrm>
                <a:prstGeom prst="round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600" b="1" i="1">
                    <a:latin typeface="Times New Roman Regular" panose="02020503050405090304" charset="0"/>
                    <a:cs typeface="Times New Roman Regular" panose="02020503050405090304" charset="0"/>
                  </a:endParaRPr>
                </a:p>
              </p:txBody>
            </p:sp>
            <p:sp>
              <p:nvSpPr>
                <p:cNvPr id="73" name="立方体 72"/>
                <p:cNvSpPr/>
                <p:nvPr>
                  <p:custDataLst>
                    <p:tags r:id="rId70"/>
                  </p:custDataLst>
                </p:nvPr>
              </p:nvSpPr>
              <p:spPr>
                <a:xfrm flipH="1">
                  <a:off x="4049" y="5054"/>
                  <a:ext cx="2756" cy="1324"/>
                </a:xfrm>
                <a:prstGeom prst="cube">
                  <a:avLst>
                    <a:gd name="adj" fmla="val 68051"/>
                  </a:avLst>
                </a:prstGeom>
                <a:noFill/>
                <a:ln w="28575" cmpd="sng">
                  <a:solidFill>
                    <a:schemeClr val="accent2">
                      <a:lumMod val="7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b="1" i="1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cxnSp>
          <p:nvCxnSpPr>
            <p:cNvPr id="79" name="直接箭头连接符 78"/>
            <p:cNvCxnSpPr/>
            <p:nvPr>
              <p:custDataLst>
                <p:tags r:id="rId71"/>
              </p:custDataLst>
            </p:nvPr>
          </p:nvCxnSpPr>
          <p:spPr>
            <a:xfrm>
              <a:off x="16156" y="7394"/>
              <a:ext cx="0" cy="31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/>
            <p:nvPr>
              <p:custDataLst>
                <p:tags r:id="rId72"/>
              </p:custDataLst>
            </p:nvPr>
          </p:nvCxnSpPr>
          <p:spPr>
            <a:xfrm>
              <a:off x="17740" y="7394"/>
              <a:ext cx="0" cy="312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>
              <p:custDataLst>
                <p:tags r:id="rId73"/>
              </p:custDataLst>
            </p:nvPr>
          </p:nvCxnSpPr>
          <p:spPr>
            <a:xfrm>
              <a:off x="11958" y="398"/>
              <a:ext cx="0" cy="18460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84" name="组合 83"/>
            <p:cNvGrpSpPr/>
            <p:nvPr/>
          </p:nvGrpSpPr>
          <p:grpSpPr>
            <a:xfrm>
              <a:off x="13623" y="7990"/>
              <a:ext cx="533" cy="533"/>
              <a:chOff x="12065" y="7109"/>
              <a:chExt cx="373" cy="411"/>
            </a:xfrm>
          </p:grpSpPr>
          <p:sp>
            <p:nvSpPr>
              <p:cNvPr id="96" name="椭圆 95"/>
              <p:cNvSpPr>
                <a:spLocks noChangeAspect="1"/>
              </p:cNvSpPr>
              <p:nvPr>
                <p:custDataLst>
                  <p:tags r:id="rId74"/>
                </p:custDataLst>
              </p:nvPr>
            </p:nvSpPr>
            <p:spPr>
              <a:xfrm>
                <a:off x="12065" y="7109"/>
                <a:ext cx="373" cy="4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2" name="直接连接符 81"/>
              <p:cNvCxnSpPr>
                <a:stCxn id="96" idx="2"/>
                <a:endCxn id="96" idx="6"/>
              </p:cNvCxnSpPr>
              <p:nvPr/>
            </p:nvCxnSpPr>
            <p:spPr>
              <a:xfrm>
                <a:off x="12065" y="7315"/>
                <a:ext cx="37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>
                <a:stCxn id="96" idx="0"/>
                <a:endCxn id="96" idx="4"/>
              </p:cNvCxnSpPr>
              <p:nvPr>
                <p:custDataLst>
                  <p:tags r:id="rId75"/>
                </p:custDataLst>
              </p:nvPr>
            </p:nvCxnSpPr>
            <p:spPr>
              <a:xfrm>
                <a:off x="12252" y="7109"/>
                <a:ext cx="0" cy="41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85" name="直接箭头连接符 84"/>
            <p:cNvCxnSpPr/>
            <p:nvPr>
              <p:custDataLst>
                <p:tags r:id="rId76"/>
              </p:custDataLst>
            </p:nvPr>
          </p:nvCxnSpPr>
          <p:spPr>
            <a:xfrm flipH="1">
              <a:off x="14156" y="8257"/>
              <a:ext cx="1629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/>
            <p:nvPr>
              <p:custDataLst>
                <p:tags r:id="rId77"/>
              </p:custDataLst>
            </p:nvPr>
          </p:nvCxnSpPr>
          <p:spPr>
            <a:xfrm flipH="1">
              <a:off x="13890" y="7394"/>
              <a:ext cx="1" cy="596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8" name="圆角矩形 87"/>
            <p:cNvSpPr/>
            <p:nvPr/>
          </p:nvSpPr>
          <p:spPr>
            <a:xfrm>
              <a:off x="12953" y="6392"/>
              <a:ext cx="1977" cy="9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i="1">
                  <a:solidFill>
                    <a:schemeClr val="tx1"/>
                  </a:solidFill>
                  <a:latin typeface="Times New Roman Italic" panose="02020503050405090304" charset="0"/>
                  <a:cs typeface="Times New Roman Italic" panose="02020503050405090304" charset="0"/>
                  <a:sym typeface="+mn-ea"/>
                </a:rPr>
                <a:t>positional</a:t>
              </a:r>
              <a:endPara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</a:endParaRPr>
            </a:p>
            <a:p>
              <a:pPr algn="ctr"/>
              <a:r>
                <a:rPr lang="en-US" altLang="zh-CN" i="1">
                  <a:solidFill>
                    <a:schemeClr val="tx1"/>
                  </a:solidFill>
                  <a:latin typeface="Times New Roman Italic" panose="02020503050405090304" charset="0"/>
                  <a:cs typeface="Times New Roman Italic" panose="02020503050405090304" charset="0"/>
                  <a:sym typeface="+mn-ea"/>
                </a:rPr>
                <a:t>embedding</a:t>
              </a:r>
              <a:endParaRPr lang="en-US" altLang="zh-CN" i="1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endParaRPr>
            </a:p>
          </p:txBody>
        </p:sp>
        <p:sp>
          <p:nvSpPr>
            <p:cNvPr id="89" name="文本框 88"/>
            <p:cNvSpPr txBox="1"/>
            <p:nvPr>
              <p:custDataLst>
                <p:tags r:id="rId78"/>
              </p:custDataLst>
            </p:nvPr>
          </p:nvSpPr>
          <p:spPr>
            <a:xfrm rot="10800000" flipH="1">
              <a:off x="16910" y="2799"/>
              <a:ext cx="629" cy="1465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p>
              <a:r>
                <a:rPr lang="en-US" altLang="zh-CN" sz="1600" b="1" i="1">
                  <a:latin typeface="Times New Roman Bold Italic" panose="02020503050405090304" charset="0"/>
                  <a:cs typeface="Times New Roman Bold Italic" panose="02020503050405090304" charset="0"/>
                </a:rPr>
                <a:t>CLIP-B </a:t>
              </a:r>
              <a:endParaRPr lang="en-US" altLang="zh-CN" sz="1600" b="1" i="1">
                <a:latin typeface="Times New Roman Bold Italic" panose="02020503050405090304" charset="0"/>
                <a:cs typeface="Times New Roman Bold Italic" panose="02020503050405090304" charset="0"/>
              </a:endParaRPr>
            </a:p>
          </p:txBody>
        </p:sp>
        <p:sp>
          <p:nvSpPr>
            <p:cNvPr id="90" name="立方体 89"/>
            <p:cNvSpPr/>
            <p:nvPr>
              <p:custDataLst>
                <p:tags r:id="rId79"/>
              </p:custDataLst>
            </p:nvPr>
          </p:nvSpPr>
          <p:spPr>
            <a:xfrm>
              <a:off x="13220" y="9567"/>
              <a:ext cx="1341" cy="894"/>
            </a:xfrm>
            <a:prstGeom prst="cube">
              <a:avLst>
                <a:gd name="adj" fmla="val 2315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 i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rPr>
                <a:t>HSA</a:t>
              </a:r>
              <a:endParaRPr lang="en-US" altLang="zh-CN" b="1" i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91" name="直接箭头连接符 90"/>
            <p:cNvCxnSpPr/>
            <p:nvPr>
              <p:custDataLst>
                <p:tags r:id="rId80"/>
              </p:custDataLst>
            </p:nvPr>
          </p:nvCxnSpPr>
          <p:spPr>
            <a:xfrm>
              <a:off x="13890" y="8523"/>
              <a:ext cx="1" cy="105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92" name="组合 91"/>
            <p:cNvGrpSpPr/>
            <p:nvPr/>
          </p:nvGrpSpPr>
          <p:grpSpPr>
            <a:xfrm rot="2700000">
              <a:off x="15953" y="9633"/>
              <a:ext cx="533" cy="533"/>
              <a:chOff x="12065" y="7109"/>
              <a:chExt cx="373" cy="411"/>
            </a:xfrm>
          </p:grpSpPr>
          <p:sp>
            <p:nvSpPr>
              <p:cNvPr id="93" name="椭圆 92"/>
              <p:cNvSpPr>
                <a:spLocks noChangeAspect="1"/>
              </p:cNvSpPr>
              <p:nvPr>
                <p:custDataLst>
                  <p:tags r:id="rId81"/>
                </p:custDataLst>
              </p:nvPr>
            </p:nvSpPr>
            <p:spPr>
              <a:xfrm>
                <a:off x="12065" y="7109"/>
                <a:ext cx="373" cy="4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4" name="直接连接符 93"/>
              <p:cNvCxnSpPr>
                <a:stCxn id="93" idx="2"/>
                <a:endCxn id="93" idx="6"/>
              </p:cNvCxnSpPr>
              <p:nvPr>
                <p:custDataLst>
                  <p:tags r:id="rId82"/>
                </p:custDataLst>
              </p:nvPr>
            </p:nvCxnSpPr>
            <p:spPr>
              <a:xfrm>
                <a:off x="12065" y="7315"/>
                <a:ext cx="37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>
                <a:stCxn id="93" idx="0"/>
                <a:endCxn id="93" idx="4"/>
              </p:cNvCxnSpPr>
              <p:nvPr>
                <p:custDataLst>
                  <p:tags r:id="rId83"/>
                </p:custDataLst>
              </p:nvPr>
            </p:nvCxnSpPr>
            <p:spPr>
              <a:xfrm>
                <a:off x="12252" y="7109"/>
                <a:ext cx="0" cy="41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97" name="直接箭头连接符 96"/>
            <p:cNvCxnSpPr/>
            <p:nvPr>
              <p:custDataLst>
                <p:tags r:id="rId84"/>
              </p:custDataLst>
            </p:nvPr>
          </p:nvCxnSpPr>
          <p:spPr>
            <a:xfrm>
              <a:off x="16220" y="8770"/>
              <a:ext cx="0" cy="86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>
              <a:stCxn id="90" idx="5"/>
              <a:endCxn id="93" idx="3"/>
            </p:cNvCxnSpPr>
            <p:nvPr>
              <p:custDataLst>
                <p:tags r:id="rId85"/>
              </p:custDataLst>
            </p:nvPr>
          </p:nvCxnSpPr>
          <p:spPr>
            <a:xfrm flipV="1">
              <a:off x="14561" y="9900"/>
              <a:ext cx="1392" cy="1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9" name="直接箭头连接符 98"/>
            <p:cNvCxnSpPr/>
            <p:nvPr>
              <p:custDataLst>
                <p:tags r:id="rId86"/>
              </p:custDataLst>
            </p:nvPr>
          </p:nvCxnSpPr>
          <p:spPr>
            <a:xfrm>
              <a:off x="16220" y="10166"/>
              <a:ext cx="4" cy="86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82" name="立方体 181"/>
            <p:cNvSpPr/>
            <p:nvPr>
              <p:custDataLst>
                <p:tags r:id="rId87"/>
              </p:custDataLst>
            </p:nvPr>
          </p:nvSpPr>
          <p:spPr>
            <a:xfrm>
              <a:off x="15568" y="11061"/>
              <a:ext cx="1342" cy="752"/>
            </a:xfrm>
            <a:prstGeom prst="cub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700" i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VTA</a:t>
              </a:r>
              <a:endParaRPr lang="en-US" altLang="zh-CN" sz="17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01" name="直接箭头连接符 100"/>
            <p:cNvCxnSpPr/>
            <p:nvPr>
              <p:custDataLst>
                <p:tags r:id="rId88"/>
              </p:custDataLst>
            </p:nvPr>
          </p:nvCxnSpPr>
          <p:spPr>
            <a:xfrm>
              <a:off x="16234" y="11813"/>
              <a:ext cx="0" cy="86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02" name="组合 101"/>
            <p:cNvGrpSpPr/>
            <p:nvPr/>
          </p:nvGrpSpPr>
          <p:grpSpPr>
            <a:xfrm rot="2700000">
              <a:off x="15960" y="12682"/>
              <a:ext cx="533" cy="533"/>
              <a:chOff x="12065" y="7109"/>
              <a:chExt cx="373" cy="411"/>
            </a:xfrm>
          </p:grpSpPr>
          <p:sp>
            <p:nvSpPr>
              <p:cNvPr id="103" name="椭圆 102"/>
              <p:cNvSpPr>
                <a:spLocks noChangeAspect="1"/>
              </p:cNvSpPr>
              <p:nvPr>
                <p:custDataLst>
                  <p:tags r:id="rId89"/>
                </p:custDataLst>
              </p:nvPr>
            </p:nvSpPr>
            <p:spPr>
              <a:xfrm>
                <a:off x="12065" y="7109"/>
                <a:ext cx="373" cy="4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04" name="直接连接符 103"/>
              <p:cNvCxnSpPr>
                <a:stCxn id="103" idx="2"/>
                <a:endCxn id="103" idx="6"/>
              </p:cNvCxnSpPr>
              <p:nvPr>
                <p:custDataLst>
                  <p:tags r:id="rId90"/>
                </p:custDataLst>
              </p:nvPr>
            </p:nvCxnSpPr>
            <p:spPr>
              <a:xfrm>
                <a:off x="12065" y="7315"/>
                <a:ext cx="37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>
                <a:stCxn id="103" idx="0"/>
                <a:endCxn id="103" idx="4"/>
              </p:cNvCxnSpPr>
              <p:nvPr>
                <p:custDataLst>
                  <p:tags r:id="rId91"/>
                </p:custDataLst>
              </p:nvPr>
            </p:nvCxnSpPr>
            <p:spPr>
              <a:xfrm>
                <a:off x="12252" y="7109"/>
                <a:ext cx="0" cy="41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106" name="肘形连接符 105"/>
            <p:cNvCxnSpPr/>
            <p:nvPr/>
          </p:nvCxnSpPr>
          <p:spPr>
            <a:xfrm rot="5400000">
              <a:off x="14909" y="11641"/>
              <a:ext cx="2358" cy="257"/>
            </a:xfrm>
            <a:prstGeom prst="bentConnector4">
              <a:avLst>
                <a:gd name="adj1" fmla="val 1208"/>
                <a:gd name="adj2" fmla="val 477626"/>
              </a:avLst>
            </a:prstGeom>
            <a:ln w="38100" cmpd="sng">
              <a:solidFill>
                <a:srgbClr val="0070C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0" name="立方体 109"/>
            <p:cNvSpPr/>
            <p:nvPr>
              <p:custDataLst>
                <p:tags r:id="rId92"/>
              </p:custDataLst>
            </p:nvPr>
          </p:nvSpPr>
          <p:spPr>
            <a:xfrm>
              <a:off x="17063" y="11064"/>
              <a:ext cx="1514" cy="752"/>
            </a:xfrm>
            <a:prstGeom prst="cub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700" i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TVA</a:t>
              </a:r>
              <a:endParaRPr lang="en-US" altLang="zh-CN" sz="17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11" name="直接箭头连接符 110"/>
            <p:cNvCxnSpPr/>
            <p:nvPr>
              <p:custDataLst>
                <p:tags r:id="rId93"/>
              </p:custDataLst>
            </p:nvPr>
          </p:nvCxnSpPr>
          <p:spPr>
            <a:xfrm>
              <a:off x="18246" y="8851"/>
              <a:ext cx="0" cy="2162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2" name="直接箭头连接符 111"/>
            <p:cNvCxnSpPr/>
            <p:nvPr>
              <p:custDataLst>
                <p:tags r:id="rId94"/>
              </p:custDataLst>
            </p:nvPr>
          </p:nvCxnSpPr>
          <p:spPr>
            <a:xfrm>
              <a:off x="17740" y="11816"/>
              <a:ext cx="0" cy="863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3" name="组合 112"/>
            <p:cNvGrpSpPr/>
            <p:nvPr/>
          </p:nvGrpSpPr>
          <p:grpSpPr>
            <a:xfrm rot="2700000">
              <a:off x="17466" y="12685"/>
              <a:ext cx="533" cy="533"/>
              <a:chOff x="12065" y="7109"/>
              <a:chExt cx="373" cy="411"/>
            </a:xfrm>
          </p:grpSpPr>
          <p:sp>
            <p:nvSpPr>
              <p:cNvPr id="114" name="椭圆 113"/>
              <p:cNvSpPr>
                <a:spLocks noChangeAspect="1"/>
              </p:cNvSpPr>
              <p:nvPr>
                <p:custDataLst>
                  <p:tags r:id="rId95"/>
                </p:custDataLst>
              </p:nvPr>
            </p:nvSpPr>
            <p:spPr>
              <a:xfrm>
                <a:off x="12065" y="7109"/>
                <a:ext cx="373" cy="4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5" name="直接连接符 114"/>
              <p:cNvCxnSpPr>
                <a:stCxn id="114" idx="2"/>
                <a:endCxn id="114" idx="6"/>
              </p:cNvCxnSpPr>
              <p:nvPr>
                <p:custDataLst>
                  <p:tags r:id="rId96"/>
                </p:custDataLst>
              </p:nvPr>
            </p:nvCxnSpPr>
            <p:spPr>
              <a:xfrm>
                <a:off x="12065" y="7315"/>
                <a:ext cx="37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>
                <a:stCxn id="114" idx="0"/>
                <a:endCxn id="114" idx="4"/>
              </p:cNvCxnSpPr>
              <p:nvPr>
                <p:custDataLst>
                  <p:tags r:id="rId97"/>
                </p:custDataLst>
              </p:nvPr>
            </p:nvCxnSpPr>
            <p:spPr>
              <a:xfrm>
                <a:off x="12252" y="7109"/>
                <a:ext cx="0" cy="41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17" name="圆角矩形 116"/>
            <p:cNvSpPr/>
            <p:nvPr>
              <p:custDataLst>
                <p:tags r:id="rId98"/>
              </p:custDataLst>
            </p:nvPr>
          </p:nvSpPr>
          <p:spPr>
            <a:xfrm>
              <a:off x="15091" y="13595"/>
              <a:ext cx="4025" cy="63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solidFill>
                    <a:schemeClr val="tx1"/>
                  </a:solidFill>
                  <a:latin typeface="Times New Roman Bold" panose="02020503050405090304" charset="0"/>
                  <a:cs typeface="Times New Roman Bold" panose="02020503050405090304" charset="0"/>
                </a:rPr>
                <a:t>UP PROJECTION </a:t>
              </a:r>
              <a:endParaRPr lang="en-US" altLang="zh-CN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cxnSp>
          <p:nvCxnSpPr>
            <p:cNvPr id="118" name="直接箭头连接符 117"/>
            <p:cNvCxnSpPr/>
            <p:nvPr>
              <p:custDataLst>
                <p:tags r:id="rId99"/>
              </p:custDataLst>
            </p:nvPr>
          </p:nvCxnSpPr>
          <p:spPr>
            <a:xfrm>
              <a:off x="15715" y="6095"/>
              <a:ext cx="0" cy="427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9" name="直接箭头连接符 118"/>
            <p:cNvCxnSpPr/>
            <p:nvPr>
              <p:custDataLst>
                <p:tags r:id="rId100"/>
              </p:custDataLst>
            </p:nvPr>
          </p:nvCxnSpPr>
          <p:spPr>
            <a:xfrm>
              <a:off x="16244" y="13264"/>
              <a:ext cx="0" cy="31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0" name="直接箭头连接符 119"/>
            <p:cNvCxnSpPr/>
            <p:nvPr>
              <p:custDataLst>
                <p:tags r:id="rId101"/>
              </p:custDataLst>
            </p:nvPr>
          </p:nvCxnSpPr>
          <p:spPr>
            <a:xfrm>
              <a:off x="17752" y="13264"/>
              <a:ext cx="0" cy="312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/>
            <p:nvPr>
              <p:custDataLst>
                <p:tags r:id="rId102"/>
              </p:custDataLst>
            </p:nvPr>
          </p:nvCxnSpPr>
          <p:spPr>
            <a:xfrm>
              <a:off x="16239" y="14240"/>
              <a:ext cx="0" cy="86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6" name="直接箭头连接符 125"/>
            <p:cNvCxnSpPr/>
            <p:nvPr>
              <p:custDataLst>
                <p:tags r:id="rId103"/>
              </p:custDataLst>
            </p:nvPr>
          </p:nvCxnSpPr>
          <p:spPr>
            <a:xfrm>
              <a:off x="17745" y="14243"/>
              <a:ext cx="0" cy="863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1" name="直接箭头连接符 130"/>
            <p:cNvCxnSpPr/>
            <p:nvPr>
              <p:custDataLst>
                <p:tags r:id="rId104"/>
              </p:custDataLst>
            </p:nvPr>
          </p:nvCxnSpPr>
          <p:spPr>
            <a:xfrm>
              <a:off x="16237" y="15679"/>
              <a:ext cx="0" cy="31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2" name="直接箭头连接符 131"/>
            <p:cNvCxnSpPr/>
            <p:nvPr>
              <p:custDataLst>
                <p:tags r:id="rId105"/>
              </p:custDataLst>
            </p:nvPr>
          </p:nvCxnSpPr>
          <p:spPr>
            <a:xfrm>
              <a:off x="17745" y="15691"/>
              <a:ext cx="0" cy="312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肘形连接符 133"/>
            <p:cNvCxnSpPr>
              <a:endCxn id="123" idx="3"/>
            </p:cNvCxnSpPr>
            <p:nvPr/>
          </p:nvCxnSpPr>
          <p:spPr>
            <a:xfrm rot="5400000" flipV="1">
              <a:off x="7704" y="7114"/>
              <a:ext cx="13265" cy="3258"/>
            </a:xfrm>
            <a:prstGeom prst="bentConnector2">
              <a:avLst/>
            </a:prstGeom>
            <a:ln w="38100" cmpd="sng">
              <a:solidFill>
                <a:srgbClr val="0070C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5" name="肘形连接符 134"/>
            <p:cNvCxnSpPr/>
            <p:nvPr/>
          </p:nvCxnSpPr>
          <p:spPr>
            <a:xfrm flipH="1">
              <a:off x="18004" y="2111"/>
              <a:ext cx="1944" cy="13268"/>
            </a:xfrm>
            <a:prstGeom prst="bentConnector3">
              <a:avLst>
                <a:gd name="adj1" fmla="val -19290"/>
              </a:avLst>
            </a:prstGeom>
            <a:ln w="38100" cmpd="sng">
              <a:solidFill>
                <a:schemeClr val="accent2">
                  <a:lumMod val="7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7" name="直接箭头连接符 136"/>
            <p:cNvCxnSpPr/>
            <p:nvPr>
              <p:custDataLst>
                <p:tags r:id="rId106"/>
              </p:custDataLst>
            </p:nvPr>
          </p:nvCxnSpPr>
          <p:spPr>
            <a:xfrm flipH="1">
              <a:off x="12673" y="2091"/>
              <a:ext cx="1522" cy="0"/>
            </a:xfrm>
            <a:prstGeom prst="straightConnector1">
              <a:avLst/>
            </a:prstGeom>
            <a:ln w="38100" cmpd="sng">
              <a:solidFill>
                <a:srgbClr val="0070C0"/>
              </a:solidFill>
              <a:prstDash val="sysDash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8" name="肘形连接符 137"/>
            <p:cNvCxnSpPr/>
            <p:nvPr/>
          </p:nvCxnSpPr>
          <p:spPr>
            <a:xfrm rot="5400000">
              <a:off x="16423" y="9829"/>
              <a:ext cx="4699" cy="1546"/>
            </a:xfrm>
            <a:prstGeom prst="bentConnector2">
              <a:avLst/>
            </a:prstGeom>
            <a:ln w="38100" cmpd="sng">
              <a:solidFill>
                <a:schemeClr val="accent2">
                  <a:lumMod val="7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9" name="直接箭头连接符 138"/>
            <p:cNvCxnSpPr/>
            <p:nvPr>
              <p:custDataLst>
                <p:tags r:id="rId107"/>
              </p:custDataLst>
            </p:nvPr>
          </p:nvCxnSpPr>
          <p:spPr>
            <a:xfrm>
              <a:off x="18577" y="8228"/>
              <a:ext cx="1015" cy="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1" name="文本框 140"/>
            <p:cNvSpPr txBox="1"/>
            <p:nvPr/>
          </p:nvSpPr>
          <p:spPr>
            <a:xfrm rot="10800000">
              <a:off x="12011" y="11028"/>
              <a:ext cx="724" cy="355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zh-CN" altLang="en-US" i="1">
                  <a:latin typeface="Times New Roman Italic" panose="02020503050405090304" charset="0"/>
                  <a:cs typeface="Times New Roman Italic" panose="02020503050405090304" charset="0"/>
                </a:rPr>
                <a:t>Residual connection</a:t>
              </a:r>
              <a:endParaRPr lang="zh-CN" altLang="en-US" i="1">
                <a:latin typeface="Times New Roman Italic" panose="02020503050405090304" charset="0"/>
                <a:cs typeface="Times New Roman Italic" panose="02020503050405090304" charset="0"/>
              </a:endParaRPr>
            </a:p>
          </p:txBody>
        </p:sp>
        <p:sp>
          <p:nvSpPr>
            <p:cNvPr id="142" name="文本框 141"/>
            <p:cNvSpPr txBox="1"/>
            <p:nvPr>
              <p:custDataLst>
                <p:tags r:id="rId108"/>
              </p:custDataLst>
            </p:nvPr>
          </p:nvSpPr>
          <p:spPr>
            <a:xfrm rot="10800000">
              <a:off x="14332" y="10109"/>
              <a:ext cx="724" cy="325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zh-CN" altLang="en-US" i="1">
                  <a:latin typeface="Times New Roman Italic" panose="02020503050405090304" charset="0"/>
                  <a:cs typeface="Times New Roman Italic" panose="02020503050405090304" charset="0"/>
                </a:rPr>
                <a:t>Residual connection</a:t>
              </a:r>
              <a:endParaRPr lang="zh-CN" altLang="en-US" i="1">
                <a:latin typeface="Times New Roman Italic" panose="02020503050405090304" charset="0"/>
                <a:cs typeface="Times New Roman Italic" panose="02020503050405090304" charset="0"/>
              </a:endParaRPr>
            </a:p>
          </p:txBody>
        </p:sp>
        <p:sp>
          <p:nvSpPr>
            <p:cNvPr id="143" name="文本框 142"/>
            <p:cNvSpPr txBox="1"/>
            <p:nvPr>
              <p:custDataLst>
                <p:tags r:id="rId109"/>
              </p:custDataLst>
            </p:nvPr>
          </p:nvSpPr>
          <p:spPr>
            <a:xfrm rot="10800000">
              <a:off x="19532" y="10220"/>
              <a:ext cx="724" cy="314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r>
                <a:rPr lang="zh-CN" altLang="en-US" i="1">
                  <a:latin typeface="Times New Roman Italic" panose="02020503050405090304" charset="0"/>
                  <a:cs typeface="Times New Roman Italic" panose="02020503050405090304" charset="0"/>
                </a:rPr>
                <a:t>Residual connection</a:t>
              </a:r>
              <a:endParaRPr lang="zh-CN" altLang="en-US" i="1">
                <a:latin typeface="Times New Roman Italic" panose="02020503050405090304" charset="0"/>
                <a:cs typeface="Times New Roman Italic" panose="02020503050405090304" charset="0"/>
              </a:endParaRPr>
            </a:p>
          </p:txBody>
        </p:sp>
        <p:grpSp>
          <p:nvGrpSpPr>
            <p:cNvPr id="144" name="组合 143"/>
            <p:cNvGrpSpPr/>
            <p:nvPr/>
          </p:nvGrpSpPr>
          <p:grpSpPr>
            <a:xfrm>
              <a:off x="15965" y="15103"/>
              <a:ext cx="533" cy="533"/>
              <a:chOff x="12065" y="7109"/>
              <a:chExt cx="373" cy="411"/>
            </a:xfrm>
          </p:grpSpPr>
          <p:sp>
            <p:nvSpPr>
              <p:cNvPr id="145" name="椭圆 144"/>
              <p:cNvSpPr>
                <a:spLocks noChangeAspect="1"/>
              </p:cNvSpPr>
              <p:nvPr>
                <p:custDataLst>
                  <p:tags r:id="rId110"/>
                </p:custDataLst>
              </p:nvPr>
            </p:nvSpPr>
            <p:spPr>
              <a:xfrm>
                <a:off x="12065" y="7109"/>
                <a:ext cx="373" cy="4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6" name="直接连接符 145"/>
              <p:cNvCxnSpPr>
                <a:stCxn id="145" idx="2"/>
                <a:endCxn id="145" idx="6"/>
              </p:cNvCxnSpPr>
              <p:nvPr>
                <p:custDataLst>
                  <p:tags r:id="rId111"/>
                </p:custDataLst>
              </p:nvPr>
            </p:nvCxnSpPr>
            <p:spPr>
              <a:xfrm>
                <a:off x="12065" y="7315"/>
                <a:ext cx="37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>
                <a:stCxn id="145" idx="0"/>
                <a:endCxn id="145" idx="4"/>
              </p:cNvCxnSpPr>
              <p:nvPr>
                <p:custDataLst>
                  <p:tags r:id="rId112"/>
                </p:custDataLst>
              </p:nvPr>
            </p:nvCxnSpPr>
            <p:spPr>
              <a:xfrm>
                <a:off x="12252" y="7109"/>
                <a:ext cx="0" cy="41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组合 147"/>
            <p:cNvGrpSpPr/>
            <p:nvPr/>
          </p:nvGrpSpPr>
          <p:grpSpPr>
            <a:xfrm>
              <a:off x="17471" y="15115"/>
              <a:ext cx="533" cy="533"/>
              <a:chOff x="12065" y="7109"/>
              <a:chExt cx="373" cy="411"/>
            </a:xfrm>
          </p:grpSpPr>
          <p:sp>
            <p:nvSpPr>
              <p:cNvPr id="149" name="椭圆 148"/>
              <p:cNvSpPr>
                <a:spLocks noChangeAspect="1"/>
              </p:cNvSpPr>
              <p:nvPr>
                <p:custDataLst>
                  <p:tags r:id="rId113"/>
                </p:custDataLst>
              </p:nvPr>
            </p:nvSpPr>
            <p:spPr>
              <a:xfrm>
                <a:off x="12065" y="7109"/>
                <a:ext cx="373" cy="41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0" name="直接连接符 149"/>
              <p:cNvCxnSpPr>
                <a:stCxn id="149" idx="2"/>
                <a:endCxn id="149" idx="6"/>
              </p:cNvCxnSpPr>
              <p:nvPr>
                <p:custDataLst>
                  <p:tags r:id="rId114"/>
                </p:custDataLst>
              </p:nvPr>
            </p:nvCxnSpPr>
            <p:spPr>
              <a:xfrm>
                <a:off x="12065" y="7315"/>
                <a:ext cx="37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>
                <a:stCxn id="149" idx="0"/>
                <a:endCxn id="149" idx="4"/>
              </p:cNvCxnSpPr>
              <p:nvPr>
                <p:custDataLst>
                  <p:tags r:id="rId115"/>
                </p:custDataLst>
              </p:nvPr>
            </p:nvCxnSpPr>
            <p:spPr>
              <a:xfrm>
                <a:off x="12252" y="7109"/>
                <a:ext cx="0" cy="41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64" name="组合 163"/>
            <p:cNvGrpSpPr/>
            <p:nvPr/>
          </p:nvGrpSpPr>
          <p:grpSpPr>
            <a:xfrm>
              <a:off x="15213" y="16227"/>
              <a:ext cx="1770" cy="1444"/>
              <a:chOff x="11487" y="16386"/>
              <a:chExt cx="1770" cy="1444"/>
            </a:xfrm>
          </p:grpSpPr>
          <p:grpSp>
            <p:nvGrpSpPr>
              <p:cNvPr id="152" name="组合 151"/>
              <p:cNvGrpSpPr/>
              <p:nvPr/>
            </p:nvGrpSpPr>
            <p:grpSpPr>
              <a:xfrm>
                <a:off x="11487" y="16386"/>
                <a:ext cx="1771" cy="1444"/>
                <a:chOff x="982" y="5083"/>
                <a:chExt cx="1605" cy="1554"/>
              </a:xfrm>
            </p:grpSpPr>
            <p:sp>
              <p:nvSpPr>
                <p:cNvPr id="153" name="立方体 152"/>
                <p:cNvSpPr/>
                <p:nvPr>
                  <p:custDataLst>
                    <p:tags r:id="rId116"/>
                  </p:custDataLst>
                </p:nvPr>
              </p:nvSpPr>
              <p:spPr>
                <a:xfrm flipH="1">
                  <a:off x="982" y="5083"/>
                  <a:ext cx="1605" cy="1554"/>
                </a:xfrm>
                <a:prstGeom prst="cube">
                  <a:avLst>
                    <a:gd name="adj" fmla="val 49597"/>
                  </a:avLst>
                </a:prstGeom>
                <a:noFill/>
                <a:ln w="28575" cmpd="sng">
                  <a:solidFill>
                    <a:schemeClr val="accent1">
                      <a:lumMod val="7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b="1" i="1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pic>
              <p:nvPicPr>
                <p:cNvPr id="154" name="图片 153" descr="/Users/suleynan_suir/Library/Containers/com.kingsoft.wpsoffice.mac/Data/tmp/photoeditapp/20251210165035/temp.pngtemp"/>
                <p:cNvPicPr>
                  <a:picLocks noChangeAspect="1"/>
                </p:cNvPicPr>
                <p:nvPr>
                  <p:custDataLst>
                    <p:tags r:id="rId117"/>
                  </p:custDataLst>
                </p:nvPr>
              </p:nvPicPr>
              <p:blipFill>
                <a:blip r:embed="rId118">
                  <a:grayscl/>
                </a:blip>
                <a:stretch>
                  <a:fillRect/>
                </a:stretch>
              </p:blipFill>
              <p:spPr>
                <a:xfrm>
                  <a:off x="1074" y="5113"/>
                  <a:ext cx="835" cy="747"/>
                </a:xfrm>
                <a:prstGeom prst="rect">
                  <a:avLst/>
                </a:prstGeom>
              </p:spPr>
            </p:pic>
          </p:grpSp>
          <p:pic>
            <p:nvPicPr>
              <p:cNvPr id="160" name="图片 159" descr="/Users/suleynan_suir/Library/Containers/com.kingsoft.wpsoffice.mac/Data/tmp/photoeditapp/20251210165035/temp.pngtemp"/>
              <p:cNvPicPr>
                <a:picLocks noChangeAspect="1"/>
              </p:cNvPicPr>
              <p:nvPr>
                <p:custDataLst>
                  <p:tags r:id="rId119"/>
                </p:custDataLst>
              </p:nvPr>
            </p:nvPicPr>
            <p:blipFill>
              <a:blip r:embed="rId118">
                <a:grayscl/>
              </a:blip>
              <a:stretch>
                <a:fillRect/>
              </a:stretch>
            </p:blipFill>
            <p:spPr>
              <a:xfrm>
                <a:off x="11911" y="16758"/>
                <a:ext cx="921" cy="694"/>
              </a:xfrm>
              <a:prstGeom prst="rect">
                <a:avLst/>
              </a:prstGeom>
            </p:spPr>
          </p:pic>
          <p:pic>
            <p:nvPicPr>
              <p:cNvPr id="163" name="图片 162" descr="/Users/suleynan_suir/Library/Containers/com.kingsoft.wpsoffice.mac/Data/tmp/photoeditapp/20251210165035/temp.pngtemp"/>
              <p:cNvPicPr>
                <a:picLocks noChangeAspect="1"/>
              </p:cNvPicPr>
              <p:nvPr>
                <p:custDataLst>
                  <p:tags r:id="rId120"/>
                </p:custDataLst>
              </p:nvPr>
            </p:nvPicPr>
            <p:blipFill>
              <a:blip r:embed="rId118">
                <a:grayscl/>
              </a:blip>
              <a:stretch>
                <a:fillRect/>
              </a:stretch>
            </p:blipFill>
            <p:spPr>
              <a:xfrm>
                <a:off x="12298" y="17116"/>
                <a:ext cx="921" cy="694"/>
              </a:xfrm>
              <a:prstGeom prst="rect">
                <a:avLst/>
              </a:prstGeom>
            </p:spPr>
          </p:pic>
        </p:grpSp>
        <p:grpSp>
          <p:nvGrpSpPr>
            <p:cNvPr id="165" name="组合 164"/>
            <p:cNvGrpSpPr/>
            <p:nvPr/>
          </p:nvGrpSpPr>
          <p:grpSpPr>
            <a:xfrm>
              <a:off x="17202" y="16227"/>
              <a:ext cx="2713" cy="1464"/>
              <a:chOff x="3582" y="8296"/>
              <a:chExt cx="2756" cy="1324"/>
            </a:xfrm>
          </p:grpSpPr>
          <p:sp>
            <p:nvSpPr>
              <p:cNvPr id="166" name="圆角矩形 165"/>
              <p:cNvSpPr/>
              <p:nvPr>
                <p:custDataLst>
                  <p:tags r:id="rId121"/>
                </p:custDataLst>
              </p:nvPr>
            </p:nvSpPr>
            <p:spPr>
              <a:xfrm>
                <a:off x="4418" y="9154"/>
                <a:ext cx="1860" cy="421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600" b="1" i="1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167" name="圆角矩形 166"/>
              <p:cNvSpPr/>
              <p:nvPr>
                <p:custDataLst>
                  <p:tags r:id="rId122"/>
                </p:custDataLst>
              </p:nvPr>
            </p:nvSpPr>
            <p:spPr>
              <a:xfrm>
                <a:off x="4018" y="8754"/>
                <a:ext cx="1860" cy="421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600" b="1" i="1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  <p:grpSp>
            <p:nvGrpSpPr>
              <p:cNvPr id="168" name="组合 167"/>
              <p:cNvGrpSpPr/>
              <p:nvPr/>
            </p:nvGrpSpPr>
            <p:grpSpPr>
              <a:xfrm>
                <a:off x="3582" y="8296"/>
                <a:ext cx="2756" cy="1324"/>
                <a:chOff x="4049" y="5054"/>
                <a:chExt cx="2756" cy="1324"/>
              </a:xfrm>
            </p:grpSpPr>
            <p:sp>
              <p:nvSpPr>
                <p:cNvPr id="169" name="圆角矩形 168"/>
                <p:cNvSpPr/>
                <p:nvPr>
                  <p:custDataLst>
                    <p:tags r:id="rId123"/>
                  </p:custDataLst>
                </p:nvPr>
              </p:nvSpPr>
              <p:spPr>
                <a:xfrm>
                  <a:off x="4085" y="5112"/>
                  <a:ext cx="1860" cy="421"/>
                </a:xfrm>
                <a:prstGeom prst="round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600" b="1" i="1">
                    <a:latin typeface="Times New Roman Regular" panose="02020503050405090304" charset="0"/>
                    <a:cs typeface="Times New Roman Regular" panose="02020503050405090304" charset="0"/>
                  </a:endParaRPr>
                </a:p>
              </p:txBody>
            </p:sp>
            <p:sp>
              <p:nvSpPr>
                <p:cNvPr id="170" name="立方体 169"/>
                <p:cNvSpPr/>
                <p:nvPr>
                  <p:custDataLst>
                    <p:tags r:id="rId124"/>
                  </p:custDataLst>
                </p:nvPr>
              </p:nvSpPr>
              <p:spPr>
                <a:xfrm flipH="1">
                  <a:off x="4049" y="5054"/>
                  <a:ext cx="2756" cy="1324"/>
                </a:xfrm>
                <a:prstGeom prst="cube">
                  <a:avLst>
                    <a:gd name="adj" fmla="val 68051"/>
                  </a:avLst>
                </a:prstGeom>
                <a:noFill/>
                <a:ln w="28575" cmpd="sng">
                  <a:solidFill>
                    <a:schemeClr val="accent2">
                      <a:lumMod val="7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b="1" i="1">
                    <a:solidFill>
                      <a:schemeClr val="accent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sp>
          <p:nvSpPr>
            <p:cNvPr id="222" name="文本框 221"/>
            <p:cNvSpPr txBox="1"/>
            <p:nvPr/>
          </p:nvSpPr>
          <p:spPr>
            <a:xfrm>
              <a:off x="1014" y="11521"/>
              <a:ext cx="415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b="1" i="1">
                  <a:latin typeface="Times New Roman Bold Italic" panose="02020503050405090304" charset="0"/>
                  <a:cs typeface="Times New Roman Bold Italic" panose="02020503050405090304" charset="0"/>
                </a:rPr>
                <a:t>Patches Division</a:t>
              </a:r>
              <a:endParaRPr lang="en-US" altLang="zh-CN" sz="2400" b="1" i="1">
                <a:latin typeface="Times New Roman Bold Italic" panose="02020503050405090304" charset="0"/>
                <a:cs typeface="Times New Roman Bold Italic" panose="0202050305040509030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6" name="文本框 225"/>
                <p:cNvSpPr txBox="1"/>
                <p:nvPr>
                  <p:custDataLst>
                    <p:tags r:id="rId125"/>
                  </p:custDataLst>
                </p:nvPr>
              </p:nvSpPr>
              <p:spPr>
                <a:xfrm>
                  <a:off x="6755" y="11484"/>
                  <a:ext cx="4156" cy="7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[</m:t>
                          </m:r>
                          <m:r>
                            <a:rPr lang="en-US" altLang="zh-CN" sz="2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]</m:t>
                          </m:r>
                        </m:sub>
                      </m:sSub>
                    </m:oMath>
                  </a14:m>
                  <a:r>
                    <a:rPr lang="en-US" altLang="zh-CN" sz="2400" b="1" i="1">
                      <a:latin typeface="Times New Roman Bold Italic" panose="02020503050405090304" charset="0"/>
                      <a:cs typeface="Times New Roman Bold Italic" panose="02020503050405090304" charset="0"/>
                    </a:rPr>
                    <a:t> Size: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40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TP</m:t>
                          </m:r>
                        </m:e>
                        <m:sup>
                          <m:r>
                            <a:rPr lang="en-US" altLang="zh-CN" sz="240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en-US" altLang="zh-CN" sz="2400">
                    <a:latin typeface="Times New Roman Bold Italic" panose="02020503050405090304" charset="0"/>
                    <a:cs typeface="Times New Roman Bold Italic" panose="02020503050405090304" charset="0"/>
                  </a:endParaRPr>
                </a:p>
              </p:txBody>
            </p:sp>
          </mc:Choice>
          <mc:Fallback>
            <p:sp>
              <p:nvSpPr>
                <p:cNvPr id="226" name="文本框 225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26"/>
                  </p:custDataLst>
                </p:nvPr>
              </p:nvSpPr>
              <p:spPr>
                <a:xfrm>
                  <a:off x="6755" y="11484"/>
                  <a:ext cx="4156" cy="790"/>
                </a:xfrm>
                <a:prstGeom prst="rect">
                  <a:avLst/>
                </a:prstGeom>
                <a:blipFill rotWithShape="1">
                  <a:blip r:embed="rId12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7" name="圆角矩形 226"/>
            <p:cNvSpPr/>
            <p:nvPr>
              <p:custDataLst>
                <p:tags r:id="rId128"/>
              </p:custDataLst>
            </p:nvPr>
          </p:nvSpPr>
          <p:spPr>
            <a:xfrm>
              <a:off x="305" y="12764"/>
              <a:ext cx="5207" cy="5049"/>
            </a:xfrm>
            <a:prstGeom prst="roundRect">
              <a:avLst>
                <a:gd name="adj" fmla="val 11926"/>
              </a:avLst>
            </a:prstGeom>
            <a:solidFill>
              <a:schemeClr val="accent2">
                <a:lumMod val="20000"/>
                <a:lumOff val="80000"/>
                <a:alpha val="7000"/>
              </a:schemeClr>
            </a:solidFill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8" name="文本框 227"/>
            <p:cNvSpPr txBox="1"/>
            <p:nvPr>
              <p:custDataLst>
                <p:tags r:id="rId129"/>
              </p:custDataLst>
            </p:nvPr>
          </p:nvSpPr>
          <p:spPr>
            <a:xfrm>
              <a:off x="829" y="16984"/>
              <a:ext cx="415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>
                  <a:latin typeface="Times New Roman Bold Italic" panose="02020503050405090304" charset="0"/>
                  <a:cs typeface="Times New Roman Bold Italic" panose="02020503050405090304" charset="0"/>
                  <a:sym typeface="+mn-ea"/>
                </a:rPr>
                <a:t>Pixel to all tokens</a:t>
              </a:r>
              <a:endParaRPr lang="en-US" altLang="zh-CN" sz="2400">
                <a:latin typeface="Times New Roman Bold Italic" panose="02020503050405090304" charset="0"/>
                <a:cs typeface="Times New Roman Bold Italic" panose="02020503050405090304" charset="0"/>
              </a:endParaRPr>
            </a:p>
          </p:txBody>
        </p:sp>
        <p:sp>
          <p:nvSpPr>
            <p:cNvPr id="229" name="圆角矩形 228"/>
            <p:cNvSpPr/>
            <p:nvPr>
              <p:custDataLst>
                <p:tags r:id="rId130"/>
              </p:custDataLst>
            </p:nvPr>
          </p:nvSpPr>
          <p:spPr>
            <a:xfrm>
              <a:off x="5996" y="12764"/>
              <a:ext cx="4929" cy="5049"/>
            </a:xfrm>
            <a:prstGeom prst="roundRect">
              <a:avLst>
                <a:gd name="adj" fmla="val 12322"/>
              </a:avLst>
            </a:prstGeom>
            <a:solidFill>
              <a:schemeClr val="accent2">
                <a:lumMod val="20000"/>
                <a:lumOff val="80000"/>
                <a:alpha val="7000"/>
              </a:schemeClr>
            </a:solidFill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0" name="文本框 229"/>
            <p:cNvSpPr txBox="1"/>
            <p:nvPr>
              <p:custDataLst>
                <p:tags r:id="rId131"/>
              </p:custDataLst>
            </p:nvPr>
          </p:nvSpPr>
          <p:spPr>
            <a:xfrm>
              <a:off x="6171" y="16489"/>
              <a:ext cx="4377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>
                  <a:latin typeface="Times New Roman Bold Italic" panose="02020503050405090304" charset="0"/>
                  <a:cs typeface="Times New Roman Bold Italic" panose="02020503050405090304" charset="0"/>
                </a:rPr>
                <a:t>Patch Size P Scaling</a:t>
              </a:r>
              <a:endParaRPr lang="en-US" altLang="zh-CN" sz="2400">
                <a:latin typeface="Times New Roman Bold Italic" panose="02020503050405090304" charset="0"/>
                <a:cs typeface="Times New Roman Bold Italic" panose="02020503050405090304" charset="0"/>
              </a:endParaRPr>
            </a:p>
            <a:p>
              <a:pPr algn="ctr"/>
              <a:r>
                <a:rPr lang="en-US" altLang="zh-CN" sz="2400">
                  <a:latin typeface="Times New Roman Bold Italic" panose="02020503050405090304" charset="0"/>
                  <a:cs typeface="Times New Roman Bold Italic" panose="02020503050405090304" charset="0"/>
                </a:rPr>
                <a:t>with Feature ROS</a:t>
              </a:r>
              <a:endParaRPr lang="en-US" altLang="zh-CN" sz="2400">
                <a:latin typeface="Times New Roman Bold Italic" panose="02020503050405090304" charset="0"/>
                <a:cs typeface="Times New Roman Bold Italic" panose="02020503050405090304" charset="0"/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1118" y="2364"/>
              <a:ext cx="154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latin typeface="Times New Roman Regular" panose="02020503050405090304" charset="0"/>
                  <a:cs typeface="Times New Roman Regular" panose="02020503050405090304" charset="0"/>
                </a:rPr>
                <a:t>Frame t</a:t>
              </a:r>
              <a:endParaRPr lang="en-US" altLang="zh-CN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77" name="文本框 176"/>
            <p:cNvSpPr txBox="1"/>
            <p:nvPr>
              <p:custDataLst>
                <p:tags r:id="rId132"/>
              </p:custDataLst>
            </p:nvPr>
          </p:nvSpPr>
          <p:spPr>
            <a:xfrm>
              <a:off x="4319" y="2364"/>
              <a:ext cx="171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latin typeface="Times New Roman Regular" panose="02020503050405090304" charset="0"/>
                  <a:cs typeface="Times New Roman Regular" panose="02020503050405090304" charset="0"/>
                </a:rPr>
                <a:t>Frame t-1</a:t>
              </a:r>
              <a:endParaRPr lang="en-US" altLang="zh-CN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78" name="文本框 177"/>
            <p:cNvSpPr txBox="1"/>
            <p:nvPr>
              <p:custDataLst>
                <p:tags r:id="rId133"/>
              </p:custDataLst>
            </p:nvPr>
          </p:nvSpPr>
          <p:spPr>
            <a:xfrm>
              <a:off x="1118" y="4764"/>
              <a:ext cx="177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Frame t-2</a:t>
              </a:r>
              <a:endParaRPr lang="en-US" altLang="zh-CN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80" name="文本框 179"/>
            <p:cNvSpPr txBox="1"/>
            <p:nvPr>
              <p:custDataLst>
                <p:tags r:id="rId134"/>
              </p:custDataLst>
            </p:nvPr>
          </p:nvSpPr>
          <p:spPr>
            <a:xfrm>
              <a:off x="4400" y="4770"/>
              <a:ext cx="177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Frame t-3</a:t>
              </a:r>
              <a:endParaRPr lang="en-US" altLang="zh-CN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pic>
          <p:nvPicPr>
            <p:cNvPr id="5" name="图片 4" descr="frame_00004"/>
            <p:cNvPicPr/>
            <p:nvPr/>
          </p:nvPicPr>
          <p:blipFill>
            <a:blip r:embed="rId135"/>
            <a:stretch>
              <a:fillRect/>
            </a:stretch>
          </p:blipFill>
          <p:spPr>
            <a:xfrm>
              <a:off x="374" y="504"/>
              <a:ext cx="2993" cy="1860"/>
            </a:xfrm>
            <a:prstGeom prst="rect">
              <a:avLst/>
            </a:prstGeom>
          </p:spPr>
        </p:pic>
        <p:pic>
          <p:nvPicPr>
            <p:cNvPr id="6" name="图片 5" descr="frame_00008"/>
            <p:cNvPicPr/>
            <p:nvPr/>
          </p:nvPicPr>
          <p:blipFill>
            <a:blip r:embed="rId136"/>
            <a:stretch>
              <a:fillRect/>
            </a:stretch>
          </p:blipFill>
          <p:spPr>
            <a:xfrm>
              <a:off x="3649" y="504"/>
              <a:ext cx="2993" cy="1860"/>
            </a:xfrm>
            <a:prstGeom prst="rect">
              <a:avLst/>
            </a:prstGeom>
          </p:spPr>
        </p:pic>
        <p:pic>
          <p:nvPicPr>
            <p:cNvPr id="23" name="图片 22" descr="frame_00016"/>
            <p:cNvPicPr/>
            <p:nvPr/>
          </p:nvPicPr>
          <p:blipFill>
            <a:blip r:embed="rId137"/>
            <a:stretch>
              <a:fillRect/>
            </a:stretch>
          </p:blipFill>
          <p:spPr>
            <a:xfrm>
              <a:off x="392" y="2910"/>
              <a:ext cx="2993" cy="1860"/>
            </a:xfrm>
            <a:prstGeom prst="rect">
              <a:avLst/>
            </a:prstGeom>
          </p:spPr>
        </p:pic>
        <p:pic>
          <p:nvPicPr>
            <p:cNvPr id="26" name="图片 25" descr="frame_00024"/>
            <p:cNvPicPr/>
            <p:nvPr/>
          </p:nvPicPr>
          <p:blipFill>
            <a:blip r:embed="rId138"/>
            <a:stretch>
              <a:fillRect/>
            </a:stretch>
          </p:blipFill>
          <p:spPr>
            <a:xfrm>
              <a:off x="3649" y="2910"/>
              <a:ext cx="2993" cy="1860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139"/>
            <a:stretch>
              <a:fillRect/>
            </a:stretch>
          </p:blipFill>
          <p:spPr>
            <a:xfrm>
              <a:off x="7046" y="504"/>
              <a:ext cx="3844" cy="1860"/>
            </a:xfrm>
            <a:prstGeom prst="rect">
              <a:avLst/>
            </a:prstGeom>
            <a:ln w="98425">
              <a:solidFill>
                <a:schemeClr val="accent1">
                  <a:alpha val="0"/>
                </a:schemeClr>
              </a:solidFill>
            </a:ln>
          </p:spPr>
        </p:pic>
        <p:grpSp>
          <p:nvGrpSpPr>
            <p:cNvPr id="87" name="组合 86"/>
            <p:cNvGrpSpPr/>
            <p:nvPr/>
          </p:nvGrpSpPr>
          <p:grpSpPr>
            <a:xfrm>
              <a:off x="7105" y="3340"/>
              <a:ext cx="4357" cy="3449"/>
              <a:chOff x="6514" y="4060"/>
              <a:chExt cx="4689" cy="3832"/>
            </a:xfrm>
          </p:grpSpPr>
          <p:sp>
            <p:nvSpPr>
              <p:cNvPr id="33" name="立方体 32"/>
              <p:cNvSpPr/>
              <p:nvPr/>
            </p:nvSpPr>
            <p:spPr>
              <a:xfrm flipH="1">
                <a:off x="6623" y="4060"/>
                <a:ext cx="4580" cy="3832"/>
              </a:xfrm>
              <a:prstGeom prst="cube">
                <a:avLst>
                  <a:gd name="adj" fmla="val 55375"/>
                </a:avLst>
              </a:prstGeom>
              <a:solidFill>
                <a:schemeClr val="bg1">
                  <a:lumMod val="95000"/>
                  <a:alpha val="44000"/>
                </a:schemeClr>
              </a:solidFill>
              <a:ln w="28575" cmpd="sng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34" name="图片 33" descr="65301966f8f019001d7cabb2"/>
              <p:cNvPicPr>
                <a:picLocks noChangeAspect="1"/>
              </p:cNvPicPr>
              <p:nvPr/>
            </p:nvPicPr>
            <p:blipFill>
              <a:blip r:embed="rId139">
                <a:alphaModFix amt="60000"/>
              </a:blip>
              <a:stretch>
                <a:fillRect/>
              </a:stretch>
            </p:blipFill>
            <p:spPr>
              <a:xfrm>
                <a:off x="6969" y="4144"/>
                <a:ext cx="2219" cy="1249"/>
              </a:xfrm>
              <a:prstGeom prst="rect">
                <a:avLst/>
              </a:prstGeom>
            </p:spPr>
          </p:pic>
          <p:sp>
            <p:nvSpPr>
              <p:cNvPr id="35" name="矩形 34"/>
              <p:cNvSpPr/>
              <p:nvPr/>
            </p:nvSpPr>
            <p:spPr>
              <a:xfrm>
                <a:off x="8257" y="4370"/>
                <a:ext cx="595" cy="631"/>
              </a:xfrm>
              <a:prstGeom prst="rect">
                <a:avLst/>
              </a:prstGeom>
              <a:noFill/>
              <a:ln w="28575" cmpd="sng">
                <a:solidFill>
                  <a:srgbClr val="FFFF00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36" name="图片 35" descr="65301966f8f019001d7cabb2"/>
              <p:cNvPicPr>
                <a:picLocks noChangeAspect="1"/>
              </p:cNvPicPr>
              <p:nvPr>
                <p:custDataLst>
                  <p:tags r:id="rId140"/>
                </p:custDataLst>
              </p:nvPr>
            </p:nvPicPr>
            <p:blipFill>
              <a:blip r:embed="rId139">
                <a:alphaModFix amt="60000"/>
              </a:blip>
              <a:stretch>
                <a:fillRect/>
              </a:stretch>
            </p:blipFill>
            <p:spPr>
              <a:xfrm>
                <a:off x="7571" y="4912"/>
                <a:ext cx="2219" cy="1249"/>
              </a:xfrm>
              <a:prstGeom prst="rect">
                <a:avLst/>
              </a:prstGeom>
              <a:effectLst/>
            </p:spPr>
          </p:pic>
          <p:sp>
            <p:nvSpPr>
              <p:cNvPr id="37" name="矩形 36"/>
              <p:cNvSpPr/>
              <p:nvPr>
                <p:custDataLst>
                  <p:tags r:id="rId141"/>
                </p:custDataLst>
              </p:nvPr>
            </p:nvSpPr>
            <p:spPr>
              <a:xfrm>
                <a:off x="8859" y="5138"/>
                <a:ext cx="595" cy="631"/>
              </a:xfrm>
              <a:prstGeom prst="rect">
                <a:avLst/>
              </a:prstGeom>
              <a:noFill/>
              <a:ln w="28575" cmpd="sng">
                <a:solidFill>
                  <a:srgbClr val="FFFF00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49" name="图片 48" descr="65301966f8f019001d7cabb2"/>
              <p:cNvPicPr>
                <a:picLocks noChangeAspect="1"/>
              </p:cNvPicPr>
              <p:nvPr>
                <p:custDataLst>
                  <p:tags r:id="rId142"/>
                </p:custDataLst>
              </p:nvPr>
            </p:nvPicPr>
            <p:blipFill>
              <a:blip r:embed="rId139">
                <a:alphaModFix amt="60000"/>
              </a:blip>
              <a:stretch>
                <a:fillRect/>
              </a:stretch>
            </p:blipFill>
            <p:spPr>
              <a:xfrm>
                <a:off x="8241" y="5704"/>
                <a:ext cx="2219" cy="1249"/>
              </a:xfrm>
              <a:prstGeom prst="rect">
                <a:avLst/>
              </a:prstGeom>
              <a:effectLst/>
            </p:spPr>
          </p:pic>
          <p:sp>
            <p:nvSpPr>
              <p:cNvPr id="50" name="矩形 49"/>
              <p:cNvSpPr/>
              <p:nvPr>
                <p:custDataLst>
                  <p:tags r:id="rId143"/>
                </p:custDataLst>
              </p:nvPr>
            </p:nvSpPr>
            <p:spPr>
              <a:xfrm>
                <a:off x="9466" y="5913"/>
                <a:ext cx="595" cy="631"/>
              </a:xfrm>
              <a:prstGeom prst="rect">
                <a:avLst/>
              </a:prstGeom>
              <a:noFill/>
              <a:ln w="28575" cmpd="sng">
                <a:solidFill>
                  <a:srgbClr val="FFFF00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58" name="直接连接符 57"/>
              <p:cNvCxnSpPr/>
              <p:nvPr/>
            </p:nvCxnSpPr>
            <p:spPr>
              <a:xfrm>
                <a:off x="8851" y="4390"/>
                <a:ext cx="595" cy="758"/>
              </a:xfrm>
              <a:prstGeom prst="line">
                <a:avLst/>
              </a:prstGeom>
              <a:ln w="28575" cap="flat" cmpd="sng" algn="ctr">
                <a:solidFill>
                  <a:srgbClr val="FFFF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>
                <p:custDataLst>
                  <p:tags r:id="rId144"/>
                </p:custDataLst>
              </p:nvPr>
            </p:nvCxnSpPr>
            <p:spPr>
              <a:xfrm>
                <a:off x="8262" y="4382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FF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>
                <p:custDataLst>
                  <p:tags r:id="rId145"/>
                </p:custDataLst>
              </p:nvPr>
            </p:nvCxnSpPr>
            <p:spPr>
              <a:xfrm>
                <a:off x="8265" y="5003"/>
                <a:ext cx="586" cy="766"/>
              </a:xfrm>
              <a:prstGeom prst="line">
                <a:avLst/>
              </a:prstGeom>
              <a:ln w="28575" cap="flat" cmpd="sng" algn="ctr">
                <a:solidFill>
                  <a:srgbClr val="FFFF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>
                <p:custDataLst>
                  <p:tags r:id="rId146"/>
                </p:custDataLst>
              </p:nvPr>
            </p:nvCxnSpPr>
            <p:spPr>
              <a:xfrm>
                <a:off x="9458" y="5149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FF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>
                <p:custDataLst>
                  <p:tags r:id="rId147"/>
                </p:custDataLst>
              </p:nvPr>
            </p:nvCxnSpPr>
            <p:spPr>
              <a:xfrm>
                <a:off x="8853" y="5133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FF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>
                <p:custDataLst>
                  <p:tags r:id="rId148"/>
                </p:custDataLst>
              </p:nvPr>
            </p:nvCxnSpPr>
            <p:spPr>
              <a:xfrm>
                <a:off x="8844" y="5757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FF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66" name="图片 65" descr="65301966f8f019001d7cabb2"/>
              <p:cNvPicPr>
                <a:picLocks noChangeAspect="1"/>
              </p:cNvPicPr>
              <p:nvPr>
                <p:custDataLst>
                  <p:tags r:id="rId149"/>
                </p:custDataLst>
              </p:nvPr>
            </p:nvPicPr>
            <p:blipFill>
              <a:blip r:embed="rId139">
                <a:alphaModFix amt="80000"/>
              </a:blip>
              <a:stretch>
                <a:fillRect/>
              </a:stretch>
            </p:blipFill>
            <p:spPr>
              <a:xfrm>
                <a:off x="8805" y="6465"/>
                <a:ext cx="2219" cy="1249"/>
              </a:xfrm>
              <a:prstGeom prst="rect">
                <a:avLst/>
              </a:prstGeom>
              <a:effectLst/>
            </p:spPr>
          </p:pic>
          <p:sp>
            <p:nvSpPr>
              <p:cNvPr id="69" name="矩形 68"/>
              <p:cNvSpPr/>
              <p:nvPr>
                <p:custDataLst>
                  <p:tags r:id="rId150"/>
                </p:custDataLst>
              </p:nvPr>
            </p:nvSpPr>
            <p:spPr>
              <a:xfrm>
                <a:off x="10030" y="6674"/>
                <a:ext cx="595" cy="631"/>
              </a:xfrm>
              <a:prstGeom prst="rect">
                <a:avLst/>
              </a:prstGeom>
              <a:noFill/>
              <a:ln w="28575" cmpd="sng">
                <a:solidFill>
                  <a:srgbClr val="FFFF00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0" name="直接连接符 69"/>
              <p:cNvCxnSpPr/>
              <p:nvPr>
                <p:custDataLst>
                  <p:tags r:id="rId151"/>
                </p:custDataLst>
              </p:nvPr>
            </p:nvCxnSpPr>
            <p:spPr>
              <a:xfrm>
                <a:off x="10031" y="5909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FF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>
                <p:custDataLst>
                  <p:tags r:id="rId152"/>
                </p:custDataLst>
              </p:nvPr>
            </p:nvCxnSpPr>
            <p:spPr>
              <a:xfrm>
                <a:off x="9470" y="5913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FF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>
                <p:custDataLst>
                  <p:tags r:id="rId153"/>
                </p:custDataLst>
              </p:nvPr>
            </p:nvCxnSpPr>
            <p:spPr>
              <a:xfrm>
                <a:off x="9472" y="6531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FF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4" name="直接箭头连接符 73"/>
              <p:cNvCxnSpPr/>
              <p:nvPr/>
            </p:nvCxnSpPr>
            <p:spPr>
              <a:xfrm>
                <a:off x="6514" y="6054"/>
                <a:ext cx="1822" cy="182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6" name="文本框 75"/>
              <p:cNvSpPr txBox="1"/>
              <p:nvPr/>
            </p:nvSpPr>
            <p:spPr>
              <a:xfrm>
                <a:off x="6623" y="7070"/>
                <a:ext cx="1349" cy="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 i="1">
                    <a:latin typeface="Times New Roman Bold Italic" panose="02020503050405090304" charset="0"/>
                    <a:cs typeface="Times New Roman Bold Italic" panose="02020503050405090304" charset="0"/>
                  </a:rPr>
                  <a:t>T = x</a:t>
                </a:r>
                <a:endParaRPr lang="en-US" altLang="zh-CN" b="1" i="1">
                  <a:latin typeface="Times New Roman Bold Italic" panose="02020503050405090304" charset="0"/>
                  <a:cs typeface="Times New Roman Bold Italic" panose="02020503050405090304" charset="0"/>
                </a:endParaRPr>
              </a:p>
            </p:txBody>
          </p:sp>
        </p:grpSp>
        <p:sp>
          <p:nvSpPr>
            <p:cNvPr id="125" name="等腰三角形 124"/>
            <p:cNvSpPr/>
            <p:nvPr/>
          </p:nvSpPr>
          <p:spPr>
            <a:xfrm rot="5400000">
              <a:off x="8752" y="1286"/>
              <a:ext cx="624" cy="43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27" name="直接箭头连接符 126"/>
            <p:cNvCxnSpPr/>
            <p:nvPr/>
          </p:nvCxnSpPr>
          <p:spPr>
            <a:xfrm>
              <a:off x="8845" y="2536"/>
              <a:ext cx="10" cy="63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8" name="文本框 127"/>
            <p:cNvSpPr txBox="1"/>
            <p:nvPr/>
          </p:nvSpPr>
          <p:spPr>
            <a:xfrm>
              <a:off x="9535" y="2536"/>
              <a:ext cx="222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 i="1">
                  <a:latin typeface="Times New Roman Bold Italic" panose="02020503050405090304" charset="0"/>
                  <a:cs typeface="Times New Roman Bold Italic" panose="02020503050405090304" charset="0"/>
                </a:rPr>
                <a:t>Video Patch </a:t>
              </a:r>
              <a:endParaRPr lang="en-US" altLang="zh-CN" b="1" i="1">
                <a:latin typeface="Times New Roman Bold Italic" panose="02020503050405090304" charset="0"/>
                <a:cs typeface="Times New Roman Bold Italic" panose="02020503050405090304" charset="0"/>
              </a:endParaRPr>
            </a:p>
            <a:p>
              <a:pPr algn="ctr"/>
              <a:r>
                <a:rPr lang="en-US" altLang="zh-CN" b="1" i="1">
                  <a:latin typeface="Times New Roman Bold Italic" panose="02020503050405090304" charset="0"/>
                  <a:cs typeface="Times New Roman Bold Italic" panose="02020503050405090304" charset="0"/>
                </a:rPr>
                <a:t>Window</a:t>
              </a:r>
              <a:endParaRPr lang="en-US" altLang="zh-CN" b="1" i="1">
                <a:latin typeface="Times New Roman Bold Italic" panose="02020503050405090304" charset="0"/>
                <a:cs typeface="Times New Roman Bold Italic" panose="02020503050405090304" charset="0"/>
              </a:endParaRPr>
            </a:p>
          </p:txBody>
        </p:sp>
        <p:grpSp>
          <p:nvGrpSpPr>
            <p:cNvPr id="140" name="组合 139"/>
            <p:cNvGrpSpPr/>
            <p:nvPr/>
          </p:nvGrpSpPr>
          <p:grpSpPr>
            <a:xfrm rot="0">
              <a:off x="577" y="7892"/>
              <a:ext cx="3087" cy="3542"/>
              <a:chOff x="1862" y="7680"/>
              <a:chExt cx="3087" cy="3542"/>
            </a:xfrm>
          </p:grpSpPr>
          <p:sp>
            <p:nvSpPr>
              <p:cNvPr id="223" name="立方体 222"/>
              <p:cNvSpPr/>
              <p:nvPr/>
            </p:nvSpPr>
            <p:spPr>
              <a:xfrm flipH="1">
                <a:off x="1862" y="7681"/>
                <a:ext cx="3087" cy="3541"/>
              </a:xfrm>
              <a:prstGeom prst="cube">
                <a:avLst>
                  <a:gd name="adj" fmla="val 56980"/>
                </a:avLst>
              </a:prstGeom>
              <a:solidFill>
                <a:schemeClr val="bg1">
                  <a:lumMod val="95000"/>
                  <a:alpha val="44000"/>
                </a:schemeClr>
              </a:solidFill>
              <a:ln w="28575" cmpd="sng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2332" y="7921"/>
                <a:ext cx="595" cy="631"/>
              </a:xfrm>
              <a:prstGeom prst="rect">
                <a:avLst/>
              </a:prstGeom>
              <a:noFill/>
              <a:ln w="28575" cmpd="sng">
                <a:solidFill>
                  <a:srgbClr val="FF0000">
                    <a:alpha val="73000"/>
                  </a:srgb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9" name="矩形 198"/>
              <p:cNvSpPr/>
              <p:nvPr>
                <p:custDataLst>
                  <p:tags r:id="rId154"/>
                </p:custDataLst>
              </p:nvPr>
            </p:nvSpPr>
            <p:spPr>
              <a:xfrm>
                <a:off x="2934" y="8689"/>
                <a:ext cx="595" cy="631"/>
              </a:xfrm>
              <a:prstGeom prst="rect">
                <a:avLst/>
              </a:prstGeom>
              <a:noFill/>
              <a:ln w="28575" cmpd="sng">
                <a:solidFill>
                  <a:srgbClr val="FF0000">
                    <a:alpha val="73000"/>
                  </a:srgb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3" name="矩形 202"/>
              <p:cNvSpPr/>
              <p:nvPr>
                <p:custDataLst>
                  <p:tags r:id="rId155"/>
                </p:custDataLst>
              </p:nvPr>
            </p:nvSpPr>
            <p:spPr>
              <a:xfrm>
                <a:off x="3563" y="9481"/>
                <a:ext cx="542" cy="609"/>
              </a:xfrm>
              <a:prstGeom prst="rect">
                <a:avLst/>
              </a:prstGeom>
              <a:noFill/>
              <a:ln w="28575" cmpd="sng">
                <a:solidFill>
                  <a:srgbClr val="FF0000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04" name="直接连接符 203"/>
              <p:cNvCxnSpPr/>
              <p:nvPr/>
            </p:nvCxnSpPr>
            <p:spPr>
              <a:xfrm>
                <a:off x="2926" y="7941"/>
                <a:ext cx="595" cy="758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48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>
                <p:custDataLst>
                  <p:tags r:id="rId156"/>
                </p:custDataLst>
              </p:nvPr>
            </p:nvCxnSpPr>
            <p:spPr>
              <a:xfrm>
                <a:off x="2337" y="7933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3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/>
              <p:cNvCxnSpPr/>
              <p:nvPr>
                <p:custDataLst>
                  <p:tags r:id="rId157"/>
                </p:custDataLst>
              </p:nvPr>
            </p:nvCxnSpPr>
            <p:spPr>
              <a:xfrm>
                <a:off x="2340" y="8554"/>
                <a:ext cx="586" cy="766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3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>
                <p:custDataLst>
                  <p:tags r:id="rId158"/>
                </p:custDataLst>
              </p:nvPr>
            </p:nvCxnSpPr>
            <p:spPr>
              <a:xfrm>
                <a:off x="3533" y="8700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46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/>
              <p:cNvCxnSpPr/>
              <p:nvPr>
                <p:custDataLst>
                  <p:tags r:id="rId159"/>
                </p:custDataLst>
              </p:nvPr>
            </p:nvCxnSpPr>
            <p:spPr>
              <a:xfrm>
                <a:off x="2928" y="8684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>
                <p:custDataLst>
                  <p:tags r:id="rId160"/>
                </p:custDataLst>
              </p:nvPr>
            </p:nvCxnSpPr>
            <p:spPr>
              <a:xfrm>
                <a:off x="2919" y="9308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0000"/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4" name="直接连接符 213"/>
              <p:cNvCxnSpPr/>
              <p:nvPr>
                <p:custDataLst>
                  <p:tags r:id="rId161"/>
                </p:custDataLst>
              </p:nvPr>
            </p:nvCxnSpPr>
            <p:spPr>
              <a:xfrm>
                <a:off x="4106" y="9460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36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5" name="直接连接符 214"/>
              <p:cNvCxnSpPr/>
              <p:nvPr>
                <p:custDataLst>
                  <p:tags r:id="rId162"/>
                </p:custDataLst>
              </p:nvPr>
            </p:nvCxnSpPr>
            <p:spPr>
              <a:xfrm>
                <a:off x="3545" y="9464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6" name="直接连接符 215"/>
              <p:cNvCxnSpPr/>
              <p:nvPr>
                <p:custDataLst>
                  <p:tags r:id="rId163"/>
                </p:custDataLst>
              </p:nvPr>
            </p:nvCxnSpPr>
            <p:spPr>
              <a:xfrm>
                <a:off x="3547" y="10082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30" name="图片 129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64000"/>
              </a:blip>
              <a:stretch>
                <a:fillRect/>
              </a:stretch>
            </p:blipFill>
            <p:spPr>
              <a:xfrm>
                <a:off x="3083" y="9168"/>
                <a:ext cx="1236" cy="1236"/>
              </a:xfrm>
              <a:prstGeom prst="rect">
                <a:avLst/>
              </a:prstGeom>
            </p:spPr>
          </p:pic>
          <p:pic>
            <p:nvPicPr>
              <p:cNvPr id="129" name="图片 128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66000"/>
              </a:blip>
              <a:stretch>
                <a:fillRect/>
              </a:stretch>
            </p:blipFill>
            <p:spPr>
              <a:xfrm>
                <a:off x="3649" y="9915"/>
                <a:ext cx="1236" cy="1236"/>
              </a:xfrm>
              <a:prstGeom prst="rect">
                <a:avLst/>
              </a:prstGeom>
            </p:spPr>
          </p:pic>
          <p:sp>
            <p:nvSpPr>
              <p:cNvPr id="213" name="矩形 212"/>
              <p:cNvSpPr/>
              <p:nvPr>
                <p:custDataLst>
                  <p:tags r:id="rId164"/>
                </p:custDataLst>
              </p:nvPr>
            </p:nvSpPr>
            <p:spPr>
              <a:xfrm>
                <a:off x="4181" y="10270"/>
                <a:ext cx="518" cy="581"/>
              </a:xfrm>
              <a:prstGeom prst="rect">
                <a:avLst/>
              </a:prstGeom>
              <a:noFill/>
              <a:ln w="28575" cmpd="sng">
                <a:solidFill>
                  <a:srgbClr val="FF0000">
                    <a:alpha val="31000"/>
                  </a:srgb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33" name="图片 132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50000"/>
              </a:blip>
              <a:stretch>
                <a:fillRect/>
              </a:stretch>
            </p:blipFill>
            <p:spPr>
              <a:xfrm>
                <a:off x="2474" y="8417"/>
                <a:ext cx="1236" cy="1236"/>
              </a:xfrm>
              <a:prstGeom prst="rect">
                <a:avLst/>
              </a:prstGeom>
            </p:spPr>
          </p:pic>
          <p:pic>
            <p:nvPicPr>
              <p:cNvPr id="136" name="图片 135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50000"/>
              </a:blip>
              <a:stretch>
                <a:fillRect/>
              </a:stretch>
            </p:blipFill>
            <p:spPr>
              <a:xfrm>
                <a:off x="1911" y="7680"/>
                <a:ext cx="1137" cy="1137"/>
              </a:xfrm>
              <a:prstGeom prst="rect">
                <a:avLst/>
              </a:prstGeom>
            </p:spPr>
          </p:pic>
        </p:grpSp>
        <p:cxnSp>
          <p:nvCxnSpPr>
            <p:cNvPr id="195" name="直接箭头连接符 194"/>
            <p:cNvCxnSpPr/>
            <p:nvPr/>
          </p:nvCxnSpPr>
          <p:spPr>
            <a:xfrm>
              <a:off x="218" y="9693"/>
              <a:ext cx="1822" cy="1827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6" name="文本框 195"/>
            <p:cNvSpPr txBox="1"/>
            <p:nvPr/>
          </p:nvSpPr>
          <p:spPr>
            <a:xfrm>
              <a:off x="463" y="10784"/>
              <a:ext cx="134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 i="1">
                  <a:latin typeface="Times New Roman Bold Italic" panose="02020503050405090304" charset="0"/>
                  <a:cs typeface="Times New Roman Bold Italic" panose="02020503050405090304" charset="0"/>
                </a:rPr>
                <a:t>T=4</a:t>
              </a:r>
              <a:endParaRPr lang="en-US" altLang="zh-CN" b="1" i="1">
                <a:latin typeface="Times New Roman Bold Italic" panose="02020503050405090304" charset="0"/>
                <a:cs typeface="Times New Roman Bold Italic" panose="02020503050405090304" charset="0"/>
              </a:endParaRPr>
            </a:p>
          </p:txBody>
        </p:sp>
        <p:grpSp>
          <p:nvGrpSpPr>
            <p:cNvPr id="201" name="组合 200"/>
            <p:cNvGrpSpPr/>
            <p:nvPr/>
          </p:nvGrpSpPr>
          <p:grpSpPr>
            <a:xfrm>
              <a:off x="626" y="6049"/>
              <a:ext cx="3087" cy="3542"/>
              <a:chOff x="1862" y="7680"/>
              <a:chExt cx="3087" cy="3542"/>
            </a:xfrm>
          </p:grpSpPr>
          <p:sp>
            <p:nvSpPr>
              <p:cNvPr id="207" name="立方体 206"/>
              <p:cNvSpPr/>
              <p:nvPr/>
            </p:nvSpPr>
            <p:spPr>
              <a:xfrm flipH="1">
                <a:off x="1862" y="7681"/>
                <a:ext cx="3087" cy="3541"/>
              </a:xfrm>
              <a:prstGeom prst="cube">
                <a:avLst>
                  <a:gd name="adj" fmla="val 56980"/>
                </a:avLst>
              </a:prstGeom>
              <a:solidFill>
                <a:schemeClr val="bg1">
                  <a:lumMod val="95000"/>
                  <a:alpha val="44000"/>
                </a:schemeClr>
              </a:solidFill>
              <a:ln w="28575" cmpd="sng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8" name="矩形 207"/>
              <p:cNvSpPr/>
              <p:nvPr/>
            </p:nvSpPr>
            <p:spPr>
              <a:xfrm>
                <a:off x="2332" y="7921"/>
                <a:ext cx="595" cy="631"/>
              </a:xfrm>
              <a:prstGeom prst="rect">
                <a:avLst/>
              </a:prstGeom>
              <a:noFill/>
              <a:ln w="28575" cmpd="sng">
                <a:solidFill>
                  <a:srgbClr val="FF0000">
                    <a:alpha val="73000"/>
                  </a:srgb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7" name="矩形 216"/>
              <p:cNvSpPr/>
              <p:nvPr>
                <p:custDataLst>
                  <p:tags r:id="rId165"/>
                </p:custDataLst>
              </p:nvPr>
            </p:nvSpPr>
            <p:spPr>
              <a:xfrm>
                <a:off x="2934" y="8689"/>
                <a:ext cx="595" cy="631"/>
              </a:xfrm>
              <a:prstGeom prst="rect">
                <a:avLst/>
              </a:prstGeom>
              <a:noFill/>
              <a:ln w="28575" cmpd="sng">
                <a:solidFill>
                  <a:srgbClr val="FF0000">
                    <a:alpha val="73000"/>
                  </a:srgb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9" name="矩形 218"/>
              <p:cNvSpPr/>
              <p:nvPr>
                <p:custDataLst>
                  <p:tags r:id="rId166"/>
                </p:custDataLst>
              </p:nvPr>
            </p:nvSpPr>
            <p:spPr>
              <a:xfrm>
                <a:off x="3563" y="9481"/>
                <a:ext cx="542" cy="609"/>
              </a:xfrm>
              <a:prstGeom prst="rect">
                <a:avLst/>
              </a:prstGeom>
              <a:noFill/>
              <a:ln w="28575" cmpd="sng">
                <a:solidFill>
                  <a:srgbClr val="FF0000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20" name="直接连接符 219"/>
              <p:cNvCxnSpPr/>
              <p:nvPr/>
            </p:nvCxnSpPr>
            <p:spPr>
              <a:xfrm>
                <a:off x="2926" y="7941"/>
                <a:ext cx="595" cy="758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48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/>
              <p:cNvCxnSpPr/>
              <p:nvPr>
                <p:custDataLst>
                  <p:tags r:id="rId167"/>
                </p:custDataLst>
              </p:nvPr>
            </p:nvCxnSpPr>
            <p:spPr>
              <a:xfrm>
                <a:off x="2337" y="7933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3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1" name="直接连接符 230"/>
              <p:cNvCxnSpPr/>
              <p:nvPr>
                <p:custDataLst>
                  <p:tags r:id="rId168"/>
                </p:custDataLst>
              </p:nvPr>
            </p:nvCxnSpPr>
            <p:spPr>
              <a:xfrm>
                <a:off x="2340" y="8554"/>
                <a:ext cx="586" cy="766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3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2" name="直接连接符 231"/>
              <p:cNvCxnSpPr/>
              <p:nvPr>
                <p:custDataLst>
                  <p:tags r:id="rId169"/>
                </p:custDataLst>
              </p:nvPr>
            </p:nvCxnSpPr>
            <p:spPr>
              <a:xfrm>
                <a:off x="3533" y="8700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46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3" name="直接连接符 232"/>
              <p:cNvCxnSpPr/>
              <p:nvPr>
                <p:custDataLst>
                  <p:tags r:id="rId170"/>
                </p:custDataLst>
              </p:nvPr>
            </p:nvCxnSpPr>
            <p:spPr>
              <a:xfrm>
                <a:off x="2928" y="8684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4" name="直接连接符 233"/>
              <p:cNvCxnSpPr/>
              <p:nvPr>
                <p:custDataLst>
                  <p:tags r:id="rId171"/>
                </p:custDataLst>
              </p:nvPr>
            </p:nvCxnSpPr>
            <p:spPr>
              <a:xfrm>
                <a:off x="2919" y="9308"/>
                <a:ext cx="635" cy="782"/>
              </a:xfrm>
              <a:prstGeom prst="line">
                <a:avLst/>
              </a:prstGeom>
              <a:ln w="28575" cap="flat" cmpd="sng" algn="ctr">
                <a:solidFill>
                  <a:srgbClr val="FF0000"/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 234"/>
              <p:cNvCxnSpPr/>
              <p:nvPr>
                <p:custDataLst>
                  <p:tags r:id="rId172"/>
                </p:custDataLst>
              </p:nvPr>
            </p:nvCxnSpPr>
            <p:spPr>
              <a:xfrm>
                <a:off x="4106" y="9460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36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/>
              <p:cNvCxnSpPr/>
              <p:nvPr>
                <p:custDataLst>
                  <p:tags r:id="rId173"/>
                </p:custDataLst>
              </p:nvPr>
            </p:nvCxnSpPr>
            <p:spPr>
              <a:xfrm>
                <a:off x="3545" y="9464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7" name="直接连接符 236"/>
              <p:cNvCxnSpPr/>
              <p:nvPr>
                <p:custDataLst>
                  <p:tags r:id="rId174"/>
                </p:custDataLst>
              </p:nvPr>
            </p:nvCxnSpPr>
            <p:spPr>
              <a:xfrm>
                <a:off x="3547" y="10082"/>
                <a:ext cx="593" cy="782"/>
              </a:xfrm>
              <a:prstGeom prst="line">
                <a:avLst/>
              </a:prstGeom>
              <a:ln w="28575" cap="flat" cmpd="sng" algn="ctr">
                <a:solidFill>
                  <a:srgbClr val="FF0000">
                    <a:alpha val="70000"/>
                  </a:srgbClr>
                </a:solidFill>
                <a:prstDash val="sys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238" name="图片 237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64000"/>
              </a:blip>
              <a:stretch>
                <a:fillRect/>
              </a:stretch>
            </p:blipFill>
            <p:spPr>
              <a:xfrm>
                <a:off x="3083" y="9168"/>
                <a:ext cx="1236" cy="1236"/>
              </a:xfrm>
              <a:prstGeom prst="rect">
                <a:avLst/>
              </a:prstGeom>
            </p:spPr>
          </p:pic>
          <p:pic>
            <p:nvPicPr>
              <p:cNvPr id="239" name="图片 238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66000"/>
              </a:blip>
              <a:stretch>
                <a:fillRect/>
              </a:stretch>
            </p:blipFill>
            <p:spPr>
              <a:xfrm>
                <a:off x="3649" y="9915"/>
                <a:ext cx="1236" cy="1236"/>
              </a:xfrm>
              <a:prstGeom prst="rect">
                <a:avLst/>
              </a:prstGeom>
            </p:spPr>
          </p:pic>
          <p:sp>
            <p:nvSpPr>
              <p:cNvPr id="240" name="矩形 239"/>
              <p:cNvSpPr/>
              <p:nvPr>
                <p:custDataLst>
                  <p:tags r:id="rId175"/>
                </p:custDataLst>
              </p:nvPr>
            </p:nvSpPr>
            <p:spPr>
              <a:xfrm>
                <a:off x="4181" y="10270"/>
                <a:ext cx="518" cy="581"/>
              </a:xfrm>
              <a:prstGeom prst="rect">
                <a:avLst/>
              </a:prstGeom>
              <a:noFill/>
              <a:ln w="28575" cmpd="sng">
                <a:solidFill>
                  <a:srgbClr val="FF0000">
                    <a:alpha val="31000"/>
                  </a:srgb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241" name="图片 240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50000"/>
              </a:blip>
              <a:stretch>
                <a:fillRect/>
              </a:stretch>
            </p:blipFill>
            <p:spPr>
              <a:xfrm>
                <a:off x="2474" y="8417"/>
                <a:ext cx="1236" cy="1236"/>
              </a:xfrm>
              <a:prstGeom prst="rect">
                <a:avLst/>
              </a:prstGeom>
            </p:spPr>
          </p:pic>
          <p:pic>
            <p:nvPicPr>
              <p:cNvPr id="242" name="图片 241" descr="415faa35-d92a-4344-a7ff-a7f25c6a3588"/>
              <p:cNvPicPr>
                <a:picLocks noChangeAspect="1"/>
              </p:cNvPicPr>
              <p:nvPr/>
            </p:nvPicPr>
            <p:blipFill>
              <a:blip r:embed="rId15">
                <a:alphaModFix amt="50000"/>
              </a:blip>
              <a:stretch>
                <a:fillRect/>
              </a:stretch>
            </p:blipFill>
            <p:spPr>
              <a:xfrm>
                <a:off x="1911" y="7680"/>
                <a:ext cx="1137" cy="1137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2" name="文本框 261"/>
                <p:cNvSpPr txBox="1"/>
                <p:nvPr/>
              </p:nvSpPr>
              <p:spPr>
                <a:xfrm>
                  <a:off x="3738" y="5923"/>
                  <a:ext cx="1479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𝑷𝒂𝒕𝒄𝒉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𝒘</m:t>
                            </m:r>
                          </m:sub>
                        </m:sSub>
                      </m:oMath>
                    </m:oMathPara>
                  </a14:m>
                  <a:endParaRPr lang="en-US" altLang="zh-CN" sz="1600" b="1"/>
                </a:p>
              </p:txBody>
            </p:sp>
          </mc:Choice>
          <mc:Fallback>
            <p:sp>
              <p:nvSpPr>
                <p:cNvPr id="262" name="文本框 2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8" y="5923"/>
                  <a:ext cx="1479" cy="531"/>
                </a:xfrm>
                <a:prstGeom prst="rect">
                  <a:avLst/>
                </a:prstGeom>
                <a:blipFill rotWithShape="1">
                  <a:blip r:embed="rId17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3" name="直接箭头连接符 262"/>
            <p:cNvCxnSpPr/>
            <p:nvPr/>
          </p:nvCxnSpPr>
          <p:spPr>
            <a:xfrm flipH="1">
              <a:off x="3905" y="11553"/>
              <a:ext cx="1312" cy="1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4" name="直接箭头连接符 263"/>
            <p:cNvCxnSpPr/>
            <p:nvPr/>
          </p:nvCxnSpPr>
          <p:spPr>
            <a:xfrm flipV="1">
              <a:off x="5159" y="10166"/>
              <a:ext cx="11" cy="119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5" name="文本框 264"/>
            <p:cNvSpPr txBox="1"/>
            <p:nvPr/>
          </p:nvSpPr>
          <p:spPr>
            <a:xfrm>
              <a:off x="4346" y="10973"/>
              <a:ext cx="57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 i="1">
                  <a:latin typeface="Times New Roman Bold Italic" panose="02020503050405090304" charset="0"/>
                  <a:cs typeface="Times New Roman Bold Italic" panose="02020503050405090304" charset="0"/>
                </a:rPr>
                <a:t>P</a:t>
              </a:r>
              <a:endParaRPr lang="en-US" altLang="zh-CN" b="1" i="1">
                <a:latin typeface="Times New Roman Bold Italic" panose="02020503050405090304" charset="0"/>
                <a:cs typeface="Times New Roman Bold Italic" panose="02020503050405090304" charset="0"/>
              </a:endParaRPr>
            </a:p>
          </p:txBody>
        </p:sp>
        <p:pic>
          <p:nvPicPr>
            <p:cNvPr id="267" name="图片 266" descr="415faa35-d92a-4344-a7ff-a7f25c6a3588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444" y="7814"/>
              <a:ext cx="1628" cy="1628"/>
            </a:xfrm>
            <a:prstGeom prst="rect">
              <a:avLst/>
            </a:prstGeom>
          </p:spPr>
        </p:pic>
        <p:cxnSp>
          <p:nvCxnSpPr>
            <p:cNvPr id="268" name="直接箭头连接符 267"/>
            <p:cNvCxnSpPr>
              <a:endCxn id="124" idx="0"/>
            </p:cNvCxnSpPr>
            <p:nvPr/>
          </p:nvCxnSpPr>
          <p:spPr>
            <a:xfrm flipV="1">
              <a:off x="5000" y="7522"/>
              <a:ext cx="3443" cy="55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3" name="直接连接符 272"/>
            <p:cNvCxnSpPr>
              <a:stCxn id="267" idx="1"/>
              <a:endCxn id="270" idx="3"/>
            </p:cNvCxnSpPr>
            <p:nvPr/>
          </p:nvCxnSpPr>
          <p:spPr>
            <a:xfrm>
              <a:off x="6444" y="8628"/>
              <a:ext cx="3913" cy="0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4" name="直接连接符 273"/>
            <p:cNvCxnSpPr>
              <a:stCxn id="267" idx="0"/>
              <a:endCxn id="271" idx="2"/>
            </p:cNvCxnSpPr>
            <p:nvPr/>
          </p:nvCxnSpPr>
          <p:spPr>
            <a:xfrm>
              <a:off x="7258" y="7814"/>
              <a:ext cx="0" cy="3507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5" name="直接连接符 274"/>
            <p:cNvCxnSpPr>
              <a:stCxn id="270" idx="0"/>
              <a:endCxn id="272" idx="2"/>
            </p:cNvCxnSpPr>
            <p:nvPr/>
          </p:nvCxnSpPr>
          <p:spPr>
            <a:xfrm>
              <a:off x="9543" y="7814"/>
              <a:ext cx="0" cy="3507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6" name="直接连接符 275"/>
            <p:cNvCxnSpPr>
              <a:stCxn id="271" idx="1"/>
              <a:endCxn id="272" idx="3"/>
            </p:cNvCxnSpPr>
            <p:nvPr/>
          </p:nvCxnSpPr>
          <p:spPr>
            <a:xfrm>
              <a:off x="6444" y="10507"/>
              <a:ext cx="3913" cy="0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88" name="组合 287"/>
            <p:cNvGrpSpPr/>
            <p:nvPr/>
          </p:nvGrpSpPr>
          <p:grpSpPr>
            <a:xfrm>
              <a:off x="919" y="12972"/>
              <a:ext cx="3912" cy="3534"/>
              <a:chOff x="6644" y="8004"/>
              <a:chExt cx="3912" cy="3534"/>
            </a:xfrm>
          </p:grpSpPr>
          <p:pic>
            <p:nvPicPr>
              <p:cNvPr id="280" name="图片 279" descr="ed99d279-30cd-4585-b8d9-018cb0fd2d2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929" y="9894"/>
                <a:ext cx="1627" cy="1627"/>
              </a:xfrm>
              <a:prstGeom prst="rect">
                <a:avLst/>
              </a:prstGeom>
            </p:spPr>
          </p:pic>
          <p:pic>
            <p:nvPicPr>
              <p:cNvPr id="281" name="图片 280" descr="2e8ed750-1950-462e-9cc6-a36bcf76022a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60" y="9912"/>
                <a:ext cx="1627" cy="1627"/>
              </a:xfrm>
              <a:prstGeom prst="rect">
                <a:avLst/>
              </a:prstGeom>
            </p:spPr>
          </p:pic>
          <p:pic>
            <p:nvPicPr>
              <p:cNvPr id="282" name="图片 281" descr="c78fc5e6-41cc-4022-a74e-25cfdd1c752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29" y="8004"/>
                <a:ext cx="1627" cy="1627"/>
              </a:xfrm>
              <a:prstGeom prst="rect">
                <a:avLst/>
              </a:prstGeom>
            </p:spPr>
          </p:pic>
          <p:pic>
            <p:nvPicPr>
              <p:cNvPr id="283" name="图片 282" descr="415faa35-d92a-4344-a7ff-a7f25c6a3588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44" y="8014"/>
                <a:ext cx="1628" cy="1628"/>
              </a:xfrm>
              <a:prstGeom prst="rect">
                <a:avLst/>
              </a:prstGeom>
            </p:spPr>
          </p:pic>
          <p:cxnSp>
            <p:nvCxnSpPr>
              <p:cNvPr id="284" name="直接连接符 283"/>
              <p:cNvCxnSpPr>
                <a:stCxn id="283" idx="1"/>
              </p:cNvCxnSpPr>
              <p:nvPr/>
            </p:nvCxnSpPr>
            <p:spPr>
              <a:xfrm>
                <a:off x="6644" y="8828"/>
                <a:ext cx="3913" cy="0"/>
              </a:xfrm>
              <a:prstGeom prst="line">
                <a:avLst/>
              </a:prstGeom>
              <a:ln w="635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5" name="直接连接符 284"/>
              <p:cNvCxnSpPr>
                <a:stCxn id="283" idx="0"/>
              </p:cNvCxnSpPr>
              <p:nvPr/>
            </p:nvCxnSpPr>
            <p:spPr>
              <a:xfrm>
                <a:off x="7458" y="8014"/>
                <a:ext cx="0" cy="3507"/>
              </a:xfrm>
              <a:prstGeom prst="line">
                <a:avLst/>
              </a:prstGeom>
              <a:ln w="635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6" name="直接连接符 285"/>
              <p:cNvCxnSpPr/>
              <p:nvPr/>
            </p:nvCxnSpPr>
            <p:spPr>
              <a:xfrm>
                <a:off x="9743" y="8014"/>
                <a:ext cx="0" cy="3507"/>
              </a:xfrm>
              <a:prstGeom prst="line">
                <a:avLst/>
              </a:prstGeom>
              <a:ln w="635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7" name="直接连接符 286"/>
              <p:cNvCxnSpPr/>
              <p:nvPr/>
            </p:nvCxnSpPr>
            <p:spPr>
              <a:xfrm>
                <a:off x="6644" y="10707"/>
                <a:ext cx="3913" cy="0"/>
              </a:xfrm>
              <a:prstGeom prst="line">
                <a:avLst/>
              </a:prstGeom>
              <a:ln w="635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89" name="椭圆 288"/>
            <p:cNvSpPr>
              <a:spLocks noChangeAspect="1"/>
            </p:cNvSpPr>
            <p:nvPr/>
          </p:nvSpPr>
          <p:spPr>
            <a:xfrm>
              <a:off x="4309" y="15964"/>
              <a:ext cx="283" cy="28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0" name="椭圆 289"/>
            <p:cNvSpPr>
              <a:spLocks noChangeAspect="1"/>
            </p:cNvSpPr>
            <p:nvPr/>
          </p:nvSpPr>
          <p:spPr>
            <a:xfrm>
              <a:off x="3455" y="15972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椭圆 290"/>
            <p:cNvSpPr>
              <a:spLocks noChangeAspect="1"/>
            </p:cNvSpPr>
            <p:nvPr/>
          </p:nvSpPr>
          <p:spPr>
            <a:xfrm>
              <a:off x="3453" y="15105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2" name="椭圆 291"/>
            <p:cNvSpPr>
              <a:spLocks noChangeAspect="1"/>
            </p:cNvSpPr>
            <p:nvPr/>
          </p:nvSpPr>
          <p:spPr>
            <a:xfrm>
              <a:off x="4309" y="15115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3" name="椭圆 292"/>
            <p:cNvSpPr>
              <a:spLocks noChangeAspect="1"/>
            </p:cNvSpPr>
            <p:nvPr/>
          </p:nvSpPr>
          <p:spPr>
            <a:xfrm>
              <a:off x="3453" y="14075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4" name="椭圆 293"/>
            <p:cNvSpPr>
              <a:spLocks noChangeAspect="1"/>
            </p:cNvSpPr>
            <p:nvPr/>
          </p:nvSpPr>
          <p:spPr>
            <a:xfrm>
              <a:off x="4309" y="14085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3453" y="13254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6" name="椭圆 295"/>
            <p:cNvSpPr>
              <a:spLocks noChangeAspect="1"/>
            </p:cNvSpPr>
            <p:nvPr/>
          </p:nvSpPr>
          <p:spPr>
            <a:xfrm>
              <a:off x="4309" y="13264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7" name="椭圆 296"/>
            <p:cNvSpPr>
              <a:spLocks noChangeAspect="1"/>
            </p:cNvSpPr>
            <p:nvPr/>
          </p:nvSpPr>
          <p:spPr>
            <a:xfrm>
              <a:off x="2024" y="16004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98" name="椭圆 297"/>
            <p:cNvSpPr>
              <a:spLocks noChangeAspect="1"/>
            </p:cNvSpPr>
            <p:nvPr/>
          </p:nvSpPr>
          <p:spPr>
            <a:xfrm>
              <a:off x="1170" y="16012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9" name="椭圆 298"/>
            <p:cNvSpPr>
              <a:spLocks noChangeAspect="1"/>
            </p:cNvSpPr>
            <p:nvPr/>
          </p:nvSpPr>
          <p:spPr>
            <a:xfrm>
              <a:off x="1168" y="15155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0" name="椭圆 299"/>
            <p:cNvSpPr>
              <a:spLocks noChangeAspect="1"/>
            </p:cNvSpPr>
            <p:nvPr/>
          </p:nvSpPr>
          <p:spPr>
            <a:xfrm>
              <a:off x="2024" y="15165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1" name="椭圆 300"/>
            <p:cNvSpPr>
              <a:spLocks noChangeAspect="1"/>
            </p:cNvSpPr>
            <p:nvPr/>
          </p:nvSpPr>
          <p:spPr>
            <a:xfrm>
              <a:off x="1168" y="14115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2" name="椭圆 301"/>
            <p:cNvSpPr>
              <a:spLocks noChangeAspect="1"/>
            </p:cNvSpPr>
            <p:nvPr/>
          </p:nvSpPr>
          <p:spPr>
            <a:xfrm>
              <a:off x="2024" y="14125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3" name="椭圆 302"/>
            <p:cNvSpPr>
              <a:spLocks noChangeAspect="1"/>
            </p:cNvSpPr>
            <p:nvPr/>
          </p:nvSpPr>
          <p:spPr>
            <a:xfrm>
              <a:off x="1168" y="13284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4" name="椭圆 303"/>
            <p:cNvSpPr>
              <a:spLocks noChangeAspect="1"/>
            </p:cNvSpPr>
            <p:nvPr/>
          </p:nvSpPr>
          <p:spPr>
            <a:xfrm>
              <a:off x="2024" y="13294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5" name="椭圆 304"/>
            <p:cNvSpPr>
              <a:spLocks noChangeAspect="1"/>
            </p:cNvSpPr>
            <p:nvPr/>
          </p:nvSpPr>
          <p:spPr>
            <a:xfrm>
              <a:off x="1055" y="16733"/>
              <a:ext cx="283" cy="28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6" name="文本框 305"/>
            <p:cNvSpPr txBox="1"/>
            <p:nvPr>
              <p:custDataLst>
                <p:tags r:id="rId177"/>
              </p:custDataLst>
            </p:nvPr>
          </p:nvSpPr>
          <p:spPr>
            <a:xfrm>
              <a:off x="1338" y="16559"/>
              <a:ext cx="1114" cy="50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600" i="1">
                  <a:solidFill>
                    <a:srgbClr val="FF0000"/>
                  </a:solidFill>
                  <a:latin typeface="Times New Roman Bold Italic" panose="02020503050405090304" charset="0"/>
                  <a:cs typeface="Times New Roman Bold Italic" panose="02020503050405090304" charset="0"/>
                </a:rPr>
                <a:t>query</a:t>
              </a:r>
              <a:endParaRPr lang="en-US" altLang="zh-CN" sz="1600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endParaRPr>
            </a:p>
          </p:txBody>
        </p:sp>
        <p:sp>
          <p:nvSpPr>
            <p:cNvPr id="307" name="椭圆 306"/>
            <p:cNvSpPr>
              <a:spLocks noChangeAspect="1"/>
            </p:cNvSpPr>
            <p:nvPr/>
          </p:nvSpPr>
          <p:spPr>
            <a:xfrm>
              <a:off x="2912" y="16733"/>
              <a:ext cx="283" cy="28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308" name="文本框 307"/>
            <p:cNvSpPr txBox="1"/>
            <p:nvPr>
              <p:custDataLst>
                <p:tags r:id="rId178"/>
              </p:custDataLst>
            </p:nvPr>
          </p:nvSpPr>
          <p:spPr>
            <a:xfrm>
              <a:off x="3146" y="16577"/>
              <a:ext cx="1825" cy="50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600" i="1">
                  <a:solidFill>
                    <a:schemeClr val="accent1">
                      <a:lumMod val="75000"/>
                    </a:schemeClr>
                  </a:solidFill>
                  <a:latin typeface="Times New Roman Bold Italic" panose="02020503050405090304" charset="0"/>
                  <a:cs typeface="Times New Roman Bold Italic" panose="02020503050405090304" charset="0"/>
                </a:rPr>
                <a:t>key, value</a:t>
              </a:r>
              <a:endParaRPr lang="en-US" altLang="zh-CN" sz="1600" i="1">
                <a:solidFill>
                  <a:schemeClr val="accent1">
                    <a:lumMod val="75000"/>
                  </a:schemeClr>
                </a:solidFill>
                <a:latin typeface="Times New Roman Bold Italic" panose="02020503050405090304" charset="0"/>
                <a:cs typeface="Times New Roman Bold Italic" panose="02020503050405090304" charset="0"/>
              </a:endParaRPr>
            </a:p>
          </p:txBody>
        </p:sp>
        <p:pic>
          <p:nvPicPr>
            <p:cNvPr id="309" name="图片 308" descr="415faa35-d92a-4344-a7ff-a7f25c6a3588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327" y="13138"/>
              <a:ext cx="1628" cy="1628"/>
            </a:xfrm>
            <a:prstGeom prst="rect">
              <a:avLst/>
            </a:prstGeom>
          </p:spPr>
        </p:pic>
        <p:pic>
          <p:nvPicPr>
            <p:cNvPr id="310" name="图片 309" descr="415faa35-d92a-4344-a7ff-a7f25c6a3588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469" y="14236"/>
              <a:ext cx="1231" cy="1231"/>
            </a:xfrm>
            <a:prstGeom prst="rect">
              <a:avLst/>
            </a:prstGeom>
          </p:spPr>
        </p:pic>
        <p:pic>
          <p:nvPicPr>
            <p:cNvPr id="311" name="图片 310" descr="415faa35-d92a-4344-a7ff-a7f25c6a3588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522" y="15182"/>
              <a:ext cx="1044" cy="1044"/>
            </a:xfrm>
            <a:prstGeom prst="rect">
              <a:avLst/>
            </a:prstGeom>
          </p:spPr>
        </p:pic>
        <p:cxnSp>
          <p:nvCxnSpPr>
            <p:cNvPr id="312" name="直接箭头连接符 311"/>
            <p:cNvCxnSpPr/>
            <p:nvPr/>
          </p:nvCxnSpPr>
          <p:spPr>
            <a:xfrm>
              <a:off x="7890" y="13138"/>
              <a:ext cx="1610" cy="208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3" name="直接箭头连接符 312"/>
            <p:cNvCxnSpPr/>
            <p:nvPr/>
          </p:nvCxnSpPr>
          <p:spPr>
            <a:xfrm>
              <a:off x="6370" y="13148"/>
              <a:ext cx="2232" cy="210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4" name="直接箭头连接符 313"/>
            <p:cNvCxnSpPr/>
            <p:nvPr/>
          </p:nvCxnSpPr>
          <p:spPr>
            <a:xfrm>
              <a:off x="6340" y="14758"/>
              <a:ext cx="2210" cy="147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5" name="左大括号 314"/>
            <p:cNvSpPr/>
            <p:nvPr/>
          </p:nvSpPr>
          <p:spPr>
            <a:xfrm rot="8520000">
              <a:off x="8224" y="12909"/>
              <a:ext cx="420" cy="1151"/>
            </a:xfrm>
            <a:prstGeom prst="leftBrace">
              <a:avLst>
                <a:gd name="adj1" fmla="val 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7" name="立方体 316"/>
            <p:cNvSpPr/>
            <p:nvPr/>
          </p:nvSpPr>
          <p:spPr>
            <a:xfrm>
              <a:off x="8729" y="12913"/>
              <a:ext cx="1294" cy="534"/>
            </a:xfrm>
            <a:prstGeom prst="cube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700" i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HSA1</a:t>
              </a:r>
              <a:endParaRPr lang="en-US" altLang="zh-CN" sz="17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18" name="左大括号 317"/>
            <p:cNvSpPr/>
            <p:nvPr/>
          </p:nvSpPr>
          <p:spPr>
            <a:xfrm rot="8520000">
              <a:off x="8939" y="13892"/>
              <a:ext cx="517" cy="1017"/>
            </a:xfrm>
            <a:prstGeom prst="leftBrace">
              <a:avLst>
                <a:gd name="adj1" fmla="val 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9" name="立方体 318"/>
            <p:cNvSpPr/>
            <p:nvPr/>
          </p:nvSpPr>
          <p:spPr>
            <a:xfrm>
              <a:off x="9477" y="13796"/>
              <a:ext cx="1294" cy="534"/>
            </a:xfrm>
            <a:prstGeom prst="cube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700" i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HSA2</a:t>
              </a:r>
              <a:endParaRPr lang="en-US" altLang="zh-CN" sz="1700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320" name="直接箭头连接符 319"/>
            <p:cNvCxnSpPr>
              <a:stCxn id="57" idx="2"/>
            </p:cNvCxnSpPr>
            <p:nvPr>
              <p:custDataLst>
                <p:tags r:id="rId179"/>
              </p:custDataLst>
            </p:nvPr>
          </p:nvCxnSpPr>
          <p:spPr>
            <a:xfrm>
              <a:off x="16601" y="8718"/>
              <a:ext cx="1029" cy="2309"/>
            </a:xfrm>
            <a:prstGeom prst="straightConnector1">
              <a:avLst/>
            </a:prstGeom>
            <a:ln w="28575" cmpd="sng">
              <a:solidFill>
                <a:srgbClr val="0070C0">
                  <a:alpha val="50000"/>
                </a:srgb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1" name="直接箭头连接符 320"/>
            <p:cNvCxnSpPr>
              <a:stCxn id="73" idx="3"/>
            </p:cNvCxnSpPr>
            <p:nvPr>
              <p:custDataLst>
                <p:tags r:id="rId180"/>
              </p:custDataLst>
            </p:nvPr>
          </p:nvCxnSpPr>
          <p:spPr>
            <a:xfrm flipH="1">
              <a:off x="16390" y="8742"/>
              <a:ext cx="1841" cy="2215"/>
            </a:xfrm>
            <a:prstGeom prst="straightConnector1">
              <a:avLst/>
            </a:prstGeom>
            <a:ln w="28575" cmpd="sng">
              <a:solidFill>
                <a:schemeClr val="accent2">
                  <a:lumMod val="75000"/>
                  <a:alpha val="5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22" name="文本框 321"/>
            <p:cNvSpPr txBox="1"/>
            <p:nvPr/>
          </p:nvSpPr>
          <p:spPr>
            <a:xfrm>
              <a:off x="13645" y="18012"/>
              <a:ext cx="630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b="1">
                  <a:latin typeface="Times New Roman" panose="02020603050405020304" charset="0"/>
                  <a:cs typeface="Times New Roman" panose="02020603050405020304" charset="0"/>
                </a:rPr>
                <a:t>(b) P-MASk CMT Module</a:t>
              </a:r>
              <a:endParaRPr lang="en-US" altLang="zh-CN" sz="2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23" name="文本框 322"/>
            <p:cNvSpPr txBox="1"/>
            <p:nvPr/>
          </p:nvSpPr>
          <p:spPr>
            <a:xfrm>
              <a:off x="2025" y="18012"/>
              <a:ext cx="890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b="1">
                  <a:latin typeface="Times New Roman" panose="02020603050405020304" charset="0"/>
                  <a:cs typeface="Times New Roman" panose="02020603050405020304" charset="0"/>
                </a:rPr>
                <a:t>(a) Hierarchical Selective Attention (HSA)</a:t>
              </a:r>
              <a:endParaRPr lang="en-US" altLang="zh-CN" sz="2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24" name="文本框 323"/>
            <p:cNvSpPr txBox="1"/>
            <p:nvPr/>
          </p:nvSpPr>
          <p:spPr>
            <a:xfrm>
              <a:off x="12319" y="16489"/>
              <a:ext cx="2996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i="1">
                  <a:latin typeface="Times New Roman" panose="02020603050405020304" charset="0"/>
                  <a:cs typeface="Times New Roman" panose="02020603050405020304" charset="0"/>
                </a:rPr>
                <a:t>Multimodal embedding</a:t>
              </a:r>
              <a:endParaRPr lang="en-US" altLang="zh-CN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25" name="圆角矩形 324"/>
            <p:cNvSpPr/>
            <p:nvPr/>
          </p:nvSpPr>
          <p:spPr>
            <a:xfrm>
              <a:off x="12699" y="16025"/>
              <a:ext cx="7693" cy="1956"/>
            </a:xfrm>
            <a:prstGeom prst="roundRect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8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1533</Words>
  <Application>WPS 演示</Application>
  <PresentationFormat>宽屏</PresentationFormat>
  <Paragraphs>254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Times New Roman</vt:lpstr>
      <vt:lpstr>Cambria Math</vt:lpstr>
      <vt:lpstr>MS Mincho</vt:lpstr>
      <vt:lpstr>Segoe Print</vt:lpstr>
      <vt:lpstr>Times New Roman Bold Italic</vt:lpstr>
      <vt:lpstr>Times New Roman Regular</vt:lpstr>
      <vt:lpstr>DejaVu Math TeX Gyre</vt:lpstr>
      <vt:lpstr>Times New Roman Bold</vt:lpstr>
      <vt:lpstr>Times New Roman Italic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忒夙.</cp:lastModifiedBy>
  <cp:revision>844</cp:revision>
  <dcterms:created xsi:type="dcterms:W3CDTF">2025-12-10T11:46:00Z</dcterms:created>
  <dcterms:modified xsi:type="dcterms:W3CDTF">2025-12-10T15:46:39Z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5CB39B1EA749469E9808192BEA9BB33C_13</vt:lpwstr>
  </property>
</Properties>
</file>