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635" cy="118979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0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740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9029" y="1586485"/>
            <a:ext cx="9801074" cy="445964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9029" y="6177296"/>
            <a:ext cx="9801074" cy="25546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835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635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1055574"/>
            <a:ext cx="10971298" cy="122421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516" y="2585845"/>
            <a:ext cx="10971298" cy="825721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1181" y="6676976"/>
            <a:ext cx="7770286" cy="133039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86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1181" y="8007375"/>
            <a:ext cx="7770286" cy="150528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1219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6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1055574"/>
            <a:ext cx="10971298" cy="122421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516" y="2604583"/>
            <a:ext cx="5177790" cy="823847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826" y="2604583"/>
            <a:ext cx="5177790" cy="823847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1055574"/>
            <a:ext cx="10971298" cy="122421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516" y="2479663"/>
            <a:ext cx="5343422" cy="66207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835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635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516" y="3216691"/>
            <a:ext cx="5343422" cy="762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943" y="2466701"/>
            <a:ext cx="5343422" cy="66207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835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635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943" y="3216691"/>
            <a:ext cx="5343422" cy="762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1055574"/>
            <a:ext cx="10971298" cy="122421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516" y="2698273"/>
            <a:ext cx="5234078" cy="799488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614" y="2698273"/>
            <a:ext cx="5228200" cy="799488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6758" y="1586485"/>
            <a:ext cx="1044200" cy="872566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73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575" y="1586485"/>
            <a:ext cx="9170954" cy="8725665"/>
          </a:xfrm>
        </p:spPr>
        <p:txBody>
          <a:bodyPr vert="eaVert" lIns="46800" tIns="46800" rIns="46800" bIns="46800"/>
          <a:lstStyle>
            <a:lvl1pPr marL="304800" indent="-304800">
              <a:spcAft>
                <a:spcPts val="1000"/>
              </a:spcAft>
              <a:defRPr spc="300"/>
            </a:lvl1pPr>
            <a:lvl2pPr marL="914400" indent="-304800">
              <a:defRPr spc="300"/>
            </a:lvl2pPr>
            <a:lvl3pPr marL="1524000" indent="-304800">
              <a:defRPr spc="300"/>
            </a:lvl3pPr>
            <a:lvl4pPr marL="2134235" indent="-304800">
              <a:defRPr spc="300"/>
            </a:lvl4pPr>
            <a:lvl5pPr marL="2743200" indent="-3048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516" y="1342890"/>
            <a:ext cx="10974898" cy="951266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9029" y="4309741"/>
            <a:ext cx="9801074" cy="176761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9029" y="6177296"/>
            <a:ext cx="9801074" cy="81822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2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516" y="1055574"/>
            <a:ext cx="10971298" cy="122421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516" y="2585845"/>
            <a:ext cx="10971298" cy="825721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117" y="10955487"/>
            <a:ext cx="2700517" cy="549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787" y="10955487"/>
            <a:ext cx="3960757" cy="549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9298" y="10955487"/>
            <a:ext cx="2700517" cy="549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835" rtl="0" eaLnBrk="1" fontAlgn="auto" latinLnBrk="0" hangingPunct="1">
        <a:lnSpc>
          <a:spcPct val="100000"/>
        </a:lnSpc>
        <a:spcBef>
          <a:spcPct val="0"/>
        </a:spcBef>
        <a:buNone/>
        <a:defRPr sz="48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8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14400" indent="-304800" algn="l" defTabSz="12198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146300" algn="l"/>
          <a:tab pos="2146300" algn="l"/>
          <a:tab pos="2146300" algn="l"/>
          <a:tab pos="2146300" algn="l"/>
        </a:tabLst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524000" indent="-304800" algn="l" defTabSz="12198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134235" indent="-304800" algn="l" defTabSz="12198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743200" indent="-304800" algn="l" defTabSz="12198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352800" indent="-304800" algn="l" defTabSz="121983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83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83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870" indent="-304800" algn="l" defTabSz="121983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64.xml"/><Relationship Id="rId34" Type="http://schemas.openxmlformats.org/officeDocument/2006/relationships/image" Target="../media/image35.png"/><Relationship Id="rId33" Type="http://schemas.openxmlformats.org/officeDocument/2006/relationships/image" Target="../media/image34.png"/><Relationship Id="rId32" Type="http://schemas.openxmlformats.org/officeDocument/2006/relationships/image" Target="../media/image33.png"/><Relationship Id="rId31" Type="http://schemas.openxmlformats.org/officeDocument/2006/relationships/image" Target="../media/image32.png"/><Relationship Id="rId30" Type="http://schemas.openxmlformats.org/officeDocument/2006/relationships/image" Target="../media/image31.png"/><Relationship Id="rId3" Type="http://schemas.openxmlformats.org/officeDocument/2006/relationships/image" Target="../media/image4.png"/><Relationship Id="rId29" Type="http://schemas.openxmlformats.org/officeDocument/2006/relationships/image" Target="../media/image30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7682" y="2803495"/>
            <a:ext cx="7949815" cy="325436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组合 303"/>
          <p:cNvGrpSpPr/>
          <p:nvPr/>
        </p:nvGrpSpPr>
        <p:grpSpPr>
          <a:xfrm>
            <a:off x="62230" y="32385"/>
            <a:ext cx="12217400" cy="11371580"/>
            <a:chOff x="98" y="51"/>
            <a:chExt cx="19240" cy="17908"/>
          </a:xfrm>
        </p:grpSpPr>
        <p:grpSp>
          <p:nvGrpSpPr>
            <p:cNvPr id="302" name="组合 301"/>
            <p:cNvGrpSpPr/>
            <p:nvPr/>
          </p:nvGrpSpPr>
          <p:grpSpPr>
            <a:xfrm>
              <a:off x="98" y="51"/>
              <a:ext cx="19240" cy="17909"/>
              <a:chOff x="98" y="51"/>
              <a:chExt cx="19240" cy="17909"/>
            </a:xfrm>
          </p:grpSpPr>
          <p:sp>
            <p:nvSpPr>
              <p:cNvPr id="297" name="圆角矩形 296"/>
              <p:cNvSpPr/>
              <p:nvPr/>
            </p:nvSpPr>
            <p:spPr>
              <a:xfrm>
                <a:off x="8758" y="14369"/>
                <a:ext cx="3620" cy="241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8" name="圆角矩形 267"/>
              <p:cNvSpPr/>
              <p:nvPr/>
            </p:nvSpPr>
            <p:spPr>
              <a:xfrm>
                <a:off x="2554" y="12034"/>
                <a:ext cx="8368" cy="190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  <a:alpha val="21000"/>
                </a:schemeClr>
              </a:solidFill>
              <a:ln w="28575" cmpd="sng">
                <a:solidFill>
                  <a:schemeClr val="accent6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7" name="圆柱形 206"/>
              <p:cNvSpPr/>
              <p:nvPr/>
            </p:nvSpPr>
            <p:spPr>
              <a:xfrm>
                <a:off x="3626" y="13256"/>
                <a:ext cx="1800" cy="580"/>
              </a:xfrm>
              <a:prstGeom prst="can">
                <a:avLst>
                  <a:gd name="adj" fmla="val 21064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28575" cmpd="sng">
                <a:solidFill>
                  <a:schemeClr val="accent1">
                    <a:shade val="50000"/>
                    <a:alpha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M-Bank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9" name="立方体 178"/>
              <p:cNvSpPr/>
              <p:nvPr/>
            </p:nvSpPr>
            <p:spPr>
              <a:xfrm>
                <a:off x="11933" y="7564"/>
                <a:ext cx="4400" cy="2026"/>
              </a:xfrm>
              <a:prstGeom prst="cube">
                <a:avLst>
                  <a:gd name="adj" fmla="val 27198"/>
                </a:avLst>
              </a:prstGeom>
              <a:solidFill>
                <a:schemeClr val="accent6">
                  <a:lumMod val="20000"/>
                  <a:lumOff val="80000"/>
                  <a:alpha val="68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4" name="圆角矩形 143"/>
              <p:cNvSpPr/>
              <p:nvPr/>
            </p:nvSpPr>
            <p:spPr>
              <a:xfrm>
                <a:off x="12157" y="233"/>
                <a:ext cx="3076" cy="318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" name="圆角矩形 60"/>
              <p:cNvSpPr/>
              <p:nvPr/>
            </p:nvSpPr>
            <p:spPr>
              <a:xfrm>
                <a:off x="3627" y="8530"/>
                <a:ext cx="2752" cy="138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 cmpd="sng">
                <a:solidFill>
                  <a:schemeClr val="accent2">
                    <a:lumMod val="60000"/>
                    <a:lumOff val="40000"/>
                    <a:alpha val="69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" name="圆角矩形 59"/>
              <p:cNvSpPr/>
              <p:nvPr/>
            </p:nvSpPr>
            <p:spPr>
              <a:xfrm>
                <a:off x="764" y="8530"/>
                <a:ext cx="2793" cy="137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 cmpd="sng">
                <a:solidFill>
                  <a:schemeClr val="accent1">
                    <a:shade val="50000"/>
                    <a:alpha val="69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8300" y="398"/>
                <a:ext cx="1" cy="10171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 rot="0">
                <a:off x="249" y="665"/>
                <a:ext cx="2400" cy="1647"/>
                <a:chOff x="360" y="1313"/>
                <a:chExt cx="3014" cy="2034"/>
              </a:xfrm>
            </p:grpSpPr>
            <p:pic>
              <p:nvPicPr>
                <p:cNvPr id="11" name="图片 10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360" y="1313"/>
                  <a:ext cx="2614" cy="1634"/>
                </a:xfrm>
                <a:prstGeom prst="rect">
                  <a:avLst/>
                </a:prstGeom>
                <a:ln w="41275">
                  <a:solidFill>
                    <a:schemeClr val="accent1">
                      <a:alpha val="48000"/>
                    </a:schemeClr>
                  </a:solidFill>
                </a:ln>
              </p:spPr>
            </p:pic>
            <p:pic>
              <p:nvPicPr>
                <p:cNvPr id="12" name="图片 11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560" y="1513"/>
                  <a:ext cx="2614" cy="1634"/>
                </a:xfrm>
                <a:prstGeom prst="rect">
                  <a:avLst/>
                </a:prstGeom>
                <a:ln w="41275">
                  <a:solidFill>
                    <a:schemeClr val="accent1">
                      <a:alpha val="48000"/>
                    </a:schemeClr>
                  </a:solidFill>
                </a:ln>
              </p:spPr>
            </p:pic>
            <p:pic>
              <p:nvPicPr>
                <p:cNvPr id="13" name="图片 12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760" y="1713"/>
                  <a:ext cx="2614" cy="1634"/>
                </a:xfrm>
                <a:prstGeom prst="rect">
                  <a:avLst/>
                </a:prstGeom>
                <a:ln w="41275">
                  <a:solidFill>
                    <a:schemeClr val="accent1">
                      <a:alpha val="48000"/>
                    </a:schemeClr>
                  </a:solidFill>
                </a:ln>
              </p:spPr>
            </p:pic>
          </p:grpSp>
          <p:sp>
            <p:nvSpPr>
              <p:cNvPr id="14" name="文本框 13"/>
              <p:cNvSpPr txBox="1"/>
              <p:nvPr/>
            </p:nvSpPr>
            <p:spPr>
              <a:xfrm>
                <a:off x="158" y="70"/>
                <a:ext cx="242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Video Frame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74" name="组合 73"/>
              <p:cNvGrpSpPr/>
              <p:nvPr/>
            </p:nvGrpSpPr>
            <p:grpSpPr>
              <a:xfrm rot="0">
                <a:off x="8773" y="431"/>
                <a:ext cx="2427" cy="1699"/>
                <a:chOff x="9211" y="8140"/>
                <a:chExt cx="2203" cy="1452"/>
              </a:xfrm>
            </p:grpSpPr>
            <p:pic>
              <p:nvPicPr>
                <p:cNvPr id="2" name="图片 1" descr="frame_0000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211" y="8140"/>
                  <a:ext cx="1803" cy="1052"/>
                </a:xfrm>
                <a:prstGeom prst="rect">
                  <a:avLst/>
                </a:prstGeom>
                <a:ln w="31750">
                  <a:solidFill>
                    <a:schemeClr val="accent1">
                      <a:alpha val="66000"/>
                    </a:schemeClr>
                  </a:solidFill>
                </a:ln>
              </p:spPr>
            </p:pic>
            <p:pic>
              <p:nvPicPr>
                <p:cNvPr id="5" name="图片 4" descr="frame_0000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411" y="8340"/>
                  <a:ext cx="1803" cy="1052"/>
                </a:xfrm>
                <a:prstGeom prst="rect">
                  <a:avLst/>
                </a:prstGeom>
                <a:ln w="31750">
                  <a:solidFill>
                    <a:schemeClr val="accent1">
                      <a:alpha val="66000"/>
                    </a:schemeClr>
                  </a:solidFill>
                </a:ln>
              </p:spPr>
            </p:pic>
            <p:pic>
              <p:nvPicPr>
                <p:cNvPr id="6" name="图片 5" descr="frame_0000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611" y="8540"/>
                  <a:ext cx="1803" cy="1052"/>
                </a:xfrm>
                <a:prstGeom prst="rect">
                  <a:avLst/>
                </a:prstGeom>
                <a:ln w="31750">
                  <a:solidFill>
                    <a:schemeClr val="accent1">
                      <a:alpha val="66000"/>
                    </a:schemeClr>
                  </a:solidFill>
                </a:ln>
              </p:spPr>
            </p:pic>
          </p:grpSp>
          <p:grpSp>
            <p:nvGrpSpPr>
              <p:cNvPr id="28" name="组合 27"/>
              <p:cNvGrpSpPr/>
              <p:nvPr/>
            </p:nvGrpSpPr>
            <p:grpSpPr>
              <a:xfrm rot="0">
                <a:off x="3311" y="657"/>
                <a:ext cx="4505" cy="1660"/>
                <a:chOff x="3507" y="986"/>
                <a:chExt cx="4504" cy="1660"/>
              </a:xfrm>
            </p:grpSpPr>
            <p:sp>
              <p:nvSpPr>
                <p:cNvPr id="22" name="圆角矩形 21"/>
                <p:cNvSpPr/>
                <p:nvPr/>
              </p:nvSpPr>
              <p:spPr>
                <a:xfrm>
                  <a:off x="3507" y="986"/>
                  <a:ext cx="4505" cy="166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  <a:alpha val="3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63" name="图片 62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2" y="1141"/>
                  <a:ext cx="645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圆角矩形 63"/>
                    <p:cNvSpPr/>
                    <p:nvPr/>
                  </p:nvSpPr>
                  <p:spPr>
                    <a:xfrm>
                      <a:off x="4457" y="1154"/>
                      <a:ext cx="3277" cy="560"/>
                    </a:xfrm>
                    <a:prstGeom prst="round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2700" cmpd="sng">
                      <a:solidFill>
                        <a:schemeClr val="accent2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en-US" altLang="zh-CN" sz="20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the </a:t>
                      </a:r>
                      <a:r>
                        <a:rPr lang="en-US" altLang="zh-CN" sz="2000" b="1" i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red eyes</a:t>
                      </a:r>
                      <a:endParaRPr lang="en-US" altLang="zh-CN" sz="2000" b="1" i="1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64" name="圆角矩形 6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57" y="1154"/>
                      <a:ext cx="3277" cy="560"/>
                    </a:xfrm>
                    <a:prstGeom prst="roundRect">
                      <a:avLst/>
                    </a:prstGeom>
                    <a:blipFill rotWithShape="1">
                      <a:blip r:embed="rId4"/>
                    </a:blipFill>
                    <a:ln w="12700" cmpd="sng">
                      <a:solidFill>
                        <a:schemeClr val="accent2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8" name="图片 17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2" y="1888"/>
                  <a:ext cx="645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圆角矩形 18"/>
                    <p:cNvSpPr/>
                    <p:nvPr/>
                  </p:nvSpPr>
                  <p:spPr>
                    <a:xfrm>
                      <a:off x="4457" y="1901"/>
                      <a:ext cx="3277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en-US" altLang="zh-CN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ones with </a:t>
                      </a:r>
                      <a:r>
                        <a:rPr lang="en-US" altLang="zh-CN" b="1" i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anger</a:t>
                      </a:r>
                      <a:endParaRPr lang="en-US" altLang="zh-CN" b="1" i="1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19" name="圆角矩形 1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57" y="1901"/>
                      <a:ext cx="3277" cy="560"/>
                    </a:xfrm>
                    <a:prstGeom prst="roundRect">
                      <a:avLst/>
                    </a:prstGeom>
                    <a:blipFill rotWithShape="1">
                      <a:blip r:embed="rId5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4" name="文本框 23"/>
              <p:cNvSpPr txBox="1"/>
              <p:nvPr/>
            </p:nvSpPr>
            <p:spPr>
              <a:xfrm>
                <a:off x="4157" y="51"/>
                <a:ext cx="242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Prompt Block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0" name="立方体 39"/>
              <p:cNvSpPr/>
              <p:nvPr/>
            </p:nvSpPr>
            <p:spPr>
              <a:xfrm>
                <a:off x="98" y="3203"/>
                <a:ext cx="2947" cy="735"/>
              </a:xfrm>
              <a:prstGeom prst="cube">
                <a:avLst>
                  <a:gd name="adj" fmla="val 2315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 cmpd="sng">
                <a:solidFill>
                  <a:schemeClr val="accent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Image Encoder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7" name="立方体 26"/>
              <p:cNvSpPr/>
              <p:nvPr/>
            </p:nvSpPr>
            <p:spPr>
              <a:xfrm>
                <a:off x="4157" y="3203"/>
                <a:ext cx="2947" cy="735"/>
              </a:xfrm>
              <a:prstGeom prst="cube">
                <a:avLst>
                  <a:gd name="adj" fmla="val 23157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2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Prompt Encoder</a:t>
                </a:r>
                <a:endParaRPr lang="en-US" altLang="zh-CN" b="1" i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30" name="直接箭头连接符 29"/>
              <p:cNvCxnSpPr/>
              <p:nvPr/>
            </p:nvCxnSpPr>
            <p:spPr>
              <a:xfrm>
                <a:off x="1463" y="2446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2" name="立方体 31"/>
              <p:cNvSpPr/>
              <p:nvPr/>
            </p:nvSpPr>
            <p:spPr>
              <a:xfrm>
                <a:off x="1918" y="4830"/>
                <a:ext cx="3372" cy="838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 Attention 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3" name="立方体 32"/>
              <p:cNvSpPr/>
              <p:nvPr/>
            </p:nvSpPr>
            <p:spPr>
              <a:xfrm>
                <a:off x="1918" y="7198"/>
                <a:ext cx="3372" cy="838"/>
              </a:xfrm>
              <a:prstGeom prst="cube">
                <a:avLst>
                  <a:gd name="adj" fmla="val 2315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Mask Decoder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4" name="圆柱形 33"/>
              <p:cNvSpPr/>
              <p:nvPr/>
            </p:nvSpPr>
            <p:spPr>
              <a:xfrm>
                <a:off x="6016" y="5703"/>
                <a:ext cx="1800" cy="1334"/>
              </a:xfrm>
              <a:prstGeom prst="can">
                <a:avLst>
                  <a:gd name="adj" fmla="val 21064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28575" cmpd="sng">
                <a:solidFill>
                  <a:schemeClr val="accent1">
                    <a:shade val="50000"/>
                    <a:alpha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 Bank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35" name="肘形连接符 34"/>
              <p:cNvCxnSpPr>
                <a:endCxn id="34" idx="3"/>
              </p:cNvCxnSpPr>
              <p:nvPr/>
            </p:nvCxnSpPr>
            <p:spPr>
              <a:xfrm flipV="1">
                <a:off x="5290" y="7037"/>
                <a:ext cx="1626" cy="429"/>
              </a:xfrm>
              <a:prstGeom prst="bentConnector2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肘形连接符 35"/>
              <p:cNvCxnSpPr>
                <a:stCxn id="34" idx="1"/>
                <a:endCxn id="32" idx="5"/>
              </p:cNvCxnSpPr>
              <p:nvPr/>
            </p:nvCxnSpPr>
            <p:spPr>
              <a:xfrm rot="16200000" flipV="1">
                <a:off x="5827" y="4614"/>
                <a:ext cx="551" cy="1626"/>
              </a:xfrm>
              <a:prstGeom prst="bentConnector2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3591" y="5906"/>
                <a:ext cx="0" cy="108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肘形连接符 38"/>
              <p:cNvCxnSpPr>
                <a:stCxn id="40" idx="3"/>
                <a:endCxn id="33" idx="2"/>
              </p:cNvCxnSpPr>
              <p:nvPr/>
            </p:nvCxnSpPr>
            <p:spPr>
              <a:xfrm rot="5400000" flipV="1">
                <a:off x="-185" y="5610"/>
                <a:ext cx="3776" cy="432"/>
              </a:xfrm>
              <a:prstGeom prst="bentConnector2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/>
              <p:nvPr/>
            </p:nvCxnSpPr>
            <p:spPr>
              <a:xfrm>
                <a:off x="5558" y="2443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3" name="文本框 42"/>
              <p:cNvSpPr txBox="1"/>
              <p:nvPr/>
            </p:nvSpPr>
            <p:spPr>
              <a:xfrm>
                <a:off x="4101" y="4214"/>
                <a:ext cx="176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read state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5769" y="7532"/>
                <a:ext cx="2496" cy="9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external explicit state store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4127" y="6642"/>
                <a:ext cx="176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write state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49" name="图片 48" descr="frame_00015_mask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8" y="8692"/>
                <a:ext cx="1137" cy="753"/>
              </a:xfrm>
              <a:prstGeom prst="rect">
                <a:avLst/>
              </a:prstGeom>
            </p:spPr>
          </p:pic>
          <p:pic>
            <p:nvPicPr>
              <p:cNvPr id="50" name="图片 49" descr="frame_00015_mask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89" y="8847"/>
                <a:ext cx="1137" cy="753"/>
              </a:xfrm>
              <a:prstGeom prst="rect">
                <a:avLst/>
              </a:prstGeom>
            </p:spPr>
          </p:pic>
          <p:pic>
            <p:nvPicPr>
              <p:cNvPr id="51" name="图片 50" descr="frame_00015_mask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29" y="9002"/>
                <a:ext cx="1137" cy="753"/>
              </a:xfrm>
              <a:prstGeom prst="rect">
                <a:avLst/>
              </a:prstGeom>
            </p:spPr>
          </p:pic>
          <p:pic>
            <p:nvPicPr>
              <p:cNvPr id="52" name="图片 51" descr="frame_00026_mask"/>
              <p:cNvPicPr>
                <a:picLocks noChangeAspect="1"/>
              </p:cNvPicPr>
              <p:nvPr/>
            </p:nvPicPr>
            <p:blipFill>
              <a:blip r:embed="rId7"/>
              <a:srcRect l="13617" r="40852"/>
              <a:stretch>
                <a:fillRect/>
              </a:stretch>
            </p:blipFill>
            <p:spPr>
              <a:xfrm rot="16200000">
                <a:off x="2220" y="8514"/>
                <a:ext cx="766" cy="1146"/>
              </a:xfrm>
              <a:prstGeom prst="rect">
                <a:avLst/>
              </a:prstGeom>
            </p:spPr>
          </p:pic>
          <p:pic>
            <p:nvPicPr>
              <p:cNvPr id="54" name="图片 53" descr="frame_00026_mask"/>
              <p:cNvPicPr>
                <a:picLocks noChangeAspect="1"/>
              </p:cNvPicPr>
              <p:nvPr/>
            </p:nvPicPr>
            <p:blipFill>
              <a:blip r:embed="rId7"/>
              <a:srcRect l="13617" r="40852"/>
              <a:stretch>
                <a:fillRect/>
              </a:stretch>
            </p:blipFill>
            <p:spPr>
              <a:xfrm rot="16200000">
                <a:off x="2365" y="8656"/>
                <a:ext cx="766" cy="1146"/>
              </a:xfrm>
              <a:prstGeom prst="rect">
                <a:avLst/>
              </a:prstGeom>
            </p:spPr>
          </p:pic>
          <p:pic>
            <p:nvPicPr>
              <p:cNvPr id="55" name="图片 54" descr="frame_00026_mask"/>
              <p:cNvPicPr>
                <a:picLocks noChangeAspect="1"/>
              </p:cNvPicPr>
              <p:nvPr/>
            </p:nvPicPr>
            <p:blipFill>
              <a:blip r:embed="rId7"/>
              <a:srcRect l="13617" r="40852"/>
              <a:stretch>
                <a:fillRect/>
              </a:stretch>
            </p:blipFill>
            <p:spPr>
              <a:xfrm rot="16200000">
                <a:off x="2509" y="8797"/>
                <a:ext cx="766" cy="1146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圆角矩形 57"/>
                  <p:cNvSpPr/>
                  <p:nvPr/>
                </p:nvSpPr>
                <p:spPr>
                  <a:xfrm>
                    <a:off x="882" y="8858"/>
                    <a:ext cx="970" cy="643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58" name="圆角矩形 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2" y="8858"/>
                    <a:ext cx="970" cy="643"/>
                  </a:xfrm>
                  <a:prstGeom prst="roundRect">
                    <a:avLst/>
                  </a:prstGeom>
                  <a:blipFill rotWithShape="1">
                    <a:blip r:embed="rId8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圆角矩形 58"/>
                  <p:cNvSpPr/>
                  <p:nvPr/>
                </p:nvSpPr>
                <p:spPr>
                  <a:xfrm>
                    <a:off x="5342" y="8858"/>
                    <a:ext cx="970" cy="643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59" name="圆角矩形 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42" y="8858"/>
                    <a:ext cx="970" cy="643"/>
                  </a:xfrm>
                  <a:prstGeom prst="roundRect">
                    <a:avLst/>
                  </a:prstGeom>
                  <a:blipFill rotWithShape="1">
                    <a:blip r:embed="rId9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3" name="组合 72"/>
              <p:cNvGrpSpPr/>
              <p:nvPr/>
            </p:nvGrpSpPr>
            <p:grpSpPr>
              <a:xfrm rot="0">
                <a:off x="16017" y="320"/>
                <a:ext cx="2836" cy="504"/>
                <a:chOff x="8984" y="6228"/>
                <a:chExt cx="2798" cy="560"/>
              </a:xfrm>
            </p:grpSpPr>
            <p:pic>
              <p:nvPicPr>
                <p:cNvPr id="70" name="图片 69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" y="6228"/>
                  <a:ext cx="506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1" name="圆角矩形 70"/>
                    <p:cNvSpPr/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the </a:t>
                      </a:r>
                      <a:r>
                        <a:rPr lang="en-US" altLang="zh-CN" sz="1600" b="1" i="1">
                          <a:solidFill>
                            <a:schemeClr val="accent2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carrot</a:t>
                      </a:r>
                      <a:endParaRPr lang="en-US" altLang="zh-CN" sz="1600" b="1" i="1">
                        <a:solidFill>
                          <a:schemeClr val="accent2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71" name="圆角矩形 7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blipFill rotWithShape="1">
                      <a:blip r:embed="rId10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2" name="直接箭头连接符 71"/>
              <p:cNvCxnSpPr/>
              <p:nvPr/>
            </p:nvCxnSpPr>
            <p:spPr>
              <a:xfrm>
                <a:off x="3604" y="8077"/>
                <a:ext cx="0" cy="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99" name="图片 9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504" y="1280"/>
                <a:ext cx="638" cy="638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1" name="文本框 100"/>
                  <p:cNvSpPr txBox="1"/>
                  <p:nvPr/>
                </p:nvSpPr>
                <p:spPr>
                  <a:xfrm>
                    <a:off x="14250" y="715"/>
                    <a:ext cx="77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01" name="文本框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50" y="715"/>
                    <a:ext cx="770" cy="580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" name="文本框 101"/>
              <p:cNvSpPr txBox="1"/>
              <p:nvPr/>
            </p:nvSpPr>
            <p:spPr>
              <a:xfrm>
                <a:off x="12341" y="1405"/>
                <a:ext cx="2447" cy="43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b="1" i="1">
                    <a:latin typeface="Times New Roman" panose="02020603050405020304" charset="0"/>
                    <a:cs typeface="Times New Roman" panose="02020603050405020304" charset="0"/>
                  </a:rPr>
                  <a:t>IMAGE ENCODER</a:t>
                </a:r>
                <a:endParaRPr lang="en-US" altLang="zh-CN" sz="12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3" name="立方体 102"/>
              <p:cNvSpPr/>
              <p:nvPr/>
            </p:nvSpPr>
            <p:spPr>
              <a:xfrm>
                <a:off x="12644" y="3730"/>
                <a:ext cx="2340" cy="429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CMT 1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04" name="直接箭头连接符 103"/>
              <p:cNvCxnSpPr/>
              <p:nvPr/>
            </p:nvCxnSpPr>
            <p:spPr>
              <a:xfrm>
                <a:off x="10298" y="2652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5" name="立方体 104"/>
              <p:cNvSpPr/>
              <p:nvPr/>
            </p:nvSpPr>
            <p:spPr>
              <a:xfrm>
                <a:off x="12767" y="4988"/>
                <a:ext cx="1789" cy="428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CMT 2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6" name="立方体 105"/>
              <p:cNvSpPr/>
              <p:nvPr/>
            </p:nvSpPr>
            <p:spPr>
              <a:xfrm>
                <a:off x="12832" y="6158"/>
                <a:ext cx="1504" cy="450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CMT 3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32" name="组合 131"/>
              <p:cNvGrpSpPr/>
              <p:nvPr/>
            </p:nvGrpSpPr>
            <p:grpSpPr>
              <a:xfrm rot="0">
                <a:off x="12509" y="270"/>
                <a:ext cx="1785" cy="1174"/>
                <a:chOff x="13393" y="1991"/>
                <a:chExt cx="2041" cy="1748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13393" y="1991"/>
                  <a:ext cx="2041" cy="1748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  <a:alpha val="9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4" name="立方体 133"/>
                <p:cNvSpPr/>
                <p:nvPr/>
              </p:nvSpPr>
              <p:spPr>
                <a:xfrm flipH="1">
                  <a:off x="13499" y="2188"/>
                  <a:ext cx="1833" cy="434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p:sp>
              <p:nvSpPr>
                <p:cNvPr id="135" name="立方体 134"/>
                <p:cNvSpPr/>
                <p:nvPr/>
              </p:nvSpPr>
              <p:spPr>
                <a:xfrm flipH="1">
                  <a:off x="13830" y="2722"/>
                  <a:ext cx="1267" cy="419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6" name="文本框 135"/>
                    <p:cNvSpPr txBox="1"/>
                    <p:nvPr/>
                  </p:nvSpPr>
                  <p:spPr>
                    <a:xfrm>
                      <a:off x="14145" y="2113"/>
                      <a:ext cx="661" cy="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36" name="文本框 1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113"/>
                      <a:ext cx="661" cy="646"/>
                    </a:xfrm>
                    <a:prstGeom prst="rect">
                      <a:avLst/>
                    </a:prstGeom>
                    <a:blipFill rotWithShape="1">
                      <a:blip r:embed="rId1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7" name="立方体 136"/>
                <p:cNvSpPr/>
                <p:nvPr/>
              </p:nvSpPr>
              <p:spPr>
                <a:xfrm flipH="1">
                  <a:off x="14145" y="3264"/>
                  <a:ext cx="753" cy="333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8" name="文本框 137"/>
                    <p:cNvSpPr txBox="1"/>
                    <p:nvPr/>
                  </p:nvSpPr>
                  <p:spPr>
                    <a:xfrm>
                      <a:off x="14145" y="2614"/>
                      <a:ext cx="661" cy="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38" name="文本框 13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614"/>
                      <a:ext cx="661" cy="646"/>
                    </a:xfrm>
                    <a:prstGeom prst="rect">
                      <a:avLst/>
                    </a:prstGeom>
                    <a:blipFill rotWithShape="1">
                      <a:blip r:embed="rId1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9" name="文本框 138"/>
                    <p:cNvSpPr txBox="1"/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39" name="文本框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blipFill rotWithShape="1">
                      <a:blip r:embed="rId1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0" name="直接箭头连接符 139"/>
                <p:cNvCxnSpPr/>
                <p:nvPr/>
              </p:nvCxnSpPr>
              <p:spPr>
                <a:xfrm>
                  <a:off x="13499" y="2972"/>
                  <a:ext cx="606" cy="65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1" name="文本框 140"/>
                  <p:cNvSpPr txBox="1"/>
                  <p:nvPr/>
                </p:nvSpPr>
                <p:spPr>
                  <a:xfrm>
                    <a:off x="14267" y="2281"/>
                    <a:ext cx="77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41" name="文本框 1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67" y="2281"/>
                    <a:ext cx="770" cy="580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2" name="文本框 141"/>
              <p:cNvSpPr txBox="1"/>
              <p:nvPr/>
            </p:nvSpPr>
            <p:spPr>
              <a:xfrm>
                <a:off x="12156" y="2958"/>
                <a:ext cx="2648" cy="43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b="1" i="1">
                    <a:latin typeface="Times New Roman" panose="02020603050405020304" charset="0"/>
                    <a:cs typeface="Times New Roman" panose="02020603050405020304" charset="0"/>
                  </a:rPr>
                  <a:t>PROMPT ENCODER</a:t>
                </a:r>
                <a:endParaRPr lang="en-US" altLang="zh-CN" sz="12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143" name="图片 14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504" y="2831"/>
                <a:ext cx="638" cy="638"/>
              </a:xfrm>
              <a:prstGeom prst="rect">
                <a:avLst/>
              </a:prstGeom>
            </p:spPr>
          </p:pic>
          <p:sp>
            <p:nvSpPr>
              <p:cNvPr id="145" name="文本框 144"/>
              <p:cNvSpPr txBox="1"/>
              <p:nvPr/>
            </p:nvSpPr>
            <p:spPr>
              <a:xfrm rot="10800000">
                <a:off x="11568" y="460"/>
                <a:ext cx="724" cy="199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Encoder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46" name="直接连接符 145"/>
              <p:cNvCxnSpPr/>
              <p:nvPr/>
            </p:nvCxnSpPr>
            <p:spPr>
              <a:xfrm>
                <a:off x="11574" y="232"/>
                <a:ext cx="11" cy="3371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15809" y="221"/>
                <a:ext cx="13" cy="3405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8" name="圆角矩形 97"/>
                  <p:cNvSpPr/>
                  <p:nvPr/>
                </p:nvSpPr>
                <p:spPr>
                  <a:xfrm>
                    <a:off x="9344" y="3579"/>
                    <a:ext cx="1998" cy="829"/>
                  </a:xfrm>
                  <a:prstGeom prst="roundRect">
                    <a:avLst/>
                  </a:prstGeom>
                  <a:solidFill>
                    <a:schemeClr val="accent1">
                      <a:lumMod val="40000"/>
                      <a:lumOff val="6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𝑽𝑭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1" i="1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98" name="圆角矩形 9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4" y="3579"/>
                    <a:ext cx="1998" cy="829"/>
                  </a:xfrm>
                  <a:prstGeom prst="roundRect">
                    <a:avLst/>
                  </a:prstGeom>
                  <a:blipFill rotWithShape="1">
                    <a:blip r:embed="rId16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8" name="圆角矩形 147"/>
                  <p:cNvSpPr/>
                  <p:nvPr/>
                </p:nvSpPr>
                <p:spPr>
                  <a:xfrm>
                    <a:off x="9525" y="4922"/>
                    <a:ext cx="1639" cy="641"/>
                  </a:xfrm>
                  <a:prstGeom prst="roundRect">
                    <a:avLst/>
                  </a:prstGeom>
                  <a:solidFill>
                    <a:schemeClr val="accent1">
                      <a:lumMod val="40000"/>
                      <a:lumOff val="6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𝑽𝑭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48" name="圆角矩形 14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5" y="4922"/>
                    <a:ext cx="1639" cy="641"/>
                  </a:xfrm>
                  <a:prstGeom prst="roundRect">
                    <a:avLst/>
                  </a:prstGeom>
                  <a:blipFill rotWithShape="1">
                    <a:blip r:embed="rId17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9" name="圆角矩形 148"/>
                  <p:cNvSpPr/>
                  <p:nvPr/>
                </p:nvSpPr>
                <p:spPr>
                  <a:xfrm>
                    <a:off x="9718" y="6202"/>
                    <a:ext cx="1242" cy="472"/>
                  </a:xfrm>
                  <a:prstGeom prst="roundRect">
                    <a:avLst/>
                  </a:prstGeom>
                  <a:solidFill>
                    <a:schemeClr val="accent1">
                      <a:lumMod val="40000"/>
                      <a:lumOff val="6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𝑽𝑭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49" name="圆角矩形 1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18" y="6202"/>
                    <a:ext cx="1242" cy="472"/>
                  </a:xfrm>
                  <a:prstGeom prst="roundRect">
                    <a:avLst/>
                  </a:prstGeom>
                  <a:blipFill rotWithShape="1">
                    <a:blip r:embed="rId18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1" name="文本框 150"/>
              <p:cNvSpPr txBox="1"/>
              <p:nvPr/>
            </p:nvSpPr>
            <p:spPr>
              <a:xfrm>
                <a:off x="8555" y="2403"/>
                <a:ext cx="1633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Stacking Encoders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52" name="直接箭头连接符 151"/>
              <p:cNvCxnSpPr>
                <a:stCxn id="98" idx="3"/>
                <a:endCxn id="103" idx="2"/>
              </p:cNvCxnSpPr>
              <p:nvPr/>
            </p:nvCxnSpPr>
            <p:spPr>
              <a:xfrm>
                <a:off x="11342" y="3994"/>
                <a:ext cx="1302" cy="0"/>
              </a:xfrm>
              <a:prstGeom prst="straightConnector1">
                <a:avLst/>
              </a:prstGeom>
              <a:ln w="28575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/>
              <p:cNvCxnSpPr>
                <a:stCxn id="148" idx="3"/>
                <a:endCxn id="105" idx="2"/>
              </p:cNvCxnSpPr>
              <p:nvPr/>
            </p:nvCxnSpPr>
            <p:spPr>
              <a:xfrm>
                <a:off x="11164" y="5243"/>
                <a:ext cx="1603" cy="9"/>
              </a:xfrm>
              <a:prstGeom prst="straightConnector1">
                <a:avLst/>
              </a:prstGeom>
              <a:ln w="28575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4" name="直接箭头连接符 153"/>
              <p:cNvCxnSpPr>
                <a:stCxn id="149" idx="3"/>
                <a:endCxn id="106" idx="2"/>
              </p:cNvCxnSpPr>
              <p:nvPr/>
            </p:nvCxnSpPr>
            <p:spPr>
              <a:xfrm flipV="1">
                <a:off x="10960" y="6435"/>
                <a:ext cx="1872" cy="3"/>
              </a:xfrm>
              <a:prstGeom prst="straightConnector1">
                <a:avLst/>
              </a:prstGeom>
              <a:ln w="28575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6" name="圆角矩形 155"/>
                  <p:cNvSpPr/>
                  <p:nvPr/>
                </p:nvSpPr>
                <p:spPr>
                  <a:xfrm>
                    <a:off x="16603" y="3578"/>
                    <a:ext cx="1996" cy="830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𝑻𝑭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56" name="圆角矩形 1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03" y="3578"/>
                    <a:ext cx="1996" cy="830"/>
                  </a:xfrm>
                  <a:prstGeom prst="roundRect">
                    <a:avLst/>
                  </a:prstGeom>
                  <a:blipFill rotWithShape="1">
                    <a:blip r:embed="rId19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7" name="圆角矩形 156"/>
                  <p:cNvSpPr/>
                  <p:nvPr/>
                </p:nvSpPr>
                <p:spPr>
                  <a:xfrm>
                    <a:off x="16783" y="4922"/>
                    <a:ext cx="1639" cy="641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𝑻𝑭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57" name="圆角矩形 15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83" y="4922"/>
                    <a:ext cx="1639" cy="641"/>
                  </a:xfrm>
                  <a:prstGeom prst="roundRect">
                    <a:avLst/>
                  </a:prstGeom>
                  <a:blipFill rotWithShape="1">
                    <a:blip r:embed="rId20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8" name="圆角矩形 157"/>
                  <p:cNvSpPr/>
                  <p:nvPr/>
                </p:nvSpPr>
                <p:spPr>
                  <a:xfrm>
                    <a:off x="16977" y="6193"/>
                    <a:ext cx="1242" cy="471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𝑻𝑭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58" name="圆角矩形 1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77" y="6193"/>
                    <a:ext cx="1242" cy="471"/>
                  </a:xfrm>
                  <a:prstGeom prst="roundRect">
                    <a:avLst/>
                  </a:prstGeom>
                  <a:blipFill rotWithShape="1">
                    <a:blip r:embed="rId21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9" name="直接箭头连接符 158"/>
              <p:cNvCxnSpPr>
                <a:stCxn id="156" idx="1"/>
                <a:endCxn id="103" idx="4"/>
              </p:cNvCxnSpPr>
              <p:nvPr/>
            </p:nvCxnSpPr>
            <p:spPr>
              <a:xfrm flipH="1">
                <a:off x="14885" y="3993"/>
                <a:ext cx="1718" cy="1"/>
              </a:xfrm>
              <a:prstGeom prst="straightConnector1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>
                <a:stCxn id="157" idx="1"/>
                <a:endCxn id="105" idx="4"/>
              </p:cNvCxnSpPr>
              <p:nvPr/>
            </p:nvCxnSpPr>
            <p:spPr>
              <a:xfrm flipH="1">
                <a:off x="14458" y="5243"/>
                <a:ext cx="2325" cy="9"/>
              </a:xfrm>
              <a:prstGeom prst="straightConnector1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/>
              <p:cNvCxnSpPr>
                <a:stCxn id="158" idx="1"/>
                <a:endCxn id="106" idx="4"/>
              </p:cNvCxnSpPr>
              <p:nvPr/>
            </p:nvCxnSpPr>
            <p:spPr>
              <a:xfrm flipH="1">
                <a:off x="14233" y="6429"/>
                <a:ext cx="2745" cy="6"/>
              </a:xfrm>
              <a:prstGeom prst="straightConnector1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" name="文本框 2"/>
              <p:cNvSpPr txBox="1"/>
              <p:nvPr/>
            </p:nvSpPr>
            <p:spPr>
              <a:xfrm rot="10800000">
                <a:off x="15068" y="189"/>
                <a:ext cx="724" cy="13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Hiera-B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 rot="10800000">
                <a:off x="15092" y="1709"/>
                <a:ext cx="724" cy="13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CLIP-B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 rot="0">
                <a:off x="16017" y="1080"/>
                <a:ext cx="2836" cy="504"/>
                <a:chOff x="8984" y="6228"/>
                <a:chExt cx="2798" cy="560"/>
              </a:xfrm>
            </p:grpSpPr>
            <p:pic>
              <p:nvPicPr>
                <p:cNvPr id="9" name="图片 8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" y="6228"/>
                  <a:ext cx="506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圆角矩形 9"/>
                    <p:cNvSpPr/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the </a:t>
                      </a:r>
                      <a:r>
                        <a:rPr lang="en-US" altLang="zh-CN" sz="1600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rabbit</a:t>
                      </a:r>
                      <a:endParaRPr lang="en-US" altLang="zh-CN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10" name="圆角矩形 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blipFill rotWithShape="1">
                      <a:blip r:embed="rId22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" name="组合 14"/>
              <p:cNvGrpSpPr/>
              <p:nvPr/>
            </p:nvGrpSpPr>
            <p:grpSpPr>
              <a:xfrm rot="0">
                <a:off x="16017" y="1888"/>
                <a:ext cx="2836" cy="504"/>
                <a:chOff x="8984" y="6228"/>
                <a:chExt cx="2836" cy="560"/>
              </a:xfrm>
            </p:grpSpPr>
            <p:pic>
              <p:nvPicPr>
                <p:cNvPr id="16" name="图片 15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" y="6228"/>
                  <a:ext cx="506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圆角矩形 16"/>
                    <p:cNvSpPr/>
                    <p:nvPr/>
                  </p:nvSpPr>
                  <p:spPr>
                    <a:xfrm>
                      <a:off x="9610" y="6228"/>
                      <a:ext cx="2210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</a:t>
                      </a:r>
                      <a:r>
                        <a:rPr lang="en-US" altLang="zh-CN" sz="1600" b="1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hand </a:t>
                      </a:r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held</a:t>
                      </a:r>
                      <a:endParaRPr lang="en-US" altLang="zh-CN" sz="1600" b="1" i="1">
                        <a:solidFill>
                          <a:srgbClr val="00B0F0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17" name="圆角矩形 1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10" y="6228"/>
                      <a:ext cx="2210" cy="560"/>
                    </a:xfrm>
                    <a:prstGeom prst="roundRect">
                      <a:avLst/>
                    </a:prstGeom>
                    <a:blipFill rotWithShape="1">
                      <a:blip r:embed="rId23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0" name="直接箭头连接符 19"/>
              <p:cNvCxnSpPr/>
              <p:nvPr/>
            </p:nvCxnSpPr>
            <p:spPr>
              <a:xfrm>
                <a:off x="17618" y="2655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16023" y="2420"/>
                <a:ext cx="151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Stacking Encoders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 rot="0">
                <a:off x="10234" y="4554"/>
                <a:ext cx="212" cy="227"/>
                <a:chOff x="9167" y="7592"/>
                <a:chExt cx="358" cy="356"/>
              </a:xfrm>
            </p:grpSpPr>
            <p:sp>
              <p:nvSpPr>
                <p:cNvPr id="25" name="椭圆 24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6" name="直接连接符 25"/>
                <p:cNvCxnSpPr>
                  <a:stCxn id="25" idx="2"/>
                  <a:endCxn id="25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肘形连接符 45"/>
              <p:cNvCxnSpPr/>
              <p:nvPr/>
            </p:nvCxnSpPr>
            <p:spPr>
              <a:xfrm rot="10800000" flipV="1">
                <a:off x="10441" y="4177"/>
                <a:ext cx="3193" cy="488"/>
              </a:xfrm>
              <a:prstGeom prst="bentConnector3">
                <a:avLst>
                  <a:gd name="adj1" fmla="val 250"/>
                </a:avLst>
              </a:prstGeom>
              <a:ln w="28575" cmpd="sng">
                <a:solidFill>
                  <a:srgbClr val="0070C0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>
                <a:stCxn id="98" idx="2"/>
                <a:endCxn id="25" idx="0"/>
              </p:cNvCxnSpPr>
              <p:nvPr/>
            </p:nvCxnSpPr>
            <p:spPr>
              <a:xfrm flipH="1">
                <a:off x="10340" y="4409"/>
                <a:ext cx="3" cy="1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stCxn id="25" idx="4"/>
                <a:endCxn id="148" idx="0"/>
              </p:cNvCxnSpPr>
              <p:nvPr/>
            </p:nvCxnSpPr>
            <p:spPr>
              <a:xfrm>
                <a:off x="10340" y="4782"/>
                <a:ext cx="5" cy="1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6" name="组合 55"/>
              <p:cNvGrpSpPr/>
              <p:nvPr/>
            </p:nvGrpSpPr>
            <p:grpSpPr>
              <a:xfrm rot="0">
                <a:off x="17495" y="4554"/>
                <a:ext cx="212" cy="227"/>
                <a:chOff x="9167" y="7592"/>
                <a:chExt cx="358" cy="356"/>
              </a:xfrm>
            </p:grpSpPr>
            <p:sp>
              <p:nvSpPr>
                <p:cNvPr id="57" name="椭圆 56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62" name="直接连接符 61"/>
                <p:cNvCxnSpPr>
                  <a:stCxn id="57" idx="2"/>
                  <a:endCxn id="57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直接连接符 65"/>
              <p:cNvCxnSpPr>
                <a:stCxn id="57" idx="0"/>
                <a:endCxn id="156" idx="2"/>
              </p:cNvCxnSpPr>
              <p:nvPr/>
            </p:nvCxnSpPr>
            <p:spPr>
              <a:xfrm flipV="1">
                <a:off x="17601" y="4409"/>
                <a:ext cx="0" cy="1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>
                <a:stCxn id="57" idx="4"/>
                <a:endCxn id="157" idx="0"/>
              </p:cNvCxnSpPr>
              <p:nvPr/>
            </p:nvCxnSpPr>
            <p:spPr>
              <a:xfrm>
                <a:off x="17601" y="4782"/>
                <a:ext cx="1" cy="1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68" name="组合 67"/>
              <p:cNvGrpSpPr/>
              <p:nvPr/>
            </p:nvGrpSpPr>
            <p:grpSpPr>
              <a:xfrm rot="0">
                <a:off x="10234" y="5764"/>
                <a:ext cx="212" cy="227"/>
                <a:chOff x="9167" y="7592"/>
                <a:chExt cx="358" cy="356"/>
              </a:xfrm>
            </p:grpSpPr>
            <p:sp>
              <p:nvSpPr>
                <p:cNvPr id="69" name="椭圆 68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连接符 74"/>
                <p:cNvCxnSpPr>
                  <a:stCxn id="69" idx="2"/>
                  <a:endCxn id="69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7" name="直接连接符 76"/>
              <p:cNvCxnSpPr>
                <a:stCxn id="148" idx="2"/>
                <a:endCxn id="69" idx="0"/>
              </p:cNvCxnSpPr>
              <p:nvPr/>
            </p:nvCxnSpPr>
            <p:spPr>
              <a:xfrm flipH="1">
                <a:off x="10340" y="5563"/>
                <a:ext cx="5" cy="2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>
                <a:stCxn id="69" idx="4"/>
                <a:endCxn id="149" idx="0"/>
              </p:cNvCxnSpPr>
              <p:nvPr/>
            </p:nvCxnSpPr>
            <p:spPr>
              <a:xfrm flipH="1">
                <a:off x="10339" y="5992"/>
                <a:ext cx="1" cy="2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79" name="组合 78"/>
              <p:cNvGrpSpPr/>
              <p:nvPr/>
            </p:nvGrpSpPr>
            <p:grpSpPr>
              <a:xfrm rot="0">
                <a:off x="17492" y="5764"/>
                <a:ext cx="212" cy="227"/>
                <a:chOff x="9167" y="7592"/>
                <a:chExt cx="358" cy="356"/>
              </a:xfrm>
            </p:grpSpPr>
            <p:sp>
              <p:nvSpPr>
                <p:cNvPr id="80" name="椭圆 79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81" name="直接连接符 80"/>
                <p:cNvCxnSpPr>
                  <a:stCxn id="80" idx="2"/>
                  <a:endCxn id="80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3" name="直接连接符 82"/>
              <p:cNvCxnSpPr>
                <a:stCxn id="157" idx="2"/>
                <a:endCxn id="80" idx="0"/>
              </p:cNvCxnSpPr>
              <p:nvPr/>
            </p:nvCxnSpPr>
            <p:spPr>
              <a:xfrm flipH="1">
                <a:off x="17598" y="5563"/>
                <a:ext cx="4" cy="2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>
                <a:stCxn id="80" idx="4"/>
                <a:endCxn id="158" idx="0"/>
              </p:cNvCxnSpPr>
              <p:nvPr/>
            </p:nvCxnSpPr>
            <p:spPr>
              <a:xfrm>
                <a:off x="17598" y="5992"/>
                <a:ext cx="0" cy="2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5" name="肘形连接符 84"/>
              <p:cNvCxnSpPr/>
              <p:nvPr/>
            </p:nvCxnSpPr>
            <p:spPr>
              <a:xfrm rot="10800000" flipV="1">
                <a:off x="10445" y="5414"/>
                <a:ext cx="3046" cy="463"/>
              </a:xfrm>
              <a:prstGeom prst="bentConnector3">
                <a:avLst>
                  <a:gd name="adj1" fmla="val -197"/>
                </a:avLst>
              </a:prstGeom>
              <a:ln w="28575" cmpd="sng">
                <a:solidFill>
                  <a:srgbClr val="0070C0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6" name="肘形连接符 85"/>
              <p:cNvCxnSpPr/>
              <p:nvPr/>
            </p:nvCxnSpPr>
            <p:spPr>
              <a:xfrm>
                <a:off x="13701" y="5416"/>
                <a:ext cx="3792" cy="462"/>
              </a:xfrm>
              <a:prstGeom prst="bentConnector3">
                <a:avLst>
                  <a:gd name="adj1" fmla="val 422"/>
                </a:avLst>
              </a:prstGeom>
              <a:ln w="28575" cmpd="sng">
                <a:solidFill>
                  <a:schemeClr val="accent2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7" name="肘形连接符 86"/>
              <p:cNvCxnSpPr/>
              <p:nvPr/>
            </p:nvCxnSpPr>
            <p:spPr>
              <a:xfrm rot="5400000" flipV="1">
                <a:off x="15376" y="2548"/>
                <a:ext cx="508" cy="3731"/>
              </a:xfrm>
              <a:prstGeom prst="bentConnector2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 rot="0">
                <a:off x="10226" y="6939"/>
                <a:ext cx="212" cy="227"/>
                <a:chOff x="9167" y="7592"/>
                <a:chExt cx="358" cy="356"/>
              </a:xfrm>
            </p:grpSpPr>
            <p:sp>
              <p:nvSpPr>
                <p:cNvPr id="89" name="椭圆 88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0" name="直接连接符 89"/>
                <p:cNvCxnSpPr>
                  <a:stCxn id="89" idx="2"/>
                  <a:endCxn id="89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2" name="直接连接符 91"/>
              <p:cNvCxnSpPr>
                <a:stCxn id="149" idx="2"/>
                <a:endCxn id="89" idx="0"/>
              </p:cNvCxnSpPr>
              <p:nvPr/>
            </p:nvCxnSpPr>
            <p:spPr>
              <a:xfrm flipH="1">
                <a:off x="10332" y="6674"/>
                <a:ext cx="7" cy="2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3" name="肘形连接符 92"/>
              <p:cNvCxnSpPr/>
              <p:nvPr/>
            </p:nvCxnSpPr>
            <p:spPr>
              <a:xfrm rot="10800000" flipV="1">
                <a:off x="10467" y="6616"/>
                <a:ext cx="2795" cy="441"/>
              </a:xfrm>
              <a:prstGeom prst="bentConnector3">
                <a:avLst>
                  <a:gd name="adj1" fmla="val 572"/>
                </a:avLst>
              </a:prstGeom>
              <a:ln w="28575" cmpd="sng">
                <a:solidFill>
                  <a:srgbClr val="0070C0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肘形连接符 93"/>
              <p:cNvCxnSpPr/>
              <p:nvPr/>
            </p:nvCxnSpPr>
            <p:spPr>
              <a:xfrm>
                <a:off x="13736" y="6636"/>
                <a:ext cx="3761" cy="425"/>
              </a:xfrm>
              <a:prstGeom prst="bentConnector3">
                <a:avLst>
                  <a:gd name="adj1" fmla="val 691"/>
                </a:avLst>
              </a:prstGeom>
              <a:ln w="28575" cmpd="sng">
                <a:solidFill>
                  <a:schemeClr val="accent2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 rot="0">
                <a:off x="17496" y="6947"/>
                <a:ext cx="212" cy="227"/>
                <a:chOff x="9167" y="7592"/>
                <a:chExt cx="358" cy="356"/>
              </a:xfrm>
            </p:grpSpPr>
            <p:sp>
              <p:nvSpPr>
                <p:cNvPr id="96" name="椭圆 95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7" name="直接连接符 96"/>
                <p:cNvCxnSpPr>
                  <a:stCxn id="96" idx="2"/>
                  <a:endCxn id="96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7" name="直接连接符 106"/>
              <p:cNvCxnSpPr>
                <a:stCxn id="158" idx="2"/>
                <a:endCxn id="96" idx="0"/>
              </p:cNvCxnSpPr>
              <p:nvPr/>
            </p:nvCxnSpPr>
            <p:spPr>
              <a:xfrm>
                <a:off x="17598" y="6664"/>
                <a:ext cx="4" cy="2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08" name="图片 10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44" y="3655"/>
                <a:ext cx="638" cy="638"/>
              </a:xfrm>
              <a:prstGeom prst="rect">
                <a:avLst/>
              </a:prstGeom>
            </p:spPr>
          </p:pic>
          <p:pic>
            <p:nvPicPr>
              <p:cNvPr id="109" name="图片 10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3" y="4922"/>
                <a:ext cx="638" cy="638"/>
              </a:xfrm>
              <a:prstGeom prst="rect">
                <a:avLst/>
              </a:prstGeom>
            </p:spPr>
          </p:pic>
          <p:pic>
            <p:nvPicPr>
              <p:cNvPr id="110" name="图片 10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06" y="6147"/>
                <a:ext cx="638" cy="638"/>
              </a:xfrm>
              <a:prstGeom prst="rect">
                <a:avLst/>
              </a:prstGeom>
            </p:spPr>
          </p:pic>
          <p:pic>
            <p:nvPicPr>
              <p:cNvPr id="112" name="图片 11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26" y="3655"/>
                <a:ext cx="638" cy="638"/>
              </a:xfrm>
              <a:prstGeom prst="rect">
                <a:avLst/>
              </a:prstGeom>
            </p:spPr>
          </p:pic>
          <p:pic>
            <p:nvPicPr>
              <p:cNvPr id="120" name="图片 1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22" y="4940"/>
                <a:ext cx="638" cy="638"/>
              </a:xfrm>
              <a:prstGeom prst="rect">
                <a:avLst/>
              </a:prstGeom>
            </p:spPr>
          </p:pic>
          <p:pic>
            <p:nvPicPr>
              <p:cNvPr id="162" name="图片 16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22" y="6114"/>
                <a:ext cx="638" cy="638"/>
              </a:xfrm>
              <a:prstGeom prst="rect">
                <a:avLst/>
              </a:prstGeom>
            </p:spPr>
          </p:pic>
          <p:sp>
            <p:nvSpPr>
              <p:cNvPr id="164" name="立方体 163"/>
              <p:cNvSpPr/>
              <p:nvPr/>
            </p:nvSpPr>
            <p:spPr>
              <a:xfrm>
                <a:off x="3044" y="12157"/>
                <a:ext cx="3127" cy="731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 Attention </a:t>
                </a:r>
                <a:endParaRPr lang="en-US" altLang="zh-CN" sz="1600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31" name="组合 130"/>
              <p:cNvGrpSpPr/>
              <p:nvPr/>
            </p:nvGrpSpPr>
            <p:grpSpPr>
              <a:xfrm rot="0">
                <a:off x="9747" y="8174"/>
                <a:ext cx="1534" cy="1414"/>
                <a:chOff x="9666" y="8018"/>
                <a:chExt cx="1534" cy="1414"/>
              </a:xfrm>
            </p:grpSpPr>
            <p:sp>
              <p:nvSpPr>
                <p:cNvPr id="115" name="矩形 114"/>
                <p:cNvSpPr/>
                <p:nvPr/>
              </p:nvSpPr>
              <p:spPr>
                <a:xfrm>
                  <a:off x="9717" y="81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 115"/>
                <p:cNvSpPr/>
                <p:nvPr/>
              </p:nvSpPr>
              <p:spPr>
                <a:xfrm>
                  <a:off x="9917" y="83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7" name="矩形 116"/>
                <p:cNvSpPr/>
                <p:nvPr/>
              </p:nvSpPr>
              <p:spPr>
                <a:xfrm>
                  <a:off x="10117" y="85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8" name="矩形 117"/>
                <p:cNvSpPr/>
                <p:nvPr/>
              </p:nvSpPr>
              <p:spPr>
                <a:xfrm>
                  <a:off x="10317" y="87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4" name="立方体 113"/>
                <p:cNvSpPr/>
                <p:nvPr/>
              </p:nvSpPr>
              <p:spPr>
                <a:xfrm flipH="1">
                  <a:off x="9666" y="8018"/>
                  <a:ext cx="1534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1"/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65" name="组合 164"/>
              <p:cNvGrpSpPr/>
              <p:nvPr/>
            </p:nvGrpSpPr>
            <p:grpSpPr>
              <a:xfrm rot="0">
                <a:off x="16736" y="8175"/>
                <a:ext cx="1560" cy="1414"/>
                <a:chOff x="11726" y="8018"/>
                <a:chExt cx="1560" cy="1414"/>
              </a:xfrm>
            </p:grpSpPr>
            <p:sp>
              <p:nvSpPr>
                <p:cNvPr id="129" name="矩形 128"/>
                <p:cNvSpPr/>
                <p:nvPr/>
              </p:nvSpPr>
              <p:spPr>
                <a:xfrm>
                  <a:off x="12226" y="85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12426" y="87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0" name="矩形 149"/>
                <p:cNvSpPr/>
                <p:nvPr/>
              </p:nvSpPr>
              <p:spPr>
                <a:xfrm>
                  <a:off x="11826" y="81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5" name="矩形 154"/>
                <p:cNvSpPr/>
                <p:nvPr/>
              </p:nvSpPr>
              <p:spPr>
                <a:xfrm>
                  <a:off x="12026" y="83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3" name="立方体 162"/>
                <p:cNvSpPr/>
                <p:nvPr/>
              </p:nvSpPr>
              <p:spPr>
                <a:xfrm flipH="1">
                  <a:off x="11726" y="8018"/>
                  <a:ext cx="1560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2">
                      <a:lumMod val="60000"/>
                      <a:lumOff val="40000"/>
                    </a:schemeClr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66" name="直接箭头连接符 165"/>
              <p:cNvCxnSpPr/>
              <p:nvPr/>
            </p:nvCxnSpPr>
            <p:spPr>
              <a:xfrm>
                <a:off x="10339" y="7376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7" name="直接箭头连接符 166"/>
              <p:cNvCxnSpPr/>
              <p:nvPr/>
            </p:nvCxnSpPr>
            <p:spPr>
              <a:xfrm>
                <a:off x="17588" y="7311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68" name="组合 167"/>
              <p:cNvGrpSpPr/>
              <p:nvPr/>
            </p:nvGrpSpPr>
            <p:grpSpPr>
              <a:xfrm rot="0">
                <a:off x="12509" y="1804"/>
                <a:ext cx="1785" cy="1174"/>
                <a:chOff x="13393" y="1991"/>
                <a:chExt cx="2041" cy="1748"/>
              </a:xfrm>
            </p:grpSpPr>
            <p:sp>
              <p:nvSpPr>
                <p:cNvPr id="169" name="圆角矩形 168"/>
                <p:cNvSpPr/>
                <p:nvPr/>
              </p:nvSpPr>
              <p:spPr>
                <a:xfrm>
                  <a:off x="13393" y="1991"/>
                  <a:ext cx="2041" cy="1748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  <a:alpha val="4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0" name="立方体 169"/>
                <p:cNvSpPr/>
                <p:nvPr/>
              </p:nvSpPr>
              <p:spPr>
                <a:xfrm flipH="1">
                  <a:off x="13499" y="2188"/>
                  <a:ext cx="1833" cy="434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p:sp>
              <p:nvSpPr>
                <p:cNvPr id="171" name="立方体 170"/>
                <p:cNvSpPr/>
                <p:nvPr/>
              </p:nvSpPr>
              <p:spPr>
                <a:xfrm flipH="1">
                  <a:off x="13830" y="2722"/>
                  <a:ext cx="1267" cy="419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2" name="文本框 171"/>
                    <p:cNvSpPr txBox="1"/>
                    <p:nvPr/>
                  </p:nvSpPr>
                  <p:spPr>
                    <a:xfrm>
                      <a:off x="14145" y="2113"/>
                      <a:ext cx="661" cy="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72" name="文本框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113"/>
                      <a:ext cx="661" cy="646"/>
                    </a:xfrm>
                    <a:prstGeom prst="rect">
                      <a:avLst/>
                    </a:prstGeom>
                    <a:blipFill rotWithShape="1">
                      <a:blip r:embed="rId2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3" name="立方体 172"/>
                <p:cNvSpPr/>
                <p:nvPr/>
              </p:nvSpPr>
              <p:spPr>
                <a:xfrm flipH="1">
                  <a:off x="14145" y="3264"/>
                  <a:ext cx="753" cy="333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4" name="文本框 173"/>
                    <p:cNvSpPr txBox="1"/>
                    <p:nvPr/>
                  </p:nvSpPr>
                  <p:spPr>
                    <a:xfrm>
                      <a:off x="14145" y="2614"/>
                      <a:ext cx="661" cy="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74" name="文本框 1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614"/>
                      <a:ext cx="661" cy="646"/>
                    </a:xfrm>
                    <a:prstGeom prst="rect">
                      <a:avLst/>
                    </a:prstGeom>
                    <a:blipFill rotWithShape="1">
                      <a:blip r:embed="rId2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5" name="文本框 174"/>
                    <p:cNvSpPr txBox="1"/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75" name="文本框 17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blipFill rotWithShape="1">
                      <a:blip r:embed="rId26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6" name="直接箭头连接符 175"/>
                <p:cNvCxnSpPr/>
                <p:nvPr/>
              </p:nvCxnSpPr>
              <p:spPr>
                <a:xfrm>
                  <a:off x="13499" y="2972"/>
                  <a:ext cx="606" cy="65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7" name="文本框 176"/>
              <p:cNvSpPr txBox="1"/>
              <p:nvPr/>
            </p:nvSpPr>
            <p:spPr>
              <a:xfrm>
                <a:off x="8763" y="9612"/>
                <a:ext cx="283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Visual Embeddings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8" name="文本框 177"/>
              <p:cNvSpPr txBox="1"/>
              <p:nvPr/>
            </p:nvSpPr>
            <p:spPr>
              <a:xfrm>
                <a:off x="16402" y="9612"/>
                <a:ext cx="293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Text Embeddings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0" name="文本框 179"/>
              <p:cNvSpPr txBox="1"/>
              <p:nvPr/>
            </p:nvSpPr>
            <p:spPr>
              <a:xfrm>
                <a:off x="11693" y="9625"/>
                <a:ext cx="447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 i="1">
                    <a:latin typeface="Times New Roman" panose="02020603050405020304" charset="0"/>
                    <a:cs typeface="Times New Roman" panose="02020603050405020304" charset="0"/>
                  </a:rPr>
                  <a:t>Cross Modal Temporal Module</a:t>
                </a:r>
                <a:endParaRPr lang="en-US" altLang="zh-CN" sz="16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2" name="立方体 181"/>
              <p:cNvSpPr/>
              <p:nvPr/>
            </p:nvSpPr>
            <p:spPr>
              <a:xfrm>
                <a:off x="12141" y="8175"/>
                <a:ext cx="1099" cy="534"/>
              </a:xfrm>
              <a:prstGeom prst="cub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700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TVA</a:t>
                </a:r>
                <a:endPara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3" name="立方体 182"/>
              <p:cNvSpPr/>
              <p:nvPr/>
            </p:nvSpPr>
            <p:spPr>
              <a:xfrm>
                <a:off x="13317" y="8175"/>
                <a:ext cx="1100" cy="534"/>
              </a:xfrm>
              <a:prstGeom prst="cub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VTA</a:t>
                </a:r>
                <a:endParaRPr lang="en-US" altLang="zh-CN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84" name="立方体 183"/>
              <p:cNvSpPr/>
              <p:nvPr/>
            </p:nvSpPr>
            <p:spPr>
              <a:xfrm>
                <a:off x="14529" y="8175"/>
                <a:ext cx="1076" cy="534"/>
              </a:xfrm>
              <a:prstGeom prst="cube">
                <a:avLst/>
              </a:pr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700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HSA</a:t>
                </a:r>
                <a:endPara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5" name="文本框 184"/>
              <p:cNvSpPr txBox="1"/>
              <p:nvPr/>
            </p:nvSpPr>
            <p:spPr>
              <a:xfrm>
                <a:off x="12156" y="8670"/>
                <a:ext cx="90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T2V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6" name="文本框 185"/>
              <p:cNvSpPr txBox="1"/>
              <p:nvPr/>
            </p:nvSpPr>
            <p:spPr>
              <a:xfrm>
                <a:off x="13284" y="8657"/>
                <a:ext cx="90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V2T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7" name="文本框 186"/>
              <p:cNvSpPr txBox="1"/>
              <p:nvPr/>
            </p:nvSpPr>
            <p:spPr>
              <a:xfrm>
                <a:off x="14192" y="8642"/>
                <a:ext cx="175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Hiera-Select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88" name="肘形连接符 187"/>
              <p:cNvCxnSpPr>
                <a:stCxn id="185" idx="2"/>
                <a:endCxn id="190" idx="1"/>
              </p:cNvCxnSpPr>
              <p:nvPr/>
            </p:nvCxnSpPr>
            <p:spPr>
              <a:xfrm rot="5400000" flipV="1">
                <a:off x="12651" y="9114"/>
                <a:ext cx="140" cy="219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9" name="肘形连接符 188"/>
              <p:cNvCxnSpPr>
                <a:stCxn id="187" idx="2"/>
                <a:endCxn id="190" idx="3"/>
              </p:cNvCxnSpPr>
              <p:nvPr/>
            </p:nvCxnSpPr>
            <p:spPr>
              <a:xfrm rot="5400000">
                <a:off x="14894" y="9117"/>
                <a:ext cx="168" cy="185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0" name="文本框 189"/>
              <p:cNvSpPr txBox="1"/>
              <p:nvPr/>
            </p:nvSpPr>
            <p:spPr>
              <a:xfrm>
                <a:off x="12830" y="9051"/>
                <a:ext cx="205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Attention Score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1" name="文本框 190"/>
              <p:cNvSpPr txBox="1"/>
              <p:nvPr/>
            </p:nvSpPr>
            <p:spPr>
              <a:xfrm>
                <a:off x="12892" y="7534"/>
                <a:ext cx="235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CMT Module</a:t>
                </a:r>
                <a:endParaRPr lang="zh-CN" altLang="en-US"/>
              </a:p>
            </p:txBody>
          </p:sp>
          <p:cxnSp>
            <p:nvCxnSpPr>
              <p:cNvPr id="193" name="直接连接符 192"/>
              <p:cNvCxnSpPr/>
              <p:nvPr/>
            </p:nvCxnSpPr>
            <p:spPr>
              <a:xfrm flipV="1">
                <a:off x="250" y="10825"/>
                <a:ext cx="18719" cy="75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94" name="组合 193"/>
              <p:cNvGrpSpPr/>
              <p:nvPr/>
            </p:nvGrpSpPr>
            <p:grpSpPr>
              <a:xfrm rot="0">
                <a:off x="822" y="11802"/>
                <a:ext cx="1096" cy="1148"/>
                <a:chOff x="9666" y="8018"/>
                <a:chExt cx="1534" cy="1414"/>
              </a:xfrm>
            </p:grpSpPr>
            <p:sp>
              <p:nvSpPr>
                <p:cNvPr id="195" name="矩形 194"/>
                <p:cNvSpPr/>
                <p:nvPr/>
              </p:nvSpPr>
              <p:spPr>
                <a:xfrm>
                  <a:off x="9717" y="81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6" name="矩形 195"/>
                <p:cNvSpPr/>
                <p:nvPr/>
              </p:nvSpPr>
              <p:spPr>
                <a:xfrm>
                  <a:off x="9917" y="83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7" name="矩形 196"/>
                <p:cNvSpPr/>
                <p:nvPr/>
              </p:nvSpPr>
              <p:spPr>
                <a:xfrm>
                  <a:off x="10117" y="85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8" name="矩形 197"/>
                <p:cNvSpPr/>
                <p:nvPr/>
              </p:nvSpPr>
              <p:spPr>
                <a:xfrm>
                  <a:off x="10317" y="87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9" name="立方体 198"/>
                <p:cNvSpPr/>
                <p:nvPr/>
              </p:nvSpPr>
              <p:spPr>
                <a:xfrm flipH="1">
                  <a:off x="9666" y="8018"/>
                  <a:ext cx="1534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1"/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00" name="组合 199"/>
              <p:cNvGrpSpPr/>
              <p:nvPr/>
            </p:nvGrpSpPr>
            <p:grpSpPr>
              <a:xfrm rot="0">
                <a:off x="642" y="15288"/>
                <a:ext cx="1059" cy="1064"/>
                <a:chOff x="11726" y="8018"/>
                <a:chExt cx="1560" cy="1414"/>
              </a:xfrm>
            </p:grpSpPr>
            <p:sp>
              <p:nvSpPr>
                <p:cNvPr id="201" name="矩形 200"/>
                <p:cNvSpPr/>
                <p:nvPr/>
              </p:nvSpPr>
              <p:spPr>
                <a:xfrm>
                  <a:off x="12226" y="85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2" name="矩形 201"/>
                <p:cNvSpPr/>
                <p:nvPr/>
              </p:nvSpPr>
              <p:spPr>
                <a:xfrm>
                  <a:off x="12426" y="87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3" name="矩形 202"/>
                <p:cNvSpPr/>
                <p:nvPr/>
              </p:nvSpPr>
              <p:spPr>
                <a:xfrm>
                  <a:off x="11826" y="81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4" name="矩形 203"/>
                <p:cNvSpPr/>
                <p:nvPr/>
              </p:nvSpPr>
              <p:spPr>
                <a:xfrm>
                  <a:off x="12026" y="83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5" name="立方体 204"/>
                <p:cNvSpPr/>
                <p:nvPr/>
              </p:nvSpPr>
              <p:spPr>
                <a:xfrm flipH="1">
                  <a:off x="11726" y="8018"/>
                  <a:ext cx="1560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2">
                      <a:lumMod val="60000"/>
                      <a:lumOff val="40000"/>
                    </a:schemeClr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06" name="直接箭头连接符 205"/>
              <p:cNvCxnSpPr/>
              <p:nvPr/>
            </p:nvCxnSpPr>
            <p:spPr>
              <a:xfrm>
                <a:off x="2096" y="12605"/>
                <a:ext cx="892" cy="1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8" name="直接箭头连接符 207"/>
              <p:cNvCxnSpPr>
                <a:stCxn id="164" idx="3"/>
                <a:endCxn id="207" idx="1"/>
              </p:cNvCxnSpPr>
              <p:nvPr/>
            </p:nvCxnSpPr>
            <p:spPr>
              <a:xfrm>
                <a:off x="4522" y="12887"/>
                <a:ext cx="4" cy="3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12" name="图片 211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585" y="3551"/>
                <a:ext cx="320" cy="261"/>
              </a:xfrm>
              <a:prstGeom prst="rect">
                <a:avLst/>
              </a:prstGeom>
            </p:spPr>
          </p:pic>
          <p:pic>
            <p:nvPicPr>
              <p:cNvPr id="213" name="图片 212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444" y="4782"/>
                <a:ext cx="320" cy="261"/>
              </a:xfrm>
              <a:prstGeom prst="rect">
                <a:avLst/>
              </a:prstGeom>
            </p:spPr>
          </p:pic>
          <p:pic>
            <p:nvPicPr>
              <p:cNvPr id="214" name="图片 213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415" y="5992"/>
                <a:ext cx="320" cy="261"/>
              </a:xfrm>
              <a:prstGeom prst="rect">
                <a:avLst/>
              </a:prstGeom>
            </p:spPr>
          </p:pic>
          <p:pic>
            <p:nvPicPr>
              <p:cNvPr id="215" name="图片 214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141" y="7619"/>
                <a:ext cx="503" cy="411"/>
              </a:xfrm>
              <a:prstGeom prst="rect">
                <a:avLst/>
              </a:prstGeom>
            </p:spPr>
          </p:pic>
          <p:sp>
            <p:nvSpPr>
              <p:cNvPr id="216" name="立方体 215"/>
              <p:cNvSpPr/>
              <p:nvPr/>
            </p:nvSpPr>
            <p:spPr>
              <a:xfrm>
                <a:off x="7682" y="12617"/>
                <a:ext cx="3134" cy="1068"/>
              </a:xfrm>
              <a:prstGeom prst="cube">
                <a:avLst>
                  <a:gd name="adj" fmla="val 2315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Mask Decoder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17" name="直接箭头连接符 216"/>
              <p:cNvCxnSpPr>
                <a:stCxn id="271" idx="3"/>
                <a:endCxn id="275" idx="1"/>
              </p:cNvCxnSpPr>
              <p:nvPr/>
            </p:nvCxnSpPr>
            <p:spPr>
              <a:xfrm>
                <a:off x="16727" y="12877"/>
                <a:ext cx="4" cy="874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18" name="图片 21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98" y="13074"/>
                <a:ext cx="548" cy="430"/>
              </a:xfrm>
              <a:prstGeom prst="rect">
                <a:avLst/>
              </a:prstGeom>
            </p:spPr>
          </p:pic>
          <p:cxnSp>
            <p:nvCxnSpPr>
              <p:cNvPr id="219" name="肘形连接符 218"/>
              <p:cNvCxnSpPr>
                <a:stCxn id="220" idx="1"/>
              </p:cNvCxnSpPr>
              <p:nvPr/>
            </p:nvCxnSpPr>
            <p:spPr>
              <a:xfrm rot="10800000" flipV="1">
                <a:off x="2202" y="11662"/>
                <a:ext cx="5967" cy="650"/>
              </a:xfrm>
              <a:prstGeom prst="bentConnector3">
                <a:avLst>
                  <a:gd name="adj1" fmla="val 98508"/>
                </a:avLst>
              </a:prstGeom>
              <a:ln w="38100" cmpd="sng">
                <a:solidFill>
                  <a:srgbClr val="0070C0"/>
                </a:solidFill>
                <a:prstDash val="sysDash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0" name="圆角矩形 219"/>
              <p:cNvSpPr/>
              <p:nvPr/>
            </p:nvSpPr>
            <p:spPr>
              <a:xfrm>
                <a:off x="8169" y="11448"/>
                <a:ext cx="2298" cy="42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Patch2Attn</a:t>
                </a:r>
                <a:endParaRPr lang="en-US" altLang="zh-CN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21" name="肘形连接符 220"/>
              <p:cNvCxnSpPr>
                <a:stCxn id="216" idx="2"/>
                <a:endCxn id="164" idx="4"/>
              </p:cNvCxnSpPr>
              <p:nvPr/>
            </p:nvCxnSpPr>
            <p:spPr>
              <a:xfrm rot="10800000">
                <a:off x="6002" y="12606"/>
                <a:ext cx="1680" cy="669"/>
              </a:xfrm>
              <a:prstGeom prst="bentConnector3">
                <a:avLst>
                  <a:gd name="adj1" fmla="val 44940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34" name="组合 233"/>
              <p:cNvGrpSpPr/>
              <p:nvPr/>
            </p:nvGrpSpPr>
            <p:grpSpPr>
              <a:xfrm rot="0">
                <a:off x="6660" y="14447"/>
                <a:ext cx="2040" cy="532"/>
                <a:chOff x="6687" y="13120"/>
                <a:chExt cx="2040" cy="5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2" name="圆角矩形 221"/>
                    <p:cNvSpPr/>
                    <p:nvPr/>
                  </p:nvSpPr>
                  <p:spPr>
                    <a:xfrm>
                      <a:off x="6687" y="13120"/>
                      <a:ext cx="2040" cy="533"/>
                    </a:xfrm>
                    <a:prstGeom prst="round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prompt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222" name="圆角矩形 22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7" y="13120"/>
                      <a:ext cx="2040" cy="533"/>
                    </a:xfrm>
                    <a:prstGeom prst="roundRect">
                      <a:avLst/>
                    </a:prstGeom>
                    <a:blipFill rotWithShape="1">
                      <a:blip r:embed="rId28"/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23" name="图片 222" descr="png-clipart-combustibility-and-flammability-computer-icons-symbol-fire-flammable-leaf-orange-thumbnail"/>
                <p:cNvPicPr>
                  <a:picLocks noChangeAspect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82" y="13184"/>
                  <a:ext cx="505" cy="412"/>
                </a:xfrm>
                <a:prstGeom prst="rect">
                  <a:avLst/>
                </a:prstGeom>
              </p:spPr>
            </p:pic>
          </p:grpSp>
          <p:pic>
            <p:nvPicPr>
              <p:cNvPr id="224" name="图片 22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68" y="11359"/>
                <a:ext cx="638" cy="638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5" name="圆角矩形 224"/>
                  <p:cNvSpPr/>
                  <p:nvPr/>
                </p:nvSpPr>
                <p:spPr>
                  <a:xfrm>
                    <a:off x="3382" y="15083"/>
                    <a:ext cx="592" cy="504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b="1" i="1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</mc:Choice>
            <mc:Fallback>
              <p:sp>
                <p:nvSpPr>
                  <p:cNvPr id="225" name="圆角矩形 22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82" y="15083"/>
                    <a:ext cx="592" cy="504"/>
                  </a:xfrm>
                  <a:prstGeom prst="roundRect">
                    <a:avLst/>
                  </a:prstGeom>
                  <a:blipFill rotWithShape="1">
                    <a:blip r:embed="rId29"/>
                  </a:blip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6" name="圆角矩形 225"/>
                  <p:cNvSpPr/>
                  <p:nvPr/>
                </p:nvSpPr>
                <p:spPr>
                  <a:xfrm>
                    <a:off x="2756" y="15083"/>
                    <a:ext cx="592" cy="504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b="1" i="1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</mc:Choice>
            <mc:Fallback>
              <p:sp>
                <p:nvSpPr>
                  <p:cNvPr id="226" name="圆角矩形 2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6" y="15083"/>
                    <a:ext cx="592" cy="504"/>
                  </a:xfrm>
                  <a:prstGeom prst="roundRect">
                    <a:avLst/>
                  </a:prstGeom>
                  <a:blipFill rotWithShape="1">
                    <a:blip r:embed="rId30"/>
                  </a:blip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7" name="圆角矩形 226"/>
                  <p:cNvSpPr/>
                  <p:nvPr/>
                </p:nvSpPr>
                <p:spPr>
                  <a:xfrm>
                    <a:off x="3034" y="16363"/>
                    <a:ext cx="592" cy="504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b="1" i="1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</mc:Choice>
            <mc:Fallback>
              <p:sp>
                <p:nvSpPr>
                  <p:cNvPr id="227" name="圆角矩形 2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34" y="16363"/>
                    <a:ext cx="592" cy="504"/>
                  </a:xfrm>
                  <a:prstGeom prst="roundRect">
                    <a:avLst/>
                  </a:prstGeom>
                  <a:blipFill rotWithShape="1">
                    <a:blip r:embed="rId31"/>
                  </a:blip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9" name="圆角矩形 228"/>
              <p:cNvSpPr/>
              <p:nvPr/>
            </p:nvSpPr>
            <p:spPr>
              <a:xfrm>
                <a:off x="2649" y="14977"/>
                <a:ext cx="1398" cy="740"/>
              </a:xfrm>
              <a:prstGeom prst="roundRect">
                <a:avLst/>
              </a:prstGeom>
              <a:noFill/>
              <a:ln w="28575" cmpd="sng">
                <a:solidFill>
                  <a:schemeClr val="accent2">
                    <a:lumMod val="75000"/>
                  </a:schemeClr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0" name="圆角矩形 229"/>
              <p:cNvSpPr/>
              <p:nvPr/>
            </p:nvSpPr>
            <p:spPr>
              <a:xfrm>
                <a:off x="2915" y="16232"/>
                <a:ext cx="833" cy="739"/>
              </a:xfrm>
              <a:prstGeom prst="roundRect">
                <a:avLst/>
              </a:prstGeom>
              <a:noFill/>
              <a:ln w="28575" cmpd="sng">
                <a:solidFill>
                  <a:schemeClr val="accent2">
                    <a:lumMod val="75000"/>
                  </a:schemeClr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1" name="文本框 230"/>
              <p:cNvSpPr txBox="1"/>
              <p:nvPr/>
            </p:nvSpPr>
            <p:spPr>
              <a:xfrm>
                <a:off x="2090" y="14482"/>
                <a:ext cx="255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CONTEXTUAL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32" name="文本框 231"/>
              <p:cNvSpPr txBox="1"/>
              <p:nvPr/>
            </p:nvSpPr>
            <p:spPr>
              <a:xfrm>
                <a:off x="2528" y="15752"/>
                <a:ext cx="157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MOTION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33" name="直接箭头连接符 232"/>
              <p:cNvCxnSpPr/>
              <p:nvPr/>
            </p:nvCxnSpPr>
            <p:spPr>
              <a:xfrm flipV="1">
                <a:off x="4127" y="15353"/>
                <a:ext cx="568" cy="4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5" name="肘形连接符 234"/>
              <p:cNvCxnSpPr>
                <a:stCxn id="229" idx="1"/>
                <a:endCxn id="205" idx="2"/>
              </p:cNvCxnSpPr>
              <p:nvPr/>
            </p:nvCxnSpPr>
            <p:spPr>
              <a:xfrm rot="10800000" flipV="1">
                <a:off x="1701" y="15347"/>
                <a:ext cx="948" cy="717"/>
              </a:xfrm>
              <a:prstGeom prst="bentConnector3">
                <a:avLst>
                  <a:gd name="adj1" fmla="val 59282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6" name="肘形连接符 235"/>
              <p:cNvCxnSpPr/>
              <p:nvPr/>
            </p:nvCxnSpPr>
            <p:spPr>
              <a:xfrm rot="10800000">
                <a:off x="1701" y="16064"/>
                <a:ext cx="1214" cy="570"/>
              </a:xfrm>
              <a:prstGeom prst="bentConnector3">
                <a:avLst>
                  <a:gd name="adj1" fmla="val 67792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39" name="圆角矩形 238"/>
              <p:cNvSpPr/>
              <p:nvPr/>
            </p:nvSpPr>
            <p:spPr>
              <a:xfrm>
                <a:off x="4714" y="14830"/>
                <a:ext cx="1294" cy="50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rabbit</a:t>
                </a:r>
                <a:endParaRPr lang="en-US" altLang="zh-CN" sz="1600" b="1" i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245" name="圆角矩形 244"/>
              <p:cNvSpPr/>
              <p:nvPr/>
            </p:nvSpPr>
            <p:spPr>
              <a:xfrm>
                <a:off x="4714" y="15353"/>
                <a:ext cx="1264" cy="50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chemeClr val="accent2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carrot</a:t>
                </a:r>
                <a:endParaRPr lang="en-US" altLang="zh-CN" sz="1600" b="1" i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246" name="圆角矩形 245"/>
              <p:cNvSpPr/>
              <p:nvPr/>
            </p:nvSpPr>
            <p:spPr>
              <a:xfrm>
                <a:off x="4700" y="16339"/>
                <a:ext cx="1264" cy="50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held</a:t>
                </a:r>
                <a:endParaRPr lang="en-US" altLang="zh-CN" sz="1600" b="1" i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cxnSp>
            <p:nvCxnSpPr>
              <p:cNvPr id="248" name="直接箭头连接符 247"/>
              <p:cNvCxnSpPr/>
              <p:nvPr/>
            </p:nvCxnSpPr>
            <p:spPr>
              <a:xfrm>
                <a:off x="3778" y="16634"/>
                <a:ext cx="912" cy="11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9" name="肘形连接符 248"/>
              <p:cNvCxnSpPr/>
              <p:nvPr/>
            </p:nvCxnSpPr>
            <p:spPr>
              <a:xfrm rot="5400000">
                <a:off x="6482" y="14159"/>
                <a:ext cx="377" cy="2018"/>
              </a:xfrm>
              <a:prstGeom prst="bentConnector2">
                <a:avLst/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0" name="肘形连接符 249"/>
              <p:cNvCxnSpPr>
                <a:endCxn id="246" idx="3"/>
              </p:cNvCxnSpPr>
              <p:nvPr/>
            </p:nvCxnSpPr>
            <p:spPr>
              <a:xfrm rot="10800000" flipV="1">
                <a:off x="5964" y="14973"/>
                <a:ext cx="2260" cy="1618"/>
              </a:xfrm>
              <a:prstGeom prst="bentConnector3">
                <a:avLst>
                  <a:gd name="adj1" fmla="val 0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2" name="圆角矩形 251"/>
              <p:cNvSpPr/>
              <p:nvPr/>
            </p:nvSpPr>
            <p:spPr>
              <a:xfrm>
                <a:off x="8920" y="14441"/>
                <a:ext cx="3333" cy="533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i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Prompt Encoder</a:t>
                </a:r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  <p:pic>
            <p:nvPicPr>
              <p:cNvPr id="254" name="图片 25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33" y="14402"/>
                <a:ext cx="638" cy="638"/>
              </a:xfrm>
              <a:prstGeom prst="rect">
                <a:avLst/>
              </a:prstGeom>
            </p:spPr>
          </p:pic>
          <p:sp>
            <p:nvSpPr>
              <p:cNvPr id="255" name="矩形 254"/>
              <p:cNvSpPr/>
              <p:nvPr/>
            </p:nvSpPr>
            <p:spPr>
              <a:xfrm>
                <a:off x="8894" y="15355"/>
                <a:ext cx="1034" cy="6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mask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10003" y="15355"/>
                <a:ext cx="1034" cy="6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point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57" name="矩形 256"/>
              <p:cNvSpPr/>
              <p:nvPr/>
            </p:nvSpPr>
            <p:spPr>
              <a:xfrm>
                <a:off x="11107" y="15354"/>
                <a:ext cx="1034" cy="6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box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58" name="直接箭头连接符 257"/>
              <p:cNvCxnSpPr/>
              <p:nvPr/>
            </p:nvCxnSpPr>
            <p:spPr>
              <a:xfrm flipH="1">
                <a:off x="10530" y="15025"/>
                <a:ext cx="4" cy="2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9" name="直接箭头连接符 258"/>
              <p:cNvCxnSpPr/>
              <p:nvPr/>
            </p:nvCxnSpPr>
            <p:spPr>
              <a:xfrm flipH="1">
                <a:off x="11609" y="15025"/>
                <a:ext cx="4" cy="2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0" name="直接箭头连接符 259"/>
              <p:cNvCxnSpPr/>
              <p:nvPr/>
            </p:nvCxnSpPr>
            <p:spPr>
              <a:xfrm flipH="1">
                <a:off x="9409" y="15025"/>
                <a:ext cx="4" cy="2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1" name="肘形连接符 260"/>
              <p:cNvCxnSpPr>
                <a:stCxn id="216" idx="3"/>
                <a:endCxn id="222" idx="0"/>
              </p:cNvCxnSpPr>
              <p:nvPr/>
            </p:nvCxnSpPr>
            <p:spPr>
              <a:xfrm rot="5400000">
                <a:off x="8022" y="13344"/>
                <a:ext cx="761" cy="1444"/>
              </a:xfrm>
              <a:prstGeom prst="bentConnector3">
                <a:avLst>
                  <a:gd name="adj1" fmla="val 60709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2" name="肘形连接符 261"/>
              <p:cNvCxnSpPr>
                <a:stCxn id="216" idx="3"/>
                <a:endCxn id="252" idx="0"/>
              </p:cNvCxnSpPr>
              <p:nvPr/>
            </p:nvCxnSpPr>
            <p:spPr>
              <a:xfrm rot="5400000" flipV="1">
                <a:off x="9478" y="13332"/>
                <a:ext cx="755" cy="1463"/>
              </a:xfrm>
              <a:prstGeom prst="bentConnector3">
                <a:avLst>
                  <a:gd name="adj1" fmla="val 60794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3" name="圆角矩形 262"/>
              <p:cNvSpPr/>
              <p:nvPr/>
            </p:nvSpPr>
            <p:spPr>
              <a:xfrm>
                <a:off x="11278" y="11311"/>
                <a:ext cx="3040" cy="75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Memory-FREE </a:t>
                </a:r>
                <a:endParaRPr lang="en-US" altLang="zh-CN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IMG-tokens</a:t>
                </a:r>
                <a:endPara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4" name="文本框 263"/>
              <p:cNvSpPr txBox="1"/>
              <p:nvPr/>
            </p:nvSpPr>
            <p:spPr>
              <a:xfrm>
                <a:off x="3665" y="11049"/>
                <a:ext cx="381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Raw Image Information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65" name="直接箭头连接符 264"/>
              <p:cNvCxnSpPr>
                <a:stCxn id="224" idx="3"/>
                <a:endCxn id="263" idx="1"/>
              </p:cNvCxnSpPr>
              <p:nvPr/>
            </p:nvCxnSpPr>
            <p:spPr>
              <a:xfrm>
                <a:off x="10505" y="11678"/>
                <a:ext cx="772" cy="13"/>
              </a:xfrm>
              <a:prstGeom prst="straightConnector1">
                <a:avLst/>
              </a:prstGeom>
              <a:ln w="38100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6" name="圆角矩形 265"/>
              <p:cNvSpPr/>
              <p:nvPr/>
            </p:nvSpPr>
            <p:spPr>
              <a:xfrm>
                <a:off x="11278" y="12886"/>
                <a:ext cx="3040" cy="75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Memory-Aware </a:t>
                </a:r>
                <a:endParaRPr lang="en-US" altLang="zh-CN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IMG-tokens</a:t>
                </a:r>
                <a:endPara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67" name="直接箭头连接符 266"/>
              <p:cNvCxnSpPr>
                <a:stCxn id="216" idx="4"/>
                <a:endCxn id="266" idx="1"/>
              </p:cNvCxnSpPr>
              <p:nvPr/>
            </p:nvCxnSpPr>
            <p:spPr>
              <a:xfrm flipV="1">
                <a:off x="10568" y="13266"/>
                <a:ext cx="709" cy="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9" name="文本框 268"/>
              <p:cNvSpPr txBox="1"/>
              <p:nvPr/>
            </p:nvSpPr>
            <p:spPr>
              <a:xfrm>
                <a:off x="6570" y="11982"/>
                <a:ext cx="430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Memory Embedding Block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71" name="立方体 270"/>
              <p:cNvSpPr/>
              <p:nvPr/>
            </p:nvSpPr>
            <p:spPr>
              <a:xfrm>
                <a:off x="15092" y="11790"/>
                <a:ext cx="3542" cy="1087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 cmpd="sng">
                <a:solidFill>
                  <a:schemeClr val="accent4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CONDITIONAL MEMORY ENCODE</a:t>
                </a:r>
                <a:endParaRPr lang="zh-CN" altLang="en-US" sz="1600"/>
              </a:p>
            </p:txBody>
          </p:sp>
          <p:cxnSp>
            <p:nvCxnSpPr>
              <p:cNvPr id="272" name="肘形连接符 271"/>
              <p:cNvCxnSpPr>
                <a:stCxn id="271" idx="2"/>
                <a:endCxn id="266" idx="3"/>
              </p:cNvCxnSpPr>
              <p:nvPr/>
            </p:nvCxnSpPr>
            <p:spPr>
              <a:xfrm rot="10800000" flipV="1">
                <a:off x="14318" y="12469"/>
                <a:ext cx="774" cy="797"/>
              </a:xfrm>
              <a:prstGeom prst="bentConnector3">
                <a:avLst>
                  <a:gd name="adj1" fmla="val 50000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3" name="肘形连接符 272"/>
              <p:cNvCxnSpPr>
                <a:stCxn id="271" idx="2"/>
                <a:endCxn id="263" idx="3"/>
              </p:cNvCxnSpPr>
              <p:nvPr/>
            </p:nvCxnSpPr>
            <p:spPr>
              <a:xfrm rot="10800000">
                <a:off x="14318" y="11691"/>
                <a:ext cx="774" cy="778"/>
              </a:xfrm>
              <a:prstGeom prst="bentConnector3">
                <a:avLst>
                  <a:gd name="adj1" fmla="val 50000"/>
                </a:avLst>
              </a:prstGeom>
              <a:ln w="38100" cmpd="sng">
                <a:solidFill>
                  <a:srgbClr val="0070C0"/>
                </a:solidFill>
                <a:prstDash val="sysDash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5" name="立方体 274"/>
              <p:cNvSpPr/>
              <p:nvPr/>
            </p:nvSpPr>
            <p:spPr>
              <a:xfrm>
                <a:off x="15288" y="13504"/>
                <a:ext cx="3134" cy="1068"/>
              </a:xfrm>
              <a:prstGeom prst="cube">
                <a:avLst>
                  <a:gd name="adj" fmla="val 2315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Mask Encoder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276" name="图片 27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97" y="13896"/>
                <a:ext cx="670" cy="524"/>
              </a:xfrm>
              <a:prstGeom prst="rect">
                <a:avLst/>
              </a:prstGeom>
            </p:spPr>
          </p:pic>
          <p:pic>
            <p:nvPicPr>
              <p:cNvPr id="277" name="图片 276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854" y="12035"/>
                <a:ext cx="505" cy="412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8" name="文本框 277"/>
                  <p:cNvSpPr txBox="1"/>
                  <p:nvPr/>
                </p:nvSpPr>
                <p:spPr>
                  <a:xfrm>
                    <a:off x="16977" y="12933"/>
                    <a:ext cx="2067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𝑐𝑜𝑛𝑑𝑖𝑡𝑖𝑜𝑛𝑎𝑙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78" name="文本框 2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77" y="12933"/>
                    <a:ext cx="2067" cy="580"/>
                  </a:xfrm>
                  <a:prstGeom prst="rect">
                    <a:avLst/>
                  </a:prstGeom>
                  <a:blipFill rotWithShape="1">
                    <a:blip r:embed="rId3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9" name="文本框 278"/>
                  <p:cNvSpPr txBox="1"/>
                  <p:nvPr/>
                </p:nvSpPr>
                <p:spPr>
                  <a:xfrm>
                    <a:off x="12765" y="13630"/>
                    <a:ext cx="2225" cy="5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𝑚𝑒𝑚𝑜𝑟𝑦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79" name="文本框 2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65" y="13630"/>
                    <a:ext cx="2225" cy="555"/>
                  </a:xfrm>
                  <a:prstGeom prst="rect">
                    <a:avLst/>
                  </a:prstGeom>
                  <a:blipFill rotWithShape="1">
                    <a:blip r:embed="rId3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0" name="肘形连接符 279"/>
              <p:cNvCxnSpPr>
                <a:stCxn id="275" idx="2"/>
                <a:endCxn id="266" idx="2"/>
              </p:cNvCxnSpPr>
              <p:nvPr/>
            </p:nvCxnSpPr>
            <p:spPr>
              <a:xfrm rot="10800000">
                <a:off x="12798" y="13645"/>
                <a:ext cx="2490" cy="517"/>
              </a:xfrm>
              <a:prstGeom prst="bentConnector2">
                <a:avLst/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1" name="圆柱形 280"/>
              <p:cNvSpPr/>
              <p:nvPr/>
            </p:nvSpPr>
            <p:spPr>
              <a:xfrm>
                <a:off x="17036" y="15475"/>
                <a:ext cx="2007" cy="1348"/>
              </a:xfrm>
              <a:prstGeom prst="can">
                <a:avLst>
                  <a:gd name="adj" fmla="val 21064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28575" cmpd="sng">
                <a:solidFill>
                  <a:schemeClr val="accent1">
                    <a:shade val="50000"/>
                    <a:alpha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New-Load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M-Bank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83" name="文本框 282"/>
              <p:cNvSpPr txBox="1"/>
              <p:nvPr/>
            </p:nvSpPr>
            <p:spPr>
              <a:xfrm>
                <a:off x="16881" y="14514"/>
                <a:ext cx="245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memory update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291" name="组合 290"/>
              <p:cNvGrpSpPr/>
              <p:nvPr/>
            </p:nvGrpSpPr>
            <p:grpSpPr>
              <a:xfrm rot="0">
                <a:off x="14491" y="15475"/>
                <a:ext cx="2112" cy="1348"/>
                <a:chOff x="12690" y="15043"/>
                <a:chExt cx="2112" cy="1348"/>
              </a:xfrm>
            </p:grpSpPr>
            <p:pic>
              <p:nvPicPr>
                <p:cNvPr id="284" name="图片 283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832" y="15106"/>
                  <a:ext cx="1361" cy="645"/>
                </a:xfrm>
                <a:prstGeom prst="rect">
                  <a:avLst/>
                </a:prstGeom>
              </p:spPr>
            </p:pic>
            <p:sp>
              <p:nvSpPr>
                <p:cNvPr id="287" name="立方体 286"/>
                <p:cNvSpPr/>
                <p:nvPr/>
              </p:nvSpPr>
              <p:spPr>
                <a:xfrm flipH="1">
                  <a:off x="12690" y="15043"/>
                  <a:ext cx="2113" cy="1349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4">
                      <a:lumMod val="75000"/>
                    </a:schemeClr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288" name="图片 287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032" y="15306"/>
                  <a:ext cx="1361" cy="645"/>
                </a:xfrm>
                <a:prstGeom prst="rect">
                  <a:avLst/>
                </a:prstGeom>
              </p:spPr>
            </p:pic>
            <p:pic>
              <p:nvPicPr>
                <p:cNvPr id="289" name="图片 288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232" y="15506"/>
                  <a:ext cx="1361" cy="645"/>
                </a:xfrm>
                <a:prstGeom prst="rect">
                  <a:avLst/>
                </a:prstGeom>
              </p:spPr>
            </p:pic>
            <p:pic>
              <p:nvPicPr>
                <p:cNvPr id="290" name="图片 289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432" y="15706"/>
                  <a:ext cx="1361" cy="645"/>
                </a:xfrm>
                <a:prstGeom prst="rect">
                  <a:avLst/>
                </a:prstGeom>
              </p:spPr>
            </p:pic>
          </p:grpSp>
          <p:cxnSp>
            <p:nvCxnSpPr>
              <p:cNvPr id="292" name="肘形连接符 291"/>
              <p:cNvCxnSpPr>
                <a:stCxn id="281" idx="1"/>
                <a:endCxn id="275" idx="3"/>
              </p:cNvCxnSpPr>
              <p:nvPr/>
            </p:nvCxnSpPr>
            <p:spPr>
              <a:xfrm rot="16200000" flipV="1">
                <a:off x="16934" y="14369"/>
                <a:ext cx="903" cy="1309"/>
              </a:xfrm>
              <a:prstGeom prst="bentConnector3">
                <a:avLst>
                  <a:gd name="adj1" fmla="val 49945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3" name="肘形连接符 292"/>
              <p:cNvCxnSpPr>
                <a:stCxn id="287" idx="0"/>
                <a:endCxn id="275" idx="3"/>
              </p:cNvCxnSpPr>
              <p:nvPr/>
            </p:nvCxnSpPr>
            <p:spPr>
              <a:xfrm rot="16200000">
                <a:off x="15532" y="14276"/>
                <a:ext cx="903" cy="1495"/>
              </a:xfrm>
              <a:prstGeom prst="bentConnector3">
                <a:avLst>
                  <a:gd name="adj1" fmla="val 49945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94" name="文本框 293"/>
              <p:cNvSpPr txBox="1"/>
              <p:nvPr/>
            </p:nvSpPr>
            <p:spPr>
              <a:xfrm>
                <a:off x="13168" y="16339"/>
                <a:ext cx="139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Results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14912" y="11179"/>
                <a:ext cx="408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Correcting Tracking Bias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6" name="文本框 295"/>
              <p:cNvSpPr txBox="1"/>
              <p:nvPr/>
            </p:nvSpPr>
            <p:spPr>
              <a:xfrm>
                <a:off x="14970" y="14510"/>
                <a:ext cx="163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get results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9" name="文本框 298"/>
              <p:cNvSpPr txBox="1"/>
              <p:nvPr/>
            </p:nvSpPr>
            <p:spPr>
              <a:xfrm>
                <a:off x="1720" y="10100"/>
                <a:ext cx="519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>
                    <a:latin typeface="Times New Roman" panose="02020603050405020304" charset="0"/>
                    <a:cs typeface="Times New Roman" panose="02020603050405020304" charset="0"/>
                  </a:rPr>
                  <a:t>(a) SAM2 Architecture</a:t>
                </a:r>
                <a:endParaRPr lang="en-US" altLang="zh-CN" sz="2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0" name="文本框 299"/>
              <p:cNvSpPr txBox="1"/>
              <p:nvPr/>
            </p:nvSpPr>
            <p:spPr>
              <a:xfrm>
                <a:off x="10616" y="10121"/>
                <a:ext cx="6303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>
                    <a:latin typeface="Times New Roman" panose="02020603050405020304" charset="0"/>
                    <a:cs typeface="Times New Roman" panose="02020603050405020304" charset="0"/>
                  </a:rPr>
                  <a:t>(b) P-MASk Encoder Blocks</a:t>
                </a:r>
                <a:endParaRPr lang="en-US" altLang="zh-CN" sz="2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1" name="文本框 300"/>
              <p:cNvSpPr txBox="1"/>
              <p:nvPr/>
            </p:nvSpPr>
            <p:spPr>
              <a:xfrm>
                <a:off x="4295" y="17236"/>
                <a:ext cx="1165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>
                    <a:latin typeface="Times New Roman" panose="02020603050405020304" charset="0"/>
                    <a:cs typeface="Times New Roman" panose="02020603050405020304" charset="0"/>
                  </a:rPr>
                  <a:t>(c) P-MASk MemoryTracking and Mask Generation </a:t>
                </a:r>
                <a:endParaRPr lang="en-US" altLang="zh-CN" sz="2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303" name="文本框 302"/>
            <p:cNvSpPr txBox="1"/>
            <p:nvPr/>
          </p:nvSpPr>
          <p:spPr>
            <a:xfrm>
              <a:off x="8720" y="16103"/>
              <a:ext cx="391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SAM2 Original Format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3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WPS 演示</Application>
  <PresentationFormat>宽屏</PresentationFormat>
  <Paragraphs>175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Times New Roman</vt:lpstr>
      <vt:lpstr>Cambria Math</vt:lpstr>
      <vt:lpstr>MS Mincho</vt:lpstr>
      <vt:lpstr>Segoe Print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忒夙.</cp:lastModifiedBy>
  <cp:revision>593</cp:revision>
  <dcterms:created xsi:type="dcterms:W3CDTF">2019-06-19T02:08:00Z</dcterms:created>
  <dcterms:modified xsi:type="dcterms:W3CDTF">2025-12-10T06:10:27Z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D398EC424E1E45E8BE8D25946D7938AC_11</vt:lpwstr>
  </property>
</Properties>
</file>